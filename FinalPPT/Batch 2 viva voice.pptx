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2"/>
    <p:sldMasterId id="2147483672" r:id="rId3"/>
    <p:sldMasterId id="2147483684" r:id="rId4"/>
    <p:sldMasterId id="2147483696" r:id="rId5"/>
  </p:sldMasterIdLst>
  <p:sldIdLst>
    <p:sldId id="256" r:id="rId6"/>
    <p:sldId id="258" r:id="rId7"/>
    <p:sldId id="281" r:id="rId8"/>
    <p:sldId id="270" r:id="rId9"/>
    <p:sldId id="271" r:id="rId10"/>
    <p:sldId id="275" r:id="rId11"/>
    <p:sldId id="276" r:id="rId12"/>
    <p:sldId id="277" r:id="rId13"/>
    <p:sldId id="262" r:id="rId14"/>
    <p:sldId id="268" r:id="rId15"/>
    <p:sldId id="330" r:id="rId16"/>
    <p:sldId id="264" r:id="rId17"/>
    <p:sldId id="272" r:id="rId18"/>
    <p:sldId id="286" r:id="rId19"/>
    <p:sldId id="287" r:id="rId20"/>
    <p:sldId id="538" r:id="rId21"/>
    <p:sldId id="486" r:id="rId22"/>
    <p:sldId id="535" r:id="rId23"/>
    <p:sldId id="487" r:id="rId24"/>
    <p:sldId id="488" r:id="rId25"/>
    <p:sldId id="489" r:id="rId26"/>
    <p:sldId id="490" r:id="rId27"/>
    <p:sldId id="491" r:id="rId28"/>
    <p:sldId id="305" r:id="rId29"/>
    <p:sldId id="517" r:id="rId30"/>
    <p:sldId id="306" r:id="rId31"/>
    <p:sldId id="502" r:id="rId32"/>
    <p:sldId id="522" r:id="rId33"/>
    <p:sldId id="540" r:id="rId34"/>
    <p:sldId id="523" r:id="rId35"/>
    <p:sldId id="503" r:id="rId36"/>
    <p:sldId id="525" r:id="rId37"/>
    <p:sldId id="554" r:id="rId38"/>
    <p:sldId id="509" r:id="rId39"/>
    <p:sldId id="531" r:id="rId40"/>
    <p:sldId id="530" r:id="rId41"/>
    <p:sldId id="516" r:id="rId42"/>
    <p:sldId id="527" r:id="rId43"/>
    <p:sldId id="526" r:id="rId44"/>
    <p:sldId id="537" r:id="rId45"/>
    <p:sldId id="539" r:id="rId46"/>
    <p:sldId id="266" r:id="rId47"/>
    <p:sldId id="280" r:id="rId48"/>
    <p:sldId id="260"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FF"/>
    <a:srgbClr val="66CCFF"/>
    <a:srgbClr val="0033CC"/>
    <a:srgbClr val="66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04" autoAdjust="0"/>
    <p:restoredTop sz="94660"/>
  </p:normalViewPr>
  <p:slideViewPr>
    <p:cSldViewPr snapToGrid="0" showGuides="1">
      <p:cViewPr varScale="1">
        <p:scale>
          <a:sx n="82" d="100"/>
          <a:sy n="82" d="100"/>
        </p:scale>
        <p:origin x="710"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3" Type="http://schemas.openxmlformats.org/officeDocument/2006/relationships/slideMaster" Target="slideMasters/slideMaster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8" Type="http://schemas.openxmlformats.org/officeDocument/2006/relationships/slide" Target="slides/slide3.xml"/><Relationship Id="rId5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8" name="Date Placeholder 27"/>
          <p:cNvSpPr>
            <a:spLocks noGrp="1"/>
          </p:cNvSpPr>
          <p:nvPr>
            <p:ph type="dt" sz="half" idx="10"/>
          </p:nvPr>
        </p:nvSpPr>
        <p:spPr/>
        <p:txBody>
          <a:bodyPr/>
          <a:lstStyle/>
          <a:p>
            <a:fld id="{4AAD347D-5ACD-4C99-B74B-A9C85AD731AF}" type="datetimeFigureOut">
              <a:rPr lang="en-US" smtClean="0"/>
              <a:t>5/1/2026</a:t>
            </a:fld>
            <a:endParaRPr lang="en-US" dirty="0"/>
          </a:p>
        </p:txBody>
      </p:sp>
      <p:sp>
        <p:nvSpPr>
          <p:cNvPr id="17" name="Footer Placeholder 16"/>
          <p:cNvSpPr>
            <a:spLocks noGrp="1"/>
          </p:cNvSpPr>
          <p:nvPr>
            <p:ph type="ftr" sz="quarter" idx="11"/>
          </p:nvPr>
        </p:nvSpPr>
        <p:spPr/>
        <p:txBody>
          <a:bodyPr/>
          <a:lstStyle/>
          <a:p>
            <a:endParaRPr lang="en-US" dirty="0"/>
          </a:p>
        </p:txBody>
      </p:sp>
      <p:sp>
        <p:nvSpPr>
          <p:cNvPr id="29" name="Slide Number Placeholder 28"/>
          <p:cNvSpPr>
            <a:spLocks noGrp="1"/>
          </p:cNvSpPr>
          <p:nvPr>
            <p:ph type="sldNum" sz="quarter" idx="12"/>
          </p:nvPr>
        </p:nvSpPr>
        <p:spPr/>
        <p:txBody>
          <a:bodyPr/>
          <a:lstStyle/>
          <a:p>
            <a:fld id="{D57F1E4F-1CFF-5643-939E-02111984F565}" type="slidenum">
              <a:rPr lang="en-US" smtClean="0"/>
              <a:t>‹#›</a:t>
            </a:fld>
            <a:endParaRPr lang="en-US" dirty="0"/>
          </a:p>
        </p:txBody>
      </p:sp>
      <p:sp>
        <p:nvSpPr>
          <p:cNvPr id="32" name="Rectangle 31"/>
          <p:cNvSpPr/>
          <p:nvPr/>
        </p:nvSpPr>
        <p:spPr>
          <a:xfrm>
            <a:off x="0" y="-1"/>
            <a:ext cx="48768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a:xfrm>
            <a:off x="412744" y="680477"/>
            <a:ext cx="60960"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0" name="Rectangle 39"/>
          <p:cNvSpPr/>
          <p:nvPr/>
        </p:nvSpPr>
        <p:spPr>
          <a:xfrm>
            <a:off x="358764"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1" name="Rectangle 40"/>
          <p:cNvSpPr/>
          <p:nvPr/>
        </p:nvSpPr>
        <p:spPr>
          <a:xfrm>
            <a:off x="333360"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2" name="Rectangle 41"/>
          <p:cNvSpPr/>
          <p:nvPr/>
        </p:nvSpPr>
        <p:spPr>
          <a:xfrm>
            <a:off x="295691"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1219200" y="4343400"/>
            <a:ext cx="10363200" cy="1975104"/>
          </a:xfrm>
        </p:spPr>
        <p:txBody>
          <a:bodyPr/>
          <a:lstStyle>
            <a:lvl1pPr marR="8890" algn="l">
              <a:defRPr sz="4000" b="1" cap="all" spc="0" baseline="0">
                <a:effectLst>
                  <a:reflection blurRad="12700" stA="34000" endA="740" endPos="53000" dir="5400000" sy="-100000" algn="bl" rotWithShape="0"/>
                </a:effectLst>
              </a:defRPr>
            </a:lvl1pPr>
          </a:lstStyle>
          <a:p>
            <a:r>
              <a:rPr kumimoji="0" lang="en-US"/>
              <a:t>Click to edit Master title style</a:t>
            </a:r>
          </a:p>
        </p:txBody>
      </p:sp>
      <p:sp>
        <p:nvSpPr>
          <p:cNvPr id="9" name="Subtitle 8"/>
          <p:cNvSpPr>
            <a:spLocks noGrp="1"/>
          </p:cNvSpPr>
          <p:nvPr>
            <p:ph type="subTitle" idx="1"/>
          </p:nvPr>
        </p:nvSpPr>
        <p:spPr>
          <a:xfrm>
            <a:off x="1219200" y="2834640"/>
            <a:ext cx="10363200" cy="1508760"/>
          </a:xfrm>
        </p:spPr>
        <p:txBody>
          <a:bodyPr lIns="100584" tIns="45720" anchor="b"/>
          <a:lstStyle>
            <a:lvl1pPr marL="0" indent="0" algn="l">
              <a:spcBef>
                <a:spcPts val="0"/>
              </a:spcBef>
              <a:buNone/>
              <a:defRPr sz="2000">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56" name="Rectangle 55"/>
          <p:cNvSpPr/>
          <p:nvPr/>
        </p:nvSpPr>
        <p:spPr>
          <a:xfrm>
            <a:off x="340388" y="5047394"/>
            <a:ext cx="97536"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5" name="Rectangle 64"/>
          <p:cNvSpPr/>
          <p:nvPr/>
        </p:nvSpPr>
        <p:spPr>
          <a:xfrm>
            <a:off x="340388" y="4796819"/>
            <a:ext cx="97536"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6" name="Rectangle 65"/>
          <p:cNvSpPr/>
          <p:nvPr/>
        </p:nvSpPr>
        <p:spPr>
          <a:xfrm>
            <a:off x="340388" y="4637685"/>
            <a:ext cx="97536"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7" name="Rectangle 66"/>
          <p:cNvSpPr/>
          <p:nvPr/>
        </p:nvSpPr>
        <p:spPr>
          <a:xfrm>
            <a:off x="340388" y="4542559"/>
            <a:ext cx="97536"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t>5/1/2026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4" name="Freeform 13"/>
          <p:cNvSpPr/>
          <p:nvPr/>
        </p:nvSpPr>
        <p:spPr bwMode="auto">
          <a:xfrm>
            <a:off x="6438603" y="1073888"/>
            <a:ext cx="5762848" cy="5791200"/>
          </a:xfrm>
          <a:custGeom>
            <a:avLst>
              <a:gd name="A1" fmla="val 0"/>
              <a:gd name="A2" fmla="val 0"/>
              <a:gd name="A3" fmla="val 0"/>
              <a:gd name="A4" fmla="val 0"/>
              <a:gd name="A5" fmla="val 0"/>
              <a:gd name="A6" fmla="val 0"/>
              <a:gd name="A7" fmla="val 0"/>
              <a:gd name="A8" fmla="val 0"/>
            </a:avLst>
            <a:gdLst/>
            <a:ahLst/>
            <a:cxnLst>
              <a:cxn ang="0">
                <a:pos x="0" y="3648"/>
              </a:cxn>
              <a:cxn ang="0">
                <a:pos x="720" y="2016"/>
              </a:cxn>
              <a:cxn ang="0">
                <a:pos x="2736" y="0"/>
              </a:cxn>
              <a:cxn ang="0">
                <a:pos x="2736" y="96"/>
              </a:cxn>
              <a:cxn ang="0">
                <a:pos x="744" y="2038"/>
              </a:cxn>
              <a:cxn ang="0">
                <a:pos x="48" y="3648"/>
              </a:cxn>
              <a:cxn ang="0">
                <a:pos x="0" y="3648"/>
              </a:cxn>
            </a:cxnLst>
            <a:rect l="0" t="0" r="0" b="0"/>
            <a:pathLst>
              <a:path w="2736" h="3648">
                <a:moveTo>
                  <a:pt x="0" y="3648"/>
                </a:moveTo>
                <a:lnTo>
                  <a:pt x="720" y="2016"/>
                </a:lnTo>
                <a:lnTo>
                  <a:pt x="2736" y="672"/>
                </a:lnTo>
                <a:lnTo>
                  <a:pt x="2736" y="720"/>
                </a:lnTo>
                <a:lnTo>
                  <a:pt x="744" y="2038"/>
                </a:lnTo>
                <a:lnTo>
                  <a:pt x="48" y="3648"/>
                </a:lnTo>
                <a:lnTo>
                  <a:pt x="48" y="3648"/>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Freeform 14"/>
          <p:cNvSpPr/>
          <p:nvPr/>
        </p:nvSpPr>
        <p:spPr bwMode="auto">
          <a:xfrm>
            <a:off x="498621" y="0"/>
            <a:ext cx="7352715" cy="6615332"/>
          </a:xfrm>
          <a:custGeom>
            <a:avLst>
              <a:gd name="A1" fmla="val 0"/>
              <a:gd name="A2" fmla="val 0"/>
              <a:gd name="A3" fmla="val 0"/>
              <a:gd name="A4" fmla="val 0"/>
              <a:gd name="A5" fmla="val 0"/>
              <a:gd name="A6" fmla="val 0"/>
              <a:gd name="A7" fmla="val 0"/>
              <a:gd name="A8" fmla="val 0"/>
            </a:avLst>
            <a:gdLst/>
            <a:ahLst/>
            <a:cxnLst>
              <a:cxn ang="0">
                <a:pos x="0" y="4080"/>
              </a:cxn>
              <a:cxn ang="0">
                <a:pos x="0" y="4128"/>
              </a:cxn>
              <a:cxn ang="0">
                <a:pos x="3504" y="2640"/>
              </a:cxn>
              <a:cxn ang="0">
                <a:pos x="2880" y="0"/>
              </a:cxn>
              <a:cxn ang="0">
                <a:pos x="2832" y="0"/>
              </a:cxn>
              <a:cxn ang="0">
                <a:pos x="3465" y="2619"/>
              </a:cxn>
              <a:cxn ang="0">
                <a:pos x="0" y="4080"/>
              </a:cxn>
            </a:cxnLst>
            <a:rect l="0" t="0" r="0" b="0"/>
            <a:pathLst>
              <a:path w="3504" h="4128">
                <a:moveTo>
                  <a:pt x="0" y="4080"/>
                </a:moveTo>
                <a:lnTo>
                  <a:pt x="0" y="4128"/>
                </a:lnTo>
                <a:lnTo>
                  <a:pt x="3504" y="2640"/>
                </a:lnTo>
                <a:lnTo>
                  <a:pt x="2880" y="0"/>
                </a:lnTo>
                <a:lnTo>
                  <a:pt x="2832" y="0"/>
                </a:lnTo>
                <a:lnTo>
                  <a:pt x="3465" y="2619"/>
                </a:lnTo>
                <a:lnTo>
                  <a:pt x="0" y="4080"/>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p:nvPr/>
        </p:nvSpPr>
        <p:spPr bwMode="auto">
          <a:xfrm rot="5236414">
            <a:off x="6635304" y="1285480"/>
            <a:ext cx="4114800" cy="158496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Freeform 15"/>
          <p:cNvSpPr/>
          <p:nvPr/>
        </p:nvSpPr>
        <p:spPr bwMode="auto">
          <a:xfrm>
            <a:off x="7924800" y="0"/>
            <a:ext cx="3657600" cy="4267200"/>
          </a:xfrm>
          <a:custGeom>
            <a:avLst>
              <a:gd name="A1" fmla="val 0"/>
              <a:gd name="A2" fmla="val 0"/>
              <a:gd name="A3" fmla="val 0"/>
              <a:gd name="A4" fmla="val 0"/>
              <a:gd name="A5" fmla="val 0"/>
              <a:gd name="A6" fmla="val 0"/>
              <a:gd name="A7" fmla="val 0"/>
              <a:gd name="A8" fmla="val 0"/>
            </a:avLst>
            <a:gdLst/>
            <a:ahLst/>
            <a:cxnLst>
              <a:cxn ang="0">
                <a:pos x="1104" y="0"/>
              </a:cxn>
              <a:cxn ang="0">
                <a:pos x="1728" y="0"/>
              </a:cxn>
              <a:cxn ang="0">
                <a:pos x="0" y="2688"/>
              </a:cxn>
              <a:cxn ang="0">
                <a:pos x="1104" y="0"/>
              </a:cxn>
            </a:cxnLst>
            <a:rect l="0" t="0" r="0" b="0"/>
            <a:pathLst>
              <a:path w="1728" h="2688">
                <a:moveTo>
                  <a:pt x="1104" y="0"/>
                </a:moveTo>
                <a:lnTo>
                  <a:pt x="1728" y="0"/>
                </a:lnTo>
                <a:lnTo>
                  <a:pt x="0" y="2688"/>
                </a:lnTo>
                <a:lnTo>
                  <a:pt x="110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Freeform 16"/>
          <p:cNvSpPr/>
          <p:nvPr/>
        </p:nvSpPr>
        <p:spPr bwMode="auto">
          <a:xfrm>
            <a:off x="7924800" y="4267200"/>
            <a:ext cx="4267200" cy="1143000"/>
          </a:xfrm>
          <a:custGeom>
            <a:avLst>
              <a:gd name="A1" fmla="val 0"/>
              <a:gd name="A2" fmla="val 0"/>
              <a:gd name="A3" fmla="val 0"/>
              <a:gd name="A4" fmla="val 0"/>
              <a:gd name="A5" fmla="val 0"/>
              <a:gd name="A6" fmla="val 0"/>
              <a:gd name="A7" fmla="val 0"/>
              <a:gd name="A8" fmla="val 0"/>
            </a:avLst>
            <a:gdLst/>
            <a:ahLst/>
            <a:cxnLst>
              <a:cxn ang="0">
                <a:pos x="0" y="0"/>
              </a:cxn>
              <a:cxn ang="0">
                <a:pos x="2016" y="240"/>
              </a:cxn>
              <a:cxn ang="0">
                <a:pos x="2016" y="720"/>
              </a:cxn>
              <a:cxn ang="0">
                <a:pos x="0" y="0"/>
              </a:cxn>
            </a:cxnLst>
            <a:rect l="0" t="0" r="0" b="0"/>
            <a:pathLst>
              <a:path w="2016" h="720">
                <a:moveTo>
                  <a:pt x="0" y="0"/>
                </a:moveTo>
                <a:lnTo>
                  <a:pt x="2016" y="240"/>
                </a:lnTo>
                <a:lnTo>
                  <a:pt x="2016" y="720"/>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Freeform 17"/>
          <p:cNvSpPr/>
          <p:nvPr/>
        </p:nvSpPr>
        <p:spPr bwMode="auto">
          <a:xfrm>
            <a:off x="7924800" y="0"/>
            <a:ext cx="1828800" cy="4267200"/>
          </a:xfrm>
          <a:custGeom>
            <a:avLst>
              <a:gd name="A1" fmla="val 0"/>
              <a:gd name="A2" fmla="val 0"/>
              <a:gd name="A3" fmla="val 0"/>
              <a:gd name="A4" fmla="val 0"/>
              <a:gd name="A5" fmla="val 0"/>
              <a:gd name="A6" fmla="val 0"/>
              <a:gd name="A7" fmla="val 0"/>
              <a:gd name="A8" fmla="val 0"/>
            </a:avLst>
            <a:gdLst/>
            <a:ahLst/>
            <a:cxnLst>
              <a:cxn ang="0">
                <a:pos x="864" y="0"/>
              </a:cxn>
              <a:cxn ang="0">
                <a:pos x="0" y="2688"/>
              </a:cxn>
              <a:cxn ang="0">
                <a:pos x="768" y="0"/>
              </a:cxn>
              <a:cxn ang="0">
                <a:pos x="864" y="0"/>
              </a:cxn>
            </a:cxnLst>
            <a:rect l="0" t="0" r="0" b="0"/>
            <a:pathLst>
              <a:path w="864" h="2688">
                <a:moveTo>
                  <a:pt x="864" y="0"/>
                </a:moveTo>
                <a:lnTo>
                  <a:pt x="0" y="2688"/>
                </a:lnTo>
                <a:lnTo>
                  <a:pt x="768" y="0"/>
                </a:lnTo>
                <a:lnTo>
                  <a:pt x="86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Freeform 18"/>
          <p:cNvSpPr/>
          <p:nvPr/>
        </p:nvSpPr>
        <p:spPr bwMode="auto">
          <a:xfrm>
            <a:off x="7931152" y="4246564"/>
            <a:ext cx="2787649" cy="2611437"/>
          </a:xfrm>
          <a:custGeom>
            <a:avLst>
              <a:gd name="A1" fmla="val 0"/>
              <a:gd name="A2" fmla="val 0"/>
              <a:gd name="A3" fmla="val 0"/>
              <a:gd name="A4" fmla="val 0"/>
              <a:gd name="A5" fmla="val 0"/>
              <a:gd name="A6" fmla="val 0"/>
              <a:gd name="A7" fmla="val 0"/>
              <a:gd name="A8" fmla="val 0"/>
            </a:avLst>
            <a:gdLst/>
            <a:ahLst/>
            <a:cxnLst>
              <a:cxn ang="0">
                <a:pos x="1071" y="1645"/>
              </a:cxn>
              <a:cxn ang="0">
                <a:pos x="1317" y="1645"/>
              </a:cxn>
              <a:cxn ang="0">
                <a:pos x="0" y="0"/>
              </a:cxn>
              <a:cxn ang="0">
                <a:pos x="1071" y="1645"/>
              </a:cxn>
            </a:cxnLst>
            <a:rect l="0" t="0" r="0" b="0"/>
            <a:pathLst>
              <a:path w="1317" h="1645">
                <a:moveTo>
                  <a:pt x="1071" y="1645"/>
                </a:moveTo>
                <a:lnTo>
                  <a:pt x="1317" y="1645"/>
                </a:lnTo>
                <a:lnTo>
                  <a:pt x="0" y="0"/>
                </a:lnTo>
                <a:lnTo>
                  <a:pt x="1071" y="1645"/>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Freeform 19"/>
          <p:cNvSpPr/>
          <p:nvPr/>
        </p:nvSpPr>
        <p:spPr bwMode="auto">
          <a:xfrm>
            <a:off x="7924800" y="4267200"/>
            <a:ext cx="2133600" cy="2590800"/>
          </a:xfrm>
          <a:custGeom>
            <a:avLst>
              <a:gd name="A1" fmla="val 0"/>
              <a:gd name="A2" fmla="val 0"/>
              <a:gd name="A3" fmla="val 0"/>
              <a:gd name="A4" fmla="val 0"/>
              <a:gd name="A5" fmla="val 0"/>
              <a:gd name="A6" fmla="val 0"/>
              <a:gd name="A7" fmla="val 0"/>
              <a:gd name="A8" fmla="val 0"/>
            </a:avLst>
            <a:gdLst/>
            <a:ahLst/>
            <a:cxnLst>
              <a:cxn ang="0">
                <a:pos x="1008" y="1632"/>
              </a:cxn>
              <a:cxn ang="0">
                <a:pos x="0" y="0"/>
              </a:cxn>
              <a:cxn ang="0">
                <a:pos x="960" y="1632"/>
              </a:cxn>
              <a:cxn ang="0">
                <a:pos x="1008" y="1632"/>
              </a:cxn>
            </a:cxnLst>
            <a:rect l="0" t="0" r="0" b="0"/>
            <a:pathLst>
              <a:path w="1008" h="1632">
                <a:moveTo>
                  <a:pt x="1008" y="1632"/>
                </a:moveTo>
                <a:lnTo>
                  <a:pt x="0" y="0"/>
                </a:lnTo>
                <a:lnTo>
                  <a:pt x="960" y="1632"/>
                </a:lnTo>
                <a:lnTo>
                  <a:pt x="1008"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1" name="Freeform 20"/>
          <p:cNvSpPr/>
          <p:nvPr/>
        </p:nvSpPr>
        <p:spPr bwMode="auto">
          <a:xfrm>
            <a:off x="7924800" y="1371600"/>
            <a:ext cx="4267200" cy="2895600"/>
          </a:xfrm>
          <a:custGeom>
            <a:avLst>
              <a:gd name="A1" fmla="val 0"/>
              <a:gd name="A2" fmla="val 0"/>
              <a:gd name="A3" fmla="val 0"/>
              <a:gd name="A4" fmla="val 0"/>
              <a:gd name="A5" fmla="val 0"/>
              <a:gd name="A6" fmla="val 0"/>
              <a:gd name="A7" fmla="val 0"/>
              <a:gd name="A8" fmla="val 0"/>
            </a:avLst>
            <a:gdLst/>
            <a:ahLst/>
            <a:cxnLst>
              <a:cxn ang="0">
                <a:pos x="2016" y="0"/>
              </a:cxn>
              <a:cxn ang="0">
                <a:pos x="2016" y="144"/>
              </a:cxn>
              <a:cxn ang="0">
                <a:pos x="0" y="1824"/>
              </a:cxn>
              <a:cxn ang="0">
                <a:pos x="2016" y="0"/>
              </a:cxn>
            </a:cxnLst>
            <a:rect l="0" t="0" r="0" b="0"/>
            <a:pathLst>
              <a:path w="2016" h="1824">
                <a:moveTo>
                  <a:pt x="2016" y="0"/>
                </a:moveTo>
                <a:lnTo>
                  <a:pt x="2016" y="144"/>
                </a:lnTo>
                <a:lnTo>
                  <a:pt x="0" y="1824"/>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Freeform 21"/>
          <p:cNvSpPr/>
          <p:nvPr/>
        </p:nvSpPr>
        <p:spPr bwMode="auto">
          <a:xfrm>
            <a:off x="7924800" y="1752600"/>
            <a:ext cx="4267200" cy="2514600"/>
          </a:xfrm>
          <a:custGeom>
            <a:avLst>
              <a:gd name="A1" fmla="val 0"/>
              <a:gd name="A2" fmla="val 0"/>
              <a:gd name="A3" fmla="val 0"/>
              <a:gd name="A4" fmla="val 0"/>
              <a:gd name="A5" fmla="val 0"/>
              <a:gd name="A6" fmla="val 0"/>
              <a:gd name="A7" fmla="val 0"/>
              <a:gd name="A8" fmla="val 0"/>
            </a:avLst>
            <a:gdLst/>
            <a:ahLst/>
            <a:cxnLst>
              <a:cxn ang="0">
                <a:pos x="2016" y="0"/>
              </a:cxn>
              <a:cxn ang="0">
                <a:pos x="0" y="1584"/>
              </a:cxn>
              <a:cxn ang="0">
                <a:pos x="2016" y="48"/>
              </a:cxn>
              <a:cxn ang="0">
                <a:pos x="2016" y="0"/>
              </a:cxn>
            </a:cxnLst>
            <a:rect l="0" t="0" r="0" b="0"/>
            <a:pathLst>
              <a:path w="2016" h="1584">
                <a:moveTo>
                  <a:pt x="2016" y="0"/>
                </a:moveTo>
                <a:lnTo>
                  <a:pt x="0" y="1584"/>
                </a:lnTo>
                <a:lnTo>
                  <a:pt x="2016" y="48"/>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3" name="Freeform 22"/>
          <p:cNvSpPr/>
          <p:nvPr/>
        </p:nvSpPr>
        <p:spPr bwMode="auto">
          <a:xfrm>
            <a:off x="1320800" y="4267200"/>
            <a:ext cx="6604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120" y="0"/>
              </a:cxn>
              <a:cxn ang="0">
                <a:pos x="1056" y="1632"/>
              </a:cxn>
              <a:cxn ang="0">
                <a:pos x="0" y="1632"/>
              </a:cxn>
            </a:cxnLst>
            <a:rect l="0" t="0" r="0" b="0"/>
            <a:pathLst>
              <a:path w="3120" h="1632">
                <a:moveTo>
                  <a:pt x="0" y="1632"/>
                </a:moveTo>
                <a:lnTo>
                  <a:pt x="3120" y="0"/>
                </a:lnTo>
                <a:lnTo>
                  <a:pt x="1056"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4" name="Freeform 23"/>
          <p:cNvSpPr/>
          <p:nvPr/>
        </p:nvSpPr>
        <p:spPr bwMode="auto">
          <a:xfrm>
            <a:off x="711200" y="4267200"/>
            <a:ext cx="7112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360" y="0"/>
              </a:cxn>
              <a:cxn ang="0">
                <a:pos x="144" y="1632"/>
              </a:cxn>
              <a:cxn ang="0">
                <a:pos x="0" y="1632"/>
              </a:cxn>
            </a:cxnLst>
            <a:rect l="0" t="0" r="0" b="0"/>
            <a:pathLst>
              <a:path w="3360" h="1632">
                <a:moveTo>
                  <a:pt x="0" y="1632"/>
                </a:moveTo>
                <a:lnTo>
                  <a:pt x="3360" y="0"/>
                </a:lnTo>
                <a:lnTo>
                  <a:pt x="144"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5" name="Freeform 24"/>
          <p:cNvSpPr/>
          <p:nvPr/>
        </p:nvSpPr>
        <p:spPr bwMode="auto">
          <a:xfrm>
            <a:off x="489099" y="2438400"/>
            <a:ext cx="7518400" cy="1828800"/>
          </a:xfrm>
          <a:custGeom>
            <a:avLst>
              <a:gd name="A1" fmla="val 0"/>
              <a:gd name="A2" fmla="val 0"/>
              <a:gd name="A3" fmla="val 0"/>
              <a:gd name="A4" fmla="val 0"/>
              <a:gd name="A5" fmla="val 0"/>
              <a:gd name="A6" fmla="val 0"/>
              <a:gd name="A7" fmla="val 0"/>
              <a:gd name="A8" fmla="val 0"/>
            </a:avLst>
            <a:gdLst/>
            <a:ahLst/>
            <a:cxnLst>
              <a:cxn ang="0">
                <a:pos x="0" y="0"/>
              </a:cxn>
              <a:cxn ang="0">
                <a:pos x="3552" y="1152"/>
              </a:cxn>
              <a:cxn ang="0">
                <a:pos x="0" y="384"/>
              </a:cxn>
              <a:cxn ang="0">
                <a:pos x="0" y="0"/>
              </a:cxn>
            </a:cxnLst>
            <a:rect l="0" t="0" r="0" b="0"/>
            <a:pathLst>
              <a:path w="3552" h="1152">
                <a:moveTo>
                  <a:pt x="0" y="0"/>
                </a:moveTo>
                <a:lnTo>
                  <a:pt x="3504" y="1152"/>
                </a:lnTo>
                <a:lnTo>
                  <a:pt x="0" y="384"/>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6" name="Freeform 25"/>
          <p:cNvSpPr/>
          <p:nvPr/>
        </p:nvSpPr>
        <p:spPr bwMode="auto">
          <a:xfrm>
            <a:off x="489099" y="2133600"/>
            <a:ext cx="7518400" cy="213360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Freeform 26"/>
          <p:cNvSpPr/>
          <p:nvPr/>
        </p:nvSpPr>
        <p:spPr bwMode="auto">
          <a:xfrm>
            <a:off x="6096000" y="4267200"/>
            <a:ext cx="1828800" cy="2590800"/>
          </a:xfrm>
          <a:custGeom>
            <a:avLst>
              <a:gd name="A1" fmla="val 0"/>
              <a:gd name="A2" fmla="val 0"/>
              <a:gd name="A3" fmla="val 0"/>
              <a:gd name="A4" fmla="val 0"/>
              <a:gd name="A5" fmla="val 0"/>
              <a:gd name="A6" fmla="val 0"/>
              <a:gd name="A7" fmla="val 0"/>
              <a:gd name="A8" fmla="val 0"/>
            </a:avLst>
            <a:gdLst/>
            <a:ahLst/>
            <a:cxnLst>
              <a:cxn ang="0">
                <a:pos x="0" y="1632"/>
              </a:cxn>
              <a:cxn ang="0">
                <a:pos x="96" y="1632"/>
              </a:cxn>
              <a:cxn ang="0">
                <a:pos x="864" y="0"/>
              </a:cxn>
              <a:cxn ang="0">
                <a:pos x="0" y="1632"/>
              </a:cxn>
            </a:cxnLst>
            <a:rect l="0" t="0" r="0" b="0"/>
            <a:pathLst>
              <a:path w="864" h="1632">
                <a:moveTo>
                  <a:pt x="0" y="1632"/>
                </a:moveTo>
                <a:lnTo>
                  <a:pt x="96" y="1632"/>
                </a:lnTo>
                <a:lnTo>
                  <a:pt x="864" y="0"/>
                </a:lnTo>
                <a:lnTo>
                  <a:pt x="0" y="1632"/>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3" name="Text Placeholder 2"/>
          <p:cNvSpPr>
            <a:spLocks noGrp="1"/>
          </p:cNvSpPr>
          <p:nvPr>
            <p:ph type="body" idx="1"/>
          </p:nvPr>
        </p:nvSpPr>
        <p:spPr>
          <a:xfrm>
            <a:off x="942536" y="1351672"/>
            <a:ext cx="7624064" cy="977486"/>
          </a:xfrm>
        </p:spPr>
        <p:txBody>
          <a:bodyPr lIns="82296" tIns="45720" bIns="0" anchor="t"/>
          <a:lstStyle>
            <a:lvl1pPr marL="54610" indent="0">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5/1/2026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7" name="Rectangle 6"/>
          <p:cNvSpPr/>
          <p:nvPr/>
        </p:nvSpPr>
        <p:spPr>
          <a:xfrm>
            <a:off x="484213" y="402265"/>
            <a:ext cx="1133856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42536" y="512064"/>
            <a:ext cx="10875264" cy="777240"/>
          </a:xfrm>
        </p:spPr>
        <p:txBody>
          <a:bodyPr tIns="64008"/>
          <a:lstStyle>
            <a:lvl1pPr algn="l">
              <a:buNone/>
              <a:defRPr sz="3800" b="0" cap="none" spc="-150" baseline="0"/>
            </a:lvl1pPr>
          </a:lstStyle>
          <a:p>
            <a:r>
              <a:rPr kumimoji="0" lang="en-US"/>
              <a:t>Click to edit Master title style</a:t>
            </a:r>
          </a:p>
        </p:txBody>
      </p:sp>
      <p:sp>
        <p:nvSpPr>
          <p:cNvPr id="8" name="Rectangle 7"/>
          <p:cNvSpPr/>
          <p:nvPr/>
        </p:nvSpPr>
        <p:spPr>
          <a:xfrm flipH="1">
            <a:off x="495384"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flipH="1">
            <a:off x="548145"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flipH="1">
            <a:off x="597933"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H="1">
            <a:off x="635603"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667304" y="680477"/>
            <a:ext cx="48768"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512064"/>
            <a:ext cx="10972800" cy="914400"/>
          </a:xfrm>
        </p:spPr>
        <p:txBody>
          <a:bodyPr/>
          <a:lstStyle/>
          <a:p>
            <a:r>
              <a:rPr kumimoji="0" lang="en-US"/>
              <a:t>Click to edit Master title style</a:t>
            </a:r>
          </a:p>
        </p:txBody>
      </p:sp>
      <p:sp>
        <p:nvSpPr>
          <p:cNvPr id="3" name="Content Placeholder 2"/>
          <p:cNvSpPr>
            <a:spLocks noGrp="1"/>
          </p:cNvSpPr>
          <p:nvPr>
            <p:ph sz="half" idx="1"/>
          </p:nvPr>
        </p:nvSpPr>
        <p:spPr>
          <a:xfrm>
            <a:off x="619125" y="1770502"/>
            <a:ext cx="53848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207125" y="1770502"/>
            <a:ext cx="53848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9796027F-7875-4030-9381-8BD8C4F21935}" type="datetimeFigureOut">
              <a:rPr lang="en-US" smtClean="0"/>
              <a:t>5/1/2026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5" name="Rectangle 24"/>
          <p:cNvSpPr/>
          <p:nvPr/>
        </p:nvSpPr>
        <p:spPr>
          <a:xfrm>
            <a:off x="0" y="402266"/>
            <a:ext cx="11822773"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673099" y="512064"/>
            <a:ext cx="10363200" cy="914400"/>
          </a:xfrm>
        </p:spPr>
        <p:txBody>
          <a:bodyPr anchor="t"/>
          <a:lstStyle>
            <a:lvl1pPr>
              <a:defRPr sz="4000"/>
            </a:lvl1pPr>
          </a:lstStyle>
          <a:p>
            <a:r>
              <a:rPr kumimoji="0" lang="en-US"/>
              <a:t>Click to edit Master title style</a:t>
            </a:r>
          </a:p>
        </p:txBody>
      </p:sp>
      <p:sp>
        <p:nvSpPr>
          <p:cNvPr id="3" name="Text Placeholder 2"/>
          <p:cNvSpPr>
            <a:spLocks noGrp="1"/>
          </p:cNvSpPr>
          <p:nvPr>
            <p:ph type="body" idx="1"/>
          </p:nvPr>
        </p:nvSpPr>
        <p:spPr>
          <a:xfrm>
            <a:off x="609600" y="1809750"/>
            <a:ext cx="5386917" cy="639762"/>
          </a:xfrm>
        </p:spPr>
        <p:txBody>
          <a:bodyPr anchor="ctr"/>
          <a:lstStyle>
            <a:lvl1pPr marL="73025" indent="0" algn="l">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3368" y="1809750"/>
            <a:ext cx="5389033" cy="639762"/>
          </a:xfrm>
        </p:spPr>
        <p:txBody>
          <a:bodyPr anchor="ctr"/>
          <a:lstStyle>
            <a:lvl1pPr marL="73025"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2459037"/>
            <a:ext cx="5386917" cy="3959352"/>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193368" y="2459037"/>
            <a:ext cx="5389033" cy="3959352"/>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9796027F-7875-4030-9381-8BD8C4F21935}" type="datetimeFigureOut">
              <a:rPr lang="en-US" smtClean="0"/>
              <a:t>5/1/2026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
        <p:nvSpPr>
          <p:cNvPr id="16" name="Rectangle 15"/>
          <p:cNvSpPr/>
          <p:nvPr/>
        </p:nvSpPr>
        <p:spPr>
          <a:xfrm>
            <a:off x="117053" y="680477"/>
            <a:ext cx="60960"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7" name="Rectangle 16"/>
          <p:cNvSpPr/>
          <p:nvPr/>
        </p:nvSpPr>
        <p:spPr>
          <a:xfrm>
            <a:off x="63073"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Rectangle 17"/>
          <p:cNvSpPr/>
          <p:nvPr/>
        </p:nvSpPr>
        <p:spPr>
          <a:xfrm>
            <a:off x="37669"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Rectangle 19"/>
          <p:cNvSpPr/>
          <p:nvPr/>
        </p:nvSpPr>
        <p:spPr>
          <a:xfrm flipH="1">
            <a:off x="199693"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Rectangle 20"/>
          <p:cNvSpPr/>
          <p:nvPr/>
        </p:nvSpPr>
        <p:spPr>
          <a:xfrm flipH="1">
            <a:off x="252455"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flipH="1">
            <a:off x="302243"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flipH="1">
            <a:off x="339912"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0" name="Rectangle 29"/>
          <p:cNvSpPr/>
          <p:nvPr/>
        </p:nvSpPr>
        <p:spPr>
          <a:xfrm>
            <a:off x="371613" y="680477"/>
            <a:ext cx="48768"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219200" y="512064"/>
            <a:ext cx="10363200" cy="914400"/>
          </a:xfrm>
        </p:spPr>
        <p:txBody>
          <a:bodyPr/>
          <a:lstStyle>
            <a:lvl1pPr>
              <a:defRPr sz="4000" cap="none" baseline="0"/>
            </a:lvl1pPr>
          </a:lstStyle>
          <a:p>
            <a:r>
              <a:rPr kumimoji="0" lang="en-US"/>
              <a:t>Click to edit Master title style</a:t>
            </a:r>
          </a:p>
        </p:txBody>
      </p:sp>
      <p:sp>
        <p:nvSpPr>
          <p:cNvPr id="3" name="Date Placeholder 2"/>
          <p:cNvSpPr>
            <a:spLocks noGrp="1"/>
          </p:cNvSpPr>
          <p:nvPr>
            <p:ph type="dt" sz="half" idx="10"/>
          </p:nvPr>
        </p:nvSpPr>
        <p:spPr/>
        <p:txBody>
          <a:bodyPr/>
          <a:lstStyle/>
          <a:p>
            <a:fld id="{4509A250-FF31-4206-8172-F9D3106AACB1}" type="datetimeFigureOut">
              <a:rPr lang="en-US" smtClean="0"/>
              <a:t>5/1/2026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5/1/2026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10972800" cy="1162050"/>
          </a:xfrm>
        </p:spPr>
        <p:txBody>
          <a:bodyPr anchor="ctr"/>
          <a:lstStyle>
            <a:lvl1pPr algn="l">
              <a:buNone/>
              <a:defRPr sz="3600" b="0"/>
            </a:lvl1pPr>
          </a:lstStyle>
          <a:p>
            <a:r>
              <a:rPr kumimoji="0" lang="en-US"/>
              <a:t>Click to edit Master title style</a:t>
            </a:r>
          </a:p>
        </p:txBody>
      </p:sp>
      <p:sp>
        <p:nvSpPr>
          <p:cNvPr id="3" name="Text Placeholder 2"/>
          <p:cNvSpPr>
            <a:spLocks noGrp="1"/>
          </p:cNvSpPr>
          <p:nvPr>
            <p:ph type="body" idx="2"/>
          </p:nvPr>
        </p:nvSpPr>
        <p:spPr>
          <a:xfrm>
            <a:off x="914400" y="1435100"/>
            <a:ext cx="3352800" cy="4572000"/>
          </a:xfrm>
        </p:spPr>
        <p:txBody>
          <a:bodyPr/>
          <a:lstStyle>
            <a:lvl1pPr marL="5461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0" y="1435100"/>
            <a:ext cx="7315200" cy="457200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4509A250-FF31-4206-8172-F9D3106AACB1}" type="datetimeFigureOut">
              <a:rPr lang="en-US" smtClean="0"/>
              <a:t>5/1/2026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490709" y="0"/>
            <a:ext cx="11704320" cy="1878037"/>
          </a:xfrm>
          <a:prstGeom prst="rect">
            <a:avLst/>
          </a:prstGeom>
          <a:solidFill>
            <a:srgbClr val="000000">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cxnSp>
        <p:nvCxnSpPr>
          <p:cNvPr id="9" name="Straight Connector 8"/>
          <p:cNvCxnSpPr/>
          <p:nvPr/>
        </p:nvCxnSpPr>
        <p:spPr>
          <a:xfrm flipV="1">
            <a:off x="484260" y="1885028"/>
            <a:ext cx="11710163" cy="0"/>
          </a:xfrm>
          <a:prstGeom prst="line">
            <a:avLst/>
          </a:prstGeom>
          <a:noFill/>
          <a:ln w="19050" cap="flat" cmpd="sng" algn="ctr">
            <a:solidFill>
              <a:srgbClr val="FFFFFF">
                <a:alpha val="100000"/>
              </a:srgbClr>
            </a:solidFill>
            <a:prstDash val="solid"/>
            <a:miter lim="800000"/>
          </a:ln>
          <a:effectLst/>
        </p:spPr>
        <p:style>
          <a:lnRef idx="2">
            <a:schemeClr val="accent1"/>
          </a:lnRef>
          <a:fillRef idx="0">
            <a:schemeClr val="accent1"/>
          </a:fillRef>
          <a:effectRef idx="1">
            <a:schemeClr val="accent1"/>
          </a:effectRef>
          <a:fontRef idx="minor">
            <a:schemeClr val="tx1"/>
          </a:fontRef>
        </p:style>
      </p:cxnSp>
      <p:grpSp>
        <p:nvGrpSpPr>
          <p:cNvPr id="10" name="Group 9"/>
          <p:cNvGrpSpPr/>
          <p:nvPr/>
        </p:nvGrpSpPr>
        <p:grpSpPr>
          <a:xfrm rot="5400000">
            <a:off x="11374903" y="1197789"/>
            <a:ext cx="132763" cy="171288"/>
            <a:chOff x="6668087" y="1297746"/>
            <a:chExt cx="161840" cy="156602"/>
          </a:xfrm>
        </p:grpSpPr>
        <p:cxnSp>
          <p:nvCxnSpPr>
            <p:cNvPr id="15" name="Straight Connector 14"/>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bwMode="grayWhite">
          <a:xfrm>
            <a:off x="1219200" y="441252"/>
            <a:ext cx="9144000" cy="701749"/>
          </a:xfrm>
        </p:spPr>
        <p:txBody>
          <a:bodyPr anchor="b"/>
          <a:lstStyle>
            <a:lvl1pPr algn="l">
              <a:buNone/>
              <a:defRPr sz="2100" b="0"/>
            </a:lvl1pPr>
          </a:lstStyle>
          <a:p>
            <a:r>
              <a:rPr kumimoji="0" lang="en-US"/>
              <a:t>Click to edit Master title style</a:t>
            </a:r>
          </a:p>
        </p:txBody>
      </p:sp>
      <p:sp>
        <p:nvSpPr>
          <p:cNvPr id="3" name="Picture Placeholder 2"/>
          <p:cNvSpPr>
            <a:spLocks noGrp="1"/>
          </p:cNvSpPr>
          <p:nvPr>
            <p:ph type="pic" idx="1"/>
          </p:nvPr>
        </p:nvSpPr>
        <p:spPr>
          <a:xfrm>
            <a:off x="490709" y="1893781"/>
            <a:ext cx="11704320" cy="4960144"/>
          </a:xfrm>
          <a:solidFill>
            <a:schemeClr val="bg2"/>
          </a:solidFill>
        </p:spPr>
        <p:txBody>
          <a:bodyPr/>
          <a:lstStyle>
            <a:lvl1pPr marL="0" indent="0">
              <a:buNone/>
              <a:defRPr sz="3200"/>
            </a:lvl1pPr>
          </a:lstStyle>
          <a:p>
            <a:r>
              <a:rPr kumimoji="0" lang="en-US"/>
              <a:t>Click icon to add picture</a:t>
            </a:r>
          </a:p>
        </p:txBody>
      </p:sp>
      <p:sp>
        <p:nvSpPr>
          <p:cNvPr id="4" name="Text Placeholder 3"/>
          <p:cNvSpPr>
            <a:spLocks noGrp="1"/>
          </p:cNvSpPr>
          <p:nvPr>
            <p:ph type="body" sz="half" idx="2"/>
          </p:nvPr>
        </p:nvSpPr>
        <p:spPr bwMode="grayWhite">
          <a:xfrm>
            <a:off x="1219200" y="1150144"/>
            <a:ext cx="9144000" cy="685800"/>
          </a:xfrm>
        </p:spPr>
        <p:txBody>
          <a:bodyPr/>
          <a:lstStyle>
            <a:lvl1pPr marL="27305" indent="0">
              <a:spcBef>
                <a:spcPts val="0"/>
              </a:spcBef>
              <a:buNone/>
              <a:defRPr sz="14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grpSp>
        <p:nvGrpSpPr>
          <p:cNvPr id="14" name="Group 13"/>
          <p:cNvGrpSpPr/>
          <p:nvPr/>
        </p:nvGrpSpPr>
        <p:grpSpPr>
          <a:xfrm rot="5400000">
            <a:off x="11578103" y="1350189"/>
            <a:ext cx="132763" cy="171288"/>
            <a:chOff x="6668087" y="1297746"/>
            <a:chExt cx="161840" cy="156602"/>
          </a:xfrm>
        </p:grpSpPr>
        <p:cxnSp>
          <p:nvCxnSpPr>
            <p:cNvPr id="11" name="Straight Connector 10"/>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18" name="Group 17"/>
          <p:cNvGrpSpPr/>
          <p:nvPr/>
        </p:nvGrpSpPr>
        <p:grpSpPr>
          <a:xfrm rot="5400000">
            <a:off x="11115579" y="1453352"/>
            <a:ext cx="132763" cy="171288"/>
            <a:chOff x="6668087" y="1297746"/>
            <a:chExt cx="161840" cy="156602"/>
          </a:xfrm>
        </p:grpSpPr>
        <p:cxnSp>
          <p:nvCxnSpPr>
            <p:cNvPr id="19" name="Straight Connector 18"/>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5" name="Date Placeholder 4"/>
          <p:cNvSpPr>
            <a:spLocks noGrp="1"/>
          </p:cNvSpPr>
          <p:nvPr>
            <p:ph type="dt" sz="half" idx="10"/>
          </p:nvPr>
        </p:nvSpPr>
        <p:spPr>
          <a:xfrm>
            <a:off x="8636000" y="55499"/>
            <a:ext cx="2844800" cy="365125"/>
          </a:xfrm>
        </p:spPr>
        <p:txBody>
          <a:bodyPr/>
          <a:lstStyle/>
          <a:p>
            <a:fld id="{4509A250-FF31-4206-8172-F9D3106AACB1}" type="datetimeFigureOut">
              <a:rPr lang="en-US" smtClean="0"/>
              <a:t>5/1/2026</a:t>
            </a:fld>
            <a:endParaRPr lang="en-US" dirty="0"/>
          </a:p>
        </p:txBody>
      </p:sp>
      <p:sp>
        <p:nvSpPr>
          <p:cNvPr id="6" name="Footer Placeholder 5"/>
          <p:cNvSpPr>
            <a:spLocks noGrp="1"/>
          </p:cNvSpPr>
          <p:nvPr>
            <p:ph type="ftr" sz="quarter" idx="11"/>
          </p:nvPr>
        </p:nvSpPr>
        <p:spPr>
          <a:xfrm>
            <a:off x="1219200" y="55499"/>
            <a:ext cx="7416800" cy="365125"/>
          </a:xfrm>
        </p:spPr>
        <p:txBody>
          <a:bodyPr/>
          <a:lstStyle/>
          <a:p>
            <a:endParaRPr lang="en-US" dirty="0"/>
          </a:p>
        </p:txBody>
      </p:sp>
      <p:sp>
        <p:nvSpPr>
          <p:cNvPr id="7" name="Slide Number Placeholder 6"/>
          <p:cNvSpPr>
            <a:spLocks noGrp="1"/>
          </p:cNvSpPr>
          <p:nvPr>
            <p:ph type="sldNum" sz="quarter" idx="12"/>
          </p:nvPr>
        </p:nvSpPr>
        <p:spPr>
          <a:xfrm>
            <a:off x="11480800" y="55499"/>
            <a:ext cx="609600" cy="365125"/>
          </a:xfrm>
        </p:spPr>
        <p:txBody>
          <a:bodyPr/>
          <a:lstStyle/>
          <a:p>
            <a:fld id="{D57F1E4F-1CFF-5643-939E-02111984F565}"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t>5/1/2026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641600" cy="5851525"/>
          </a:xfrm>
        </p:spPr>
        <p:txBody>
          <a:bodyPr vert="eaVert" anchor="ctr"/>
          <a:lstStyle/>
          <a:p>
            <a:r>
              <a:rPr kumimoji="0" lang="en-US"/>
              <a:t>Click to edit Master title style</a:t>
            </a:r>
          </a:p>
        </p:txBody>
      </p:sp>
      <p:sp>
        <p:nvSpPr>
          <p:cNvPr id="3" name="Vertical Text Placeholder 2"/>
          <p:cNvSpPr>
            <a:spLocks noGrp="1"/>
          </p:cNvSpPr>
          <p:nvPr>
            <p:ph type="body" orient="vert" idx="1"/>
          </p:nvPr>
        </p:nvSpPr>
        <p:spPr>
          <a:xfrm>
            <a:off x="812800" y="274640"/>
            <a:ext cx="78232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t>5/1/2026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2" cstate="print"/>
          <a:srcRect t="33333"/>
          <a:stretch>
            <a:fillRect/>
          </a:stretch>
        </p:blipFill>
        <p:spPr>
          <a:xfrm>
            <a:off x="0" y="0"/>
            <a:ext cx="12192000" cy="4572000"/>
          </a:xfrm>
          <a:prstGeom prst="rect">
            <a:avLst/>
          </a:prstGeom>
        </p:spPr>
      </p:pic>
      <p:sp>
        <p:nvSpPr>
          <p:cNvPr id="4" name="Date Placeholder 3"/>
          <p:cNvSpPr>
            <a:spLocks noGrp="1"/>
          </p:cNvSpPr>
          <p:nvPr>
            <p:ph type="dt" sz="half" idx="10"/>
          </p:nvPr>
        </p:nvSpPr>
        <p:spPr/>
        <p:txBody>
          <a:bodyPr/>
          <a:lstStyle/>
          <a:p>
            <a:fld id="{B9CA7F16-7EF7-4BAE-A533-BC5C8B1B0BEB}"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
        <p:nvSpPr>
          <p:cNvPr id="3" name="Subtitle 2"/>
          <p:cNvSpPr>
            <a:spLocks noGrp="1"/>
          </p:cNvSpPr>
          <p:nvPr>
            <p:ph type="subTitle" idx="1"/>
          </p:nvPr>
        </p:nvSpPr>
        <p:spPr>
          <a:xfrm>
            <a:off x="1625600" y="3886200"/>
            <a:ext cx="8534400" cy="1752600"/>
          </a:xfrm>
        </p:spPr>
        <p:txBody>
          <a:bodyPr>
            <a:normAutofit/>
          </a:bodyPr>
          <a:lstStyle>
            <a:lvl1pPr marL="0" indent="0" algn="ctr">
              <a:buNone/>
              <a:defRPr sz="1700" baseline="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2" name="Title 1"/>
          <p:cNvSpPr>
            <a:spLocks noGrp="1"/>
          </p:cNvSpPr>
          <p:nvPr>
            <p:ph type="ctrTitle"/>
          </p:nvPr>
        </p:nvSpPr>
        <p:spPr>
          <a:xfrm>
            <a:off x="914400" y="2007893"/>
            <a:ext cx="10363200" cy="1470025"/>
          </a:xfrm>
        </p:spPr>
        <p:txBody>
          <a:bodyPr/>
          <a:lstStyle>
            <a:lvl1pPr algn="ctr">
              <a:defRPr sz="3200"/>
            </a:lvl1pPr>
          </a:lstStyle>
          <a:p>
            <a:r>
              <a:rPr lang="en-US"/>
              <a:t>Click to edit Master title style</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4" name="Date Placeholder 3"/>
          <p:cNvSpPr>
            <a:spLocks noGrp="1"/>
          </p:cNvSpPr>
          <p:nvPr>
            <p:ph type="dt" sz="half" idx="10"/>
          </p:nvPr>
        </p:nvSpPr>
        <p:spPr/>
        <p:txBody>
          <a:bodyPr/>
          <a:lstStyle/>
          <a:p>
            <a:fld id="{B9CA7F16-7EF7-4BAE-A533-BC5C8B1B0BEB}"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
        <p:nvSpPr>
          <p:cNvPr id="8" name="Content Placeholder 7"/>
          <p:cNvSpPr>
            <a:spLocks noGrp="1"/>
          </p:cNvSpPr>
          <p:nvPr>
            <p:ph sz="quarter" idx="13"/>
          </p:nvPr>
        </p:nvSpPr>
        <p:spPr>
          <a:xfrm>
            <a:off x="812800" y="1600200"/>
            <a:ext cx="105664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803" y="4962530"/>
            <a:ext cx="10513484" cy="1362075"/>
          </a:xfrm>
        </p:spPr>
        <p:txBody>
          <a:bodyPr anchor="t"/>
          <a:lstStyle>
            <a:lvl1pPr algn="l">
              <a:defRPr sz="3200" b="0" i="0" cap="all" baseline="0"/>
            </a:lvl1pPr>
          </a:lstStyle>
          <a:p>
            <a:r>
              <a:rPr lang="en-US"/>
              <a:t>Click to edit Master title style</a:t>
            </a:r>
            <a:endParaRPr lang="en-US" dirty="0"/>
          </a:p>
        </p:txBody>
      </p:sp>
      <p:sp>
        <p:nvSpPr>
          <p:cNvPr id="3" name="Text Placeholder 2"/>
          <p:cNvSpPr>
            <a:spLocks noGrp="1"/>
          </p:cNvSpPr>
          <p:nvPr>
            <p:ph type="body" idx="1"/>
          </p:nvPr>
        </p:nvSpPr>
        <p:spPr>
          <a:xfrm>
            <a:off x="812803" y="3462343"/>
            <a:ext cx="10513484" cy="1500187"/>
          </a:xfrm>
        </p:spPr>
        <p:txBody>
          <a:bodyPr anchor="b">
            <a:normAutofit/>
          </a:bodyPr>
          <a:lstStyle>
            <a:lvl1pPr marL="0" indent="0">
              <a:buNone/>
              <a:defRPr sz="170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CA7F16-7EF7-4BAE-A533-BC5C8B1B0BEB}"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1" name="Content Placeholder 10"/>
          <p:cNvSpPr>
            <a:spLocks noGrp="1"/>
          </p:cNvSpPr>
          <p:nvPr>
            <p:ph sz="quarter" idx="13"/>
          </p:nvPr>
        </p:nvSpPr>
        <p:spPr>
          <a:xfrm>
            <a:off x="812800" y="1600200"/>
            <a:ext cx="4978400" cy="4114800"/>
          </a:xfrm>
        </p:spPr>
        <p:txBody>
          <a:bodyPr/>
          <a:lstStyle>
            <a:lvl5pPr>
              <a:defRPr/>
            </a:lvl5pPr>
            <a:lvl6pPr>
              <a:buClr>
                <a:schemeClr val="tx2"/>
              </a:buClr>
              <a:buFont typeface="Arial" panose="020B0604020202020204" pitchFamily="34" charset="0"/>
              <a:buChar char="•"/>
              <a:defRPr/>
            </a:lvl6pPr>
            <a:lvl7pPr>
              <a:buClr>
                <a:schemeClr val="tx2"/>
              </a:buClr>
              <a:buFont typeface="Arial" panose="020B0604020202020204" pitchFamily="34" charset="0"/>
              <a:buChar char="•"/>
              <a:defRPr/>
            </a:lvl7pPr>
            <a:lvl8pPr>
              <a:buClr>
                <a:schemeClr val="tx2"/>
              </a:buClr>
              <a:buFont typeface="Arial" panose="020B0604020202020204" pitchFamily="34" charset="0"/>
              <a:buChar char="•"/>
              <a:defRPr/>
            </a:lvl8pPr>
            <a:lvl9pPr>
              <a:buClr>
                <a:schemeClr val="tx2"/>
              </a:buClr>
              <a:buFont typeface="Arial" panose="020B0604020202020204" pitchFamily="34" charset="0"/>
              <a:buChar cha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6400800" y="1600200"/>
            <a:ext cx="4978400" cy="41148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5" name="Date Placeholder 4"/>
          <p:cNvSpPr>
            <a:spLocks noGrp="1"/>
          </p:cNvSpPr>
          <p:nvPr>
            <p:ph type="dt" sz="half" idx="10"/>
          </p:nvPr>
        </p:nvSpPr>
        <p:spPr/>
        <p:txBody>
          <a:bodyPr/>
          <a:lstStyle/>
          <a:p>
            <a:fld id="{B9CA7F16-7EF7-4BAE-A533-BC5C8B1B0BEB}" type="datetimeFigureOut">
              <a:rPr lang="en-US" smtClean="0"/>
              <a:t>5/1/2026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3" name="Content Placeholder 12"/>
          <p:cNvSpPr>
            <a:spLocks noGrp="1"/>
          </p:cNvSpPr>
          <p:nvPr>
            <p:ph sz="quarter" idx="14"/>
          </p:nvPr>
        </p:nvSpPr>
        <p:spPr>
          <a:xfrm>
            <a:off x="6400800" y="2209800"/>
            <a:ext cx="49784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3"/>
          </p:nvPr>
        </p:nvSpPr>
        <p:spPr>
          <a:xfrm>
            <a:off x="812800" y="2209800"/>
            <a:ext cx="49784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812800" y="274638"/>
            <a:ext cx="10566400" cy="11430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2800" y="1600200"/>
            <a:ext cx="49784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6400800" y="1600200"/>
            <a:ext cx="49784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B9CA7F16-7EF7-4BAE-A533-BC5C8B1B0BEB}" type="datetimeFigureOut">
              <a:rPr lang="en-US" smtClean="0"/>
              <a:t>5/1/2026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9CA7F16-7EF7-4BAE-A533-BC5C8B1B0BEB}" type="datetimeFigureOut">
              <a:rPr lang="en-US" smtClean="0"/>
              <a:t>5/1/2026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CA7F16-7EF7-4BAE-A533-BC5C8B1B0BEB}" type="datetimeFigureOut">
              <a:rPr lang="en-US" smtClean="0"/>
              <a:t>5/1/2026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Content Placeholder 8"/>
          <p:cNvSpPr>
            <a:spLocks noGrp="1"/>
          </p:cNvSpPr>
          <p:nvPr>
            <p:ph sz="quarter" idx="13"/>
          </p:nvPr>
        </p:nvSpPr>
        <p:spPr>
          <a:xfrm>
            <a:off x="5283200" y="1447800"/>
            <a:ext cx="6197600" cy="426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816864" y="1447800"/>
            <a:ext cx="3962400" cy="1097280"/>
          </a:xfrm>
        </p:spPr>
        <p:txBody>
          <a:bodyPr anchor="b"/>
          <a:lstStyle>
            <a:lvl1pPr algn="l">
              <a:defRPr sz="1800" b="0" i="0" cap="none" baseline="0">
                <a:solidFill>
                  <a:schemeClr val="tx2"/>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816864" y="2547895"/>
            <a:ext cx="3962400" cy="3167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CA7F16-7EF7-4BAE-A533-BC5C8B1B0BEB}" type="datetimeFigureOut">
              <a:rPr lang="en-US" smtClean="0"/>
              <a:t>5/1/2026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pic>
        <p:nvPicPr>
          <p:cNvPr id="11" name="Picture 10" descr="horizon.png"/>
          <p:cNvPicPr>
            <a:picLocks noChangeAspect="1"/>
          </p:cNvPicPr>
          <p:nvPr/>
        </p:nvPicPr>
        <p:blipFill>
          <a:blip r:embed="rId2" cstate="print"/>
          <a:stretch>
            <a:fillRect/>
          </a:stretch>
        </p:blipFill>
        <p:spPr>
          <a:xfrm>
            <a:off x="0" y="0"/>
            <a:ext cx="12192000" cy="6858000"/>
          </a:xfrm>
          <a:prstGeom prst="rect">
            <a:avLst/>
          </a:prstGeom>
        </p:spPr>
      </p:pic>
      <p:sp>
        <p:nvSpPr>
          <p:cNvPr id="2" name="Title 1"/>
          <p:cNvSpPr>
            <a:spLocks noGrp="1"/>
          </p:cNvSpPr>
          <p:nvPr>
            <p:ph type="title"/>
          </p:nvPr>
        </p:nvSpPr>
        <p:spPr>
          <a:xfrm>
            <a:off x="812800" y="1447800"/>
            <a:ext cx="3962400" cy="1097280"/>
          </a:xfrm>
        </p:spPr>
        <p:txBody>
          <a:bodyPr anchor="b"/>
          <a:lstStyle>
            <a:lvl1pPr algn="l">
              <a:defRPr sz="1800" b="0" i="0" cap="none" baseline="0">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6209792" y="1447800"/>
            <a:ext cx="4559808" cy="3474720"/>
          </a:xfrm>
          <a:custGeom>
            <a:avLst/>
            <a:gdLst>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74450 w 3419856"/>
              <a:gd name="connsiteY9" fmla="*/ 3429000 h 3429000"/>
              <a:gd name="connsiteX10" fmla="*/ 21806 w 3419856"/>
              <a:gd name="connsiteY10" fmla="*/ 3407194 h 3429000"/>
              <a:gd name="connsiteX11" fmla="*/ 0 w 3419856"/>
              <a:gd name="connsiteY11" fmla="*/ 3354550 h 3429000"/>
              <a:gd name="connsiteX12" fmla="*/ 0 w 3419856"/>
              <a:gd name="connsiteY12" fmla="*/ 74450 h 3429000"/>
              <a:gd name="connsiteX0-1" fmla="*/ 0 w 3419856"/>
              <a:gd name="connsiteY0-2" fmla="*/ 74450 h 3429000"/>
              <a:gd name="connsiteX1-3" fmla="*/ 21806 w 3419856"/>
              <a:gd name="connsiteY1-4" fmla="*/ 21806 h 3429000"/>
              <a:gd name="connsiteX2-5" fmla="*/ 74450 w 3419856"/>
              <a:gd name="connsiteY2-6" fmla="*/ 0 h 3429000"/>
              <a:gd name="connsiteX3-7" fmla="*/ 3345406 w 3419856"/>
              <a:gd name="connsiteY3-8" fmla="*/ 0 h 3429000"/>
              <a:gd name="connsiteX4-9" fmla="*/ 3398050 w 3419856"/>
              <a:gd name="connsiteY4-10" fmla="*/ 21806 h 3429000"/>
              <a:gd name="connsiteX5-11" fmla="*/ 3419856 w 3419856"/>
              <a:gd name="connsiteY5-12" fmla="*/ 74450 h 3429000"/>
              <a:gd name="connsiteX6-13" fmla="*/ 3419856 w 3419856"/>
              <a:gd name="connsiteY6-14" fmla="*/ 3354550 h 3429000"/>
              <a:gd name="connsiteX7-15" fmla="*/ 3398050 w 3419856"/>
              <a:gd name="connsiteY7-16" fmla="*/ 3407194 h 3429000"/>
              <a:gd name="connsiteX8-17" fmla="*/ 3345406 w 3419856"/>
              <a:gd name="connsiteY8-18" fmla="*/ 3429000 h 3429000"/>
              <a:gd name="connsiteX9-19" fmla="*/ 21806 w 3419856"/>
              <a:gd name="connsiteY9-20" fmla="*/ 3407194 h 3429000"/>
              <a:gd name="connsiteX10-21" fmla="*/ 0 w 3419856"/>
              <a:gd name="connsiteY10-22" fmla="*/ 3354550 h 3429000"/>
              <a:gd name="connsiteX11-23" fmla="*/ 0 w 3419856"/>
              <a:gd name="connsiteY11-24" fmla="*/ 74450 h 3429000"/>
              <a:gd name="connsiteX0-25" fmla="*/ 0 w 3964392"/>
              <a:gd name="connsiteY0-26" fmla="*/ 74450 h 3415968"/>
              <a:gd name="connsiteX1-27" fmla="*/ 21806 w 3964392"/>
              <a:gd name="connsiteY1-28" fmla="*/ 21806 h 3415968"/>
              <a:gd name="connsiteX2-29" fmla="*/ 74450 w 3964392"/>
              <a:gd name="connsiteY2-30" fmla="*/ 0 h 3415968"/>
              <a:gd name="connsiteX3-31" fmla="*/ 3345406 w 3964392"/>
              <a:gd name="connsiteY3-32" fmla="*/ 0 h 3415968"/>
              <a:gd name="connsiteX4-33" fmla="*/ 3398050 w 3964392"/>
              <a:gd name="connsiteY4-34" fmla="*/ 21806 h 3415968"/>
              <a:gd name="connsiteX5-35" fmla="*/ 3419856 w 3964392"/>
              <a:gd name="connsiteY5-36" fmla="*/ 74450 h 3415968"/>
              <a:gd name="connsiteX6-37" fmla="*/ 3419856 w 3964392"/>
              <a:gd name="connsiteY6-38" fmla="*/ 3354550 h 3415968"/>
              <a:gd name="connsiteX7-39" fmla="*/ 3398050 w 3964392"/>
              <a:gd name="connsiteY7-40" fmla="*/ 3407194 h 3415968"/>
              <a:gd name="connsiteX8-41" fmla="*/ 21806 w 3964392"/>
              <a:gd name="connsiteY8-42" fmla="*/ 3407194 h 3415968"/>
              <a:gd name="connsiteX9-43" fmla="*/ 0 w 3964392"/>
              <a:gd name="connsiteY9-44" fmla="*/ 3354550 h 3415968"/>
              <a:gd name="connsiteX10-45" fmla="*/ 0 w 3964392"/>
              <a:gd name="connsiteY10-46" fmla="*/ 74450 h 3415968"/>
              <a:gd name="connsiteX0-47" fmla="*/ 0 w 3964392"/>
              <a:gd name="connsiteY0-48" fmla="*/ 74450 h 3415968"/>
              <a:gd name="connsiteX1-49" fmla="*/ 21806 w 3964392"/>
              <a:gd name="connsiteY1-50" fmla="*/ 21806 h 3415968"/>
              <a:gd name="connsiteX2-51" fmla="*/ 74450 w 3964392"/>
              <a:gd name="connsiteY2-52" fmla="*/ 0 h 3415968"/>
              <a:gd name="connsiteX3-53" fmla="*/ 3345406 w 3964392"/>
              <a:gd name="connsiteY3-54" fmla="*/ 0 h 3415968"/>
              <a:gd name="connsiteX4-55" fmla="*/ 3398050 w 3964392"/>
              <a:gd name="connsiteY4-56" fmla="*/ 21806 h 3415968"/>
              <a:gd name="connsiteX5-57" fmla="*/ 3419856 w 3964392"/>
              <a:gd name="connsiteY5-58" fmla="*/ 74450 h 3415968"/>
              <a:gd name="connsiteX6-59" fmla="*/ 3419856 w 3964392"/>
              <a:gd name="connsiteY6-60" fmla="*/ 3354550 h 3415968"/>
              <a:gd name="connsiteX7-61" fmla="*/ 3398050 w 3964392"/>
              <a:gd name="connsiteY7-62" fmla="*/ 3407194 h 3415968"/>
              <a:gd name="connsiteX8-63" fmla="*/ 21806 w 3964392"/>
              <a:gd name="connsiteY8-64" fmla="*/ 3407194 h 3415968"/>
              <a:gd name="connsiteX9-65" fmla="*/ 0 w 3964392"/>
              <a:gd name="connsiteY9-66" fmla="*/ 3354550 h 3415968"/>
              <a:gd name="connsiteX10-67" fmla="*/ 0 w 3964392"/>
              <a:gd name="connsiteY10-68" fmla="*/ 74450 h 3415968"/>
              <a:gd name="connsiteX0-69" fmla="*/ 0 w 3968026"/>
              <a:gd name="connsiteY0-70" fmla="*/ 74450 h 3910007"/>
              <a:gd name="connsiteX1-71" fmla="*/ 21806 w 3968026"/>
              <a:gd name="connsiteY1-72" fmla="*/ 21806 h 3910007"/>
              <a:gd name="connsiteX2-73" fmla="*/ 74450 w 3968026"/>
              <a:gd name="connsiteY2-74" fmla="*/ 0 h 3910007"/>
              <a:gd name="connsiteX3-75" fmla="*/ 3345406 w 3968026"/>
              <a:gd name="connsiteY3-76" fmla="*/ 0 h 3910007"/>
              <a:gd name="connsiteX4-77" fmla="*/ 3398050 w 3968026"/>
              <a:gd name="connsiteY4-78" fmla="*/ 21806 h 3910007"/>
              <a:gd name="connsiteX5-79" fmla="*/ 3419856 w 3968026"/>
              <a:gd name="connsiteY5-80" fmla="*/ 74450 h 3910007"/>
              <a:gd name="connsiteX6-81" fmla="*/ 3419856 w 3968026"/>
              <a:gd name="connsiteY6-82" fmla="*/ 3354550 h 3910007"/>
              <a:gd name="connsiteX7-83" fmla="*/ 3398050 w 3968026"/>
              <a:gd name="connsiteY7-84" fmla="*/ 3407194 h 3910007"/>
              <a:gd name="connsiteX8-85" fmla="*/ 0 w 3968026"/>
              <a:gd name="connsiteY8-86" fmla="*/ 3354550 h 3910007"/>
              <a:gd name="connsiteX9-87" fmla="*/ 0 w 3968026"/>
              <a:gd name="connsiteY9-88" fmla="*/ 74450 h 3910007"/>
              <a:gd name="connsiteX0-89" fmla="*/ 0 w 3419856"/>
              <a:gd name="connsiteY0-90" fmla="*/ 74450 h 3901233"/>
              <a:gd name="connsiteX1-91" fmla="*/ 21806 w 3419856"/>
              <a:gd name="connsiteY1-92" fmla="*/ 21806 h 3901233"/>
              <a:gd name="connsiteX2-93" fmla="*/ 74450 w 3419856"/>
              <a:gd name="connsiteY2-94" fmla="*/ 0 h 3901233"/>
              <a:gd name="connsiteX3-95" fmla="*/ 3345406 w 3419856"/>
              <a:gd name="connsiteY3-96" fmla="*/ 0 h 3901233"/>
              <a:gd name="connsiteX4-97" fmla="*/ 3398050 w 3419856"/>
              <a:gd name="connsiteY4-98" fmla="*/ 21806 h 3901233"/>
              <a:gd name="connsiteX5-99" fmla="*/ 3419856 w 3419856"/>
              <a:gd name="connsiteY5-100" fmla="*/ 74450 h 3901233"/>
              <a:gd name="connsiteX6-101" fmla="*/ 3419856 w 3419856"/>
              <a:gd name="connsiteY6-102" fmla="*/ 3354550 h 3901233"/>
              <a:gd name="connsiteX7-103" fmla="*/ 0 w 3419856"/>
              <a:gd name="connsiteY7-104" fmla="*/ 3354550 h 3901233"/>
              <a:gd name="connsiteX8-105" fmla="*/ 0 w 3419856"/>
              <a:gd name="connsiteY8-106" fmla="*/ 74450 h 3901233"/>
              <a:gd name="connsiteX0-107" fmla="*/ 0 w 3419856"/>
              <a:gd name="connsiteY0-108" fmla="*/ 74450 h 3354550"/>
              <a:gd name="connsiteX1-109" fmla="*/ 21806 w 3419856"/>
              <a:gd name="connsiteY1-110" fmla="*/ 21806 h 3354550"/>
              <a:gd name="connsiteX2-111" fmla="*/ 74450 w 3419856"/>
              <a:gd name="connsiteY2-112" fmla="*/ 0 h 3354550"/>
              <a:gd name="connsiteX3-113" fmla="*/ 3345406 w 3419856"/>
              <a:gd name="connsiteY3-114" fmla="*/ 0 h 3354550"/>
              <a:gd name="connsiteX4-115" fmla="*/ 3398050 w 3419856"/>
              <a:gd name="connsiteY4-116" fmla="*/ 21806 h 3354550"/>
              <a:gd name="connsiteX5-117" fmla="*/ 3419856 w 3419856"/>
              <a:gd name="connsiteY5-118" fmla="*/ 74450 h 3354550"/>
              <a:gd name="connsiteX6-119" fmla="*/ 3419856 w 3419856"/>
              <a:gd name="connsiteY6-120" fmla="*/ 3354550 h 3354550"/>
              <a:gd name="connsiteX7-121" fmla="*/ 0 w 3419856"/>
              <a:gd name="connsiteY7-122" fmla="*/ 3354550 h 3354550"/>
              <a:gd name="connsiteX8-123" fmla="*/ 0 w 3419856"/>
              <a:gd name="connsiteY8-124" fmla="*/ 74450 h 335455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3419856" h="3354550">
                <a:moveTo>
                  <a:pt x="0" y="74450"/>
                </a:moveTo>
                <a:cubicBezTo>
                  <a:pt x="0" y="54705"/>
                  <a:pt x="7844" y="35768"/>
                  <a:pt x="21806" y="21806"/>
                </a:cubicBezTo>
                <a:cubicBezTo>
                  <a:pt x="35768" y="7844"/>
                  <a:pt x="54705" y="0"/>
                  <a:pt x="74450" y="0"/>
                </a:cubicBezTo>
                <a:lnTo>
                  <a:pt x="3345406" y="0"/>
                </a:lnTo>
                <a:cubicBezTo>
                  <a:pt x="3365151" y="0"/>
                  <a:pt x="3384088" y="7844"/>
                  <a:pt x="3398050" y="21806"/>
                </a:cubicBezTo>
                <a:cubicBezTo>
                  <a:pt x="3412012" y="35768"/>
                  <a:pt x="3419856" y="54705"/>
                  <a:pt x="3419856" y="74450"/>
                </a:cubicBezTo>
                <a:lnTo>
                  <a:pt x="3419856" y="3354550"/>
                </a:lnTo>
                <a:lnTo>
                  <a:pt x="0" y="3354550"/>
                </a:lnTo>
                <a:lnTo>
                  <a:pt x="0" y="74450"/>
                </a:lnTo>
                <a:close/>
              </a:path>
            </a:pathLst>
          </a:custGeom>
        </p:spPr>
        <p:txBody>
          <a:bodyPr>
            <a:normAutofit/>
          </a:bodyPr>
          <a:lstStyle>
            <a:lvl1pPr marL="0" indent="0" algn="ctr">
              <a:buNone/>
              <a:defRPr sz="2000" baseline="0">
                <a:solidFill>
                  <a:schemeClr val="tx1">
                    <a:lumMod val="6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12800" y="2547893"/>
            <a:ext cx="3962400" cy="2405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CA7F16-7EF7-4BAE-A533-BC5C8B1B0BEB}" type="datetimeFigureOut">
              <a:rPr lang="en-US" smtClean="0"/>
              <a:t>5/1/2026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CA7F16-7EF7-4BAE-A533-BC5C8B1B0BEB}"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3"/>
            <a:ext cx="2743200" cy="58515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09600" y="274643"/>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CA7F16-7EF7-4BAE-A533-BC5C8B1B0BEB}"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988800" y="3048"/>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828800" y="2819400"/>
            <a:ext cx="85344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B9CA7F16-7EF7-4BAE-A533-BC5C8B1B0BEB}" type="datetimeFigureOut">
              <a:rPr lang="en-US" smtClean="0"/>
              <a:t>5/1/2026</a:t>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207264" y="2420112"/>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5791200" y="2199457"/>
            <a:ext cx="609600" cy="441325"/>
          </a:xfrm>
        </p:spPr>
        <p:txBody>
          <a:bodyPr/>
          <a:lstStyle>
            <a:lvl1pPr>
              <a:defRPr>
                <a:solidFill>
                  <a:schemeClr val="accent3">
                    <a:shade val="75000"/>
                  </a:schemeClr>
                </a:solidFill>
              </a:defRPr>
            </a:lvl1pPr>
          </a:lstStyle>
          <a:p>
            <a:fld id="{8A3A827A-826E-4A0B-AEA4-130148450C5D}" type="slidenum">
              <a:rPr lang="en-US" smtClean="0"/>
              <a:t>‹#›</a:t>
            </a:fld>
            <a:endParaRPr lang="en-US"/>
          </a:p>
        </p:txBody>
      </p:sp>
      <p:sp>
        <p:nvSpPr>
          <p:cNvPr id="8" name="Title 7"/>
          <p:cNvSpPr>
            <a:spLocks noGrp="1"/>
          </p:cNvSpPr>
          <p:nvPr>
            <p:ph type="ctrTitle"/>
          </p:nvPr>
        </p:nvSpPr>
        <p:spPr>
          <a:xfrm>
            <a:off x="914400" y="381000"/>
            <a:ext cx="10363200" cy="1752600"/>
          </a:xfrm>
        </p:spPr>
        <p:txBody>
          <a:bodyPr anchor="b"/>
          <a:lstStyle>
            <a:lvl1pPr>
              <a:defRPr sz="4200">
                <a:solidFill>
                  <a:schemeClr val="accent1"/>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p>
        </p:txBody>
      </p:sp>
      <p:sp>
        <p:nvSpPr>
          <p:cNvPr id="4" name="Date Placeholder 3"/>
          <p:cNvSpPr>
            <a:spLocks noGrp="1"/>
          </p:cNvSpPr>
          <p:nvPr>
            <p:ph type="dt" sz="half" idx="10"/>
          </p:nvPr>
        </p:nvSpPr>
        <p:spPr/>
        <p:txBody>
          <a:bodyPr/>
          <a:lstStyle/>
          <a:p>
            <a:fld id="{B9CA7F16-7EF7-4BAE-A533-BC5C8B1B0BEB}"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5815584" y="1026379"/>
            <a:ext cx="609600" cy="441325"/>
          </a:xfrm>
        </p:spPr>
        <p:txBody>
          <a:bodyPr/>
          <a:lstStyle/>
          <a:p>
            <a:fld id="{8A3A827A-826E-4A0B-AEA4-130148450C5D}" type="slidenum">
              <a:rPr lang="en-US" smtClean="0"/>
              <a:t>‹#›</a:t>
            </a:fld>
            <a:endParaRPr lang="en-US"/>
          </a:p>
        </p:txBody>
      </p:sp>
      <p:sp>
        <p:nvSpPr>
          <p:cNvPr id="8" name="Content Placeholder 7"/>
          <p:cNvSpPr>
            <a:spLocks noGrp="1"/>
          </p:cNvSpPr>
          <p:nvPr>
            <p:ph sz="quarter" idx="1"/>
          </p:nvPr>
        </p:nvSpPr>
        <p:spPr>
          <a:xfrm>
            <a:off x="402336" y="1527048"/>
            <a:ext cx="1133856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988800" y="1905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203200" y="2286000"/>
            <a:ext cx="11777472"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207264" y="142352"/>
            <a:ext cx="11777472"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824568" y="2743200"/>
            <a:ext cx="8640232"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3" name="Rectangle 12"/>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t>5/1/2026</a:t>
            </a:fld>
            <a:endParaRPr lang="en-US"/>
          </a:p>
        </p:txBody>
      </p:sp>
      <p:sp>
        <p:nvSpPr>
          <p:cNvPr id="8" name="Straight Connector 7"/>
          <p:cNvSpPr>
            <a:spLocks noChangeShapeType="1"/>
          </p:cNvSpPr>
          <p:nvPr/>
        </p:nvSpPr>
        <p:spPr bwMode="auto">
          <a:xfrm>
            <a:off x="203200" y="2438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5791200" y="2199457"/>
            <a:ext cx="609600" cy="441325"/>
          </a:xfrm>
        </p:spPr>
        <p:txBody>
          <a:bodyPr/>
          <a:lstStyle>
            <a:lvl1pPr>
              <a:defRPr>
                <a:solidFill>
                  <a:schemeClr val="accent3">
                    <a:shade val="75000"/>
                  </a:schemeClr>
                </a:solidFill>
              </a:defRPr>
            </a:lvl1pPr>
          </a:lstStyle>
          <a:p>
            <a:fld id="{8A3A827A-826E-4A0B-AEA4-130148450C5D}" type="slidenum">
              <a:rPr lang="en-US" smtClean="0"/>
              <a:t>‹#›</a:t>
            </a:fld>
            <a:endParaRPr lang="en-US"/>
          </a:p>
        </p:txBody>
      </p:sp>
      <p:sp>
        <p:nvSpPr>
          <p:cNvPr id="2" name="Title 1"/>
          <p:cNvSpPr>
            <a:spLocks noGrp="1"/>
          </p:cNvSpPr>
          <p:nvPr>
            <p:ph type="title"/>
          </p:nvPr>
        </p:nvSpPr>
        <p:spPr>
          <a:xfrm>
            <a:off x="963084" y="533400"/>
            <a:ext cx="10363200" cy="1524000"/>
          </a:xfrm>
        </p:spPr>
        <p:txBody>
          <a:bodyPr anchor="b"/>
          <a:lstStyle>
            <a:lvl1pPr algn="ctr">
              <a:buNone/>
              <a:defRPr sz="4200" b="0" cap="none" baseline="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02336" y="228600"/>
            <a:ext cx="11379200" cy="758952"/>
          </a:xfrm>
        </p:spPr>
        <p:txBody>
          <a:bodyPr/>
          <a:lstStyle/>
          <a:p>
            <a:r>
              <a:rPr kumimoji="0" lang="en-US"/>
              <a:t>Click to edit Master title style</a:t>
            </a:r>
          </a:p>
        </p:txBody>
      </p:sp>
      <p:sp>
        <p:nvSpPr>
          <p:cNvPr id="5" name="Date Placeholder 4"/>
          <p:cNvSpPr>
            <a:spLocks noGrp="1"/>
          </p:cNvSpPr>
          <p:nvPr>
            <p:ph type="dt" sz="half" idx="10"/>
          </p:nvPr>
        </p:nvSpPr>
        <p:spPr>
          <a:xfrm>
            <a:off x="7721600" y="6409944"/>
            <a:ext cx="4059936" cy="365760"/>
          </a:xfrm>
        </p:spPr>
        <p:txBody>
          <a:bodyPr/>
          <a:lstStyle/>
          <a:p>
            <a:fld id="{B9CA7F16-7EF7-4BAE-A533-BC5C8B1B0BEB}" type="datetimeFigureOut">
              <a:rPr lang="en-US" smtClean="0"/>
              <a:t>5/1/2026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
        <p:nvSpPr>
          <p:cNvPr id="8" name="Straight Connector 7"/>
          <p:cNvSpPr>
            <a:spLocks noChangeShapeType="1"/>
          </p:cNvSpPr>
          <p:nvPr/>
        </p:nvSpPr>
        <p:spPr bwMode="auto">
          <a:xfrm flipV="1">
            <a:off x="6084111" y="1575654"/>
            <a:ext cx="11895"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402336" y="1371600"/>
            <a:ext cx="53848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Content Placeholder 11"/>
          <p:cNvSpPr>
            <a:spLocks noGrp="1"/>
          </p:cNvSpPr>
          <p:nvPr>
            <p:ph sz="half" idx="2"/>
          </p:nvPr>
        </p:nvSpPr>
        <p:spPr>
          <a:xfrm>
            <a:off x="6400800" y="1371600"/>
            <a:ext cx="53848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6096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12192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203200" y="1371600"/>
            <a:ext cx="11777472"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94564" y="6391656"/>
            <a:ext cx="11777472"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402336" y="1524000"/>
            <a:ext cx="5386917"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388445" y="1524000"/>
            <a:ext cx="5389033"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B9CA7F16-7EF7-4BAE-A533-BC5C8B1B0BEB}" type="datetimeFigureOut">
              <a:rPr lang="en-US" smtClean="0"/>
              <a:t>5/1/2026</a:t>
            </a:fld>
            <a:endParaRPr lang="en-US"/>
          </a:p>
        </p:txBody>
      </p:sp>
      <p:sp>
        <p:nvSpPr>
          <p:cNvPr id="8" name="Footer Placeholder 7"/>
          <p:cNvSpPr>
            <a:spLocks noGrp="1"/>
          </p:cNvSpPr>
          <p:nvPr>
            <p:ph type="ftr" sz="quarter" idx="11"/>
          </p:nvPr>
        </p:nvSpPr>
        <p:spPr>
          <a:xfrm>
            <a:off x="406400" y="6409944"/>
            <a:ext cx="4775200" cy="365760"/>
          </a:xfrm>
        </p:spPr>
        <p:txBody>
          <a:bodyPr/>
          <a:lstStyle/>
          <a:p>
            <a:endParaRPr lang="en-US"/>
          </a:p>
        </p:txBody>
      </p:sp>
      <p:sp>
        <p:nvSpPr>
          <p:cNvPr id="15" name="Straight Connector 14"/>
          <p:cNvSpPr>
            <a:spLocks noChangeShapeType="1"/>
          </p:cNvSpPr>
          <p:nvPr/>
        </p:nvSpPr>
        <p:spPr bwMode="auto">
          <a:xfrm>
            <a:off x="203200" y="128016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402336" y="2471383"/>
            <a:ext cx="5388864" cy="3818404"/>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Content Placeholder 25"/>
          <p:cNvSpPr>
            <a:spLocks noGrp="1"/>
          </p:cNvSpPr>
          <p:nvPr>
            <p:ph sz="quarter" idx="4"/>
          </p:nvPr>
        </p:nvSpPr>
        <p:spPr>
          <a:xfrm>
            <a:off x="6400800" y="2471383"/>
            <a:ext cx="5384800" cy="382219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5" name="Oval 24"/>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5791200" y="1042423"/>
            <a:ext cx="609600" cy="441325"/>
          </a:xfrm>
        </p:spPr>
        <p:txBody>
          <a:bodyPr/>
          <a:lstStyle>
            <a:lvl1pPr algn="ctr">
              <a:defRPr/>
            </a:lvl1pPr>
          </a:lstStyle>
          <a:p>
            <a:fld id="{8A3A827A-826E-4A0B-AEA4-130148450C5D}" type="slidenum">
              <a:rPr lang="en-US" smtClean="0"/>
              <a:t>‹#›</a:t>
            </a:fld>
            <a:endParaRPr lang="en-US"/>
          </a:p>
        </p:txBody>
      </p:sp>
      <p:sp>
        <p:nvSpPr>
          <p:cNvPr id="23" name="Title 22"/>
          <p:cNvSpPr>
            <a:spLocks noGrp="1"/>
          </p:cNvSpPr>
          <p:nvPr>
            <p:ph type="title"/>
          </p:nvPr>
        </p:nvSpPr>
        <p:spPr/>
        <p:txBody>
          <a:bodyPr rtlCol="0" anchor="b" anchorCtr="0"/>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B9CA7F16-7EF7-4BAE-A533-BC5C8B1B0BEB}" type="datetimeFigureOut">
              <a:rPr lang="en-US" smtClean="0"/>
              <a:t>5/1/2026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5791200" y="1036027"/>
            <a:ext cx="609600" cy="441325"/>
          </a:xfrm>
        </p:spPr>
        <p:txBody>
          <a:bodyPr/>
          <a:lstStyle/>
          <a:p>
            <a:fld id="{8A3A827A-826E-4A0B-AEA4-130148450C5D}" type="slidenum">
              <a:rPr lang="en-US" smtClean="0"/>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203200" y="158496"/>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B9CA7F16-7EF7-4BAE-A533-BC5C8B1B0BEB}" type="datetimeFigureOut">
              <a:rPr lang="en-US" smtClean="0"/>
              <a:t>5/1/2026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5689600" y="6324600"/>
            <a:ext cx="812800" cy="441324"/>
          </a:xfrm>
        </p:spPr>
        <p:txBody>
          <a:bodyPr/>
          <a:lstStyle>
            <a:lvl1pPr>
              <a:defRPr>
                <a:solidFill>
                  <a:srgbClr val="FFFFFF"/>
                </a:solidFill>
              </a:defRPr>
            </a:lvl1pPr>
          </a:lstStyle>
          <a:p>
            <a:fld id="{8A3A827A-826E-4A0B-AEA4-130148450C5D}" type="slidenum">
              <a:rPr lang="en-US" smtClean="0"/>
              <a:t>‹#›</a:t>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203200" y="152400"/>
            <a:ext cx="11777472"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508000" y="914400"/>
            <a:ext cx="3149600" cy="990600"/>
          </a:xfrm>
        </p:spPr>
        <p:txBody>
          <a:bodyPr anchor="b">
            <a:noAutofit/>
          </a:bodyPr>
          <a:lstStyle>
            <a:lvl1pPr algn="l">
              <a:buNone/>
              <a:defRPr sz="2200" b="1">
                <a:solidFill>
                  <a:srgbClr val="FFFFFF"/>
                </a:solidFill>
              </a:defRPr>
            </a:lvl1pPr>
          </a:lstStyle>
          <a:p>
            <a:r>
              <a:rPr kumimoji="0" lang="en-US"/>
              <a:t>Click to edit Master title style</a:t>
            </a:r>
          </a:p>
        </p:txBody>
      </p:sp>
      <p:sp>
        <p:nvSpPr>
          <p:cNvPr id="3" name="Text Placeholder 2"/>
          <p:cNvSpPr>
            <a:spLocks noGrp="1"/>
          </p:cNvSpPr>
          <p:nvPr>
            <p:ph type="body" idx="2"/>
          </p:nvPr>
        </p:nvSpPr>
        <p:spPr>
          <a:xfrm>
            <a:off x="508000" y="1981207"/>
            <a:ext cx="31496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Rectangle 7"/>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4165600" y="685800"/>
            <a:ext cx="7518400" cy="5410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Oval 9"/>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828800" y="312745"/>
            <a:ext cx="609600" cy="441325"/>
          </a:xfrm>
        </p:spPr>
        <p:txBody>
          <a:bodyPr/>
          <a:lstStyle>
            <a:lvl1pPr>
              <a:defRPr>
                <a:solidFill>
                  <a:schemeClr val="accent3">
                    <a:shade val="75000"/>
                  </a:schemeClr>
                </a:solidFill>
              </a:defRPr>
            </a:lvl1pPr>
          </a:lstStyle>
          <a:p>
            <a:fld id="{8A3A827A-826E-4A0B-AEA4-130148450C5D}" type="slidenum">
              <a:rPr lang="en-US" smtClean="0"/>
              <a:t>‹#›</a:t>
            </a:fld>
            <a:endParaRPr lang="en-US"/>
          </a:p>
        </p:txBody>
      </p:sp>
      <p:sp>
        <p:nvSpPr>
          <p:cNvPr id="21" name="Rectangle 20"/>
          <p:cNvSpPr>
            <a:spLocks noChangeArrowheads="1"/>
          </p:cNvSpPr>
          <p:nvPr/>
        </p:nvSpPr>
        <p:spPr bwMode="auto">
          <a:xfrm>
            <a:off x="199136" y="6388392"/>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B9CA7F16-7EF7-4BAE-A533-BC5C8B1B0BEB}" type="datetimeFigureOut">
              <a:rPr lang="en-US" smtClean="0"/>
              <a:t>5/1/2026</a:t>
            </a:fld>
            <a:endParaRPr lang="en-US"/>
          </a:p>
        </p:txBody>
      </p:sp>
      <p:sp>
        <p:nvSpPr>
          <p:cNvPr id="6" name="Footer Placeholder 5"/>
          <p:cNvSpPr>
            <a:spLocks noGrp="1"/>
          </p:cNvSpPr>
          <p:nvPr>
            <p:ph type="ftr" sz="quarter" idx="11"/>
          </p:nvPr>
        </p:nvSpPr>
        <p:spPr>
          <a:xfrm>
            <a:off x="402336" y="6410848"/>
            <a:ext cx="4511040"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203200" y="152400"/>
            <a:ext cx="11777472"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828800" y="312745"/>
            <a:ext cx="609600" cy="441325"/>
          </a:xfrm>
        </p:spPr>
        <p:txBody>
          <a:bodyPr/>
          <a:lstStyle/>
          <a:p>
            <a:fld id="{8A3A827A-826E-4A0B-AEA4-130148450C5D}" type="slidenum">
              <a:rPr lang="en-US" smtClean="0"/>
              <a:t>‹#›</a:t>
            </a:fld>
            <a:endParaRPr lang="en-US"/>
          </a:p>
        </p:txBody>
      </p:sp>
      <p:sp>
        <p:nvSpPr>
          <p:cNvPr id="2" name="Title 1"/>
          <p:cNvSpPr>
            <a:spLocks noGrp="1"/>
          </p:cNvSpPr>
          <p:nvPr>
            <p:ph type="title"/>
          </p:nvPr>
        </p:nvSpPr>
        <p:spPr>
          <a:xfrm>
            <a:off x="4000500" y="5029200"/>
            <a:ext cx="7823200" cy="1219200"/>
          </a:xfrm>
        </p:spPr>
        <p:txBody>
          <a:bodyPr anchor="t">
            <a:noAutofit/>
          </a:bodyPr>
          <a:lstStyle>
            <a:lvl1pPr algn="l">
              <a:buNone/>
              <a:defRPr sz="2400" b="1">
                <a:solidFill>
                  <a:schemeClr val="tx2"/>
                </a:solidFill>
              </a:defRPr>
            </a:lvl1pPr>
          </a:lstStyle>
          <a:p>
            <a:r>
              <a:rPr kumimoji="0" lang="en-US"/>
              <a:t>Click to edit Master title style</a:t>
            </a:r>
          </a:p>
        </p:txBody>
      </p:sp>
      <p:sp>
        <p:nvSpPr>
          <p:cNvPr id="3" name="Picture Placeholder 2"/>
          <p:cNvSpPr>
            <a:spLocks noGrp="1"/>
          </p:cNvSpPr>
          <p:nvPr>
            <p:ph type="pic" idx="1"/>
          </p:nvPr>
        </p:nvSpPr>
        <p:spPr>
          <a:xfrm>
            <a:off x="4000500" y="609600"/>
            <a:ext cx="7823200" cy="4267200"/>
          </a:xfrm>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508000" y="990600"/>
            <a:ext cx="32512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22" name="Rectangle 21"/>
          <p:cNvSpPr>
            <a:spLocks noChangeArrowheads="1"/>
          </p:cNvSpPr>
          <p:nvPr/>
        </p:nvSpPr>
        <p:spPr bwMode="auto">
          <a:xfrm>
            <a:off x="199136" y="6388392"/>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7717536" y="6404984"/>
            <a:ext cx="4059936" cy="365760"/>
          </a:xfrm>
        </p:spPr>
        <p:txBody>
          <a:bodyPr/>
          <a:lstStyle/>
          <a:p>
            <a:fld id="{B9CA7F16-7EF7-4BAE-A533-BC5C8B1B0BEB}" type="datetimeFigureOut">
              <a:rPr lang="en-US" smtClean="0"/>
              <a:t>5/1/2026</a:t>
            </a:fld>
            <a:endParaRPr lang="en-US"/>
          </a:p>
        </p:txBody>
      </p:sp>
      <p:sp>
        <p:nvSpPr>
          <p:cNvPr id="6" name="Footer Placeholder 5"/>
          <p:cNvSpPr>
            <a:spLocks noGrp="1"/>
          </p:cNvSpPr>
          <p:nvPr>
            <p:ph type="ftr" sz="quarter" idx="11"/>
          </p:nvPr>
        </p:nvSpPr>
        <p:spPr>
          <a:xfrm>
            <a:off x="402336" y="6410848"/>
            <a:ext cx="4779264" cy="365760"/>
          </a:xfrm>
        </p:spPr>
        <p:txBody>
          <a:bodyPr/>
          <a:lstStyle/>
          <a:p>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9CA7F16-7EF7-4BAE-A533-BC5C8B1B0BEB}"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9347200" y="0"/>
            <a:ext cx="28448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6403340"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9119616" y="2925763"/>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9245600" y="3020251"/>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9221216" y="3009908"/>
            <a:ext cx="609600" cy="441325"/>
          </a:xfrm>
        </p:spPr>
        <p:txBody>
          <a:bodyPr/>
          <a:lstStyle/>
          <a:p>
            <a:fld id="{8A3A827A-826E-4A0B-AEA4-130148450C5D}" type="slidenum">
              <a:rPr lang="en-US" smtClean="0"/>
              <a:t>‹#›</a:t>
            </a:fld>
            <a:endParaRPr lang="en-US"/>
          </a:p>
        </p:txBody>
      </p:sp>
      <p:sp>
        <p:nvSpPr>
          <p:cNvPr id="3" name="Vertical Text Placeholder 2"/>
          <p:cNvSpPr>
            <a:spLocks noGrp="1"/>
          </p:cNvSpPr>
          <p:nvPr>
            <p:ph type="body" orient="vert" idx="1"/>
          </p:nvPr>
        </p:nvSpPr>
        <p:spPr>
          <a:xfrm>
            <a:off x="406400" y="304800"/>
            <a:ext cx="8737600" cy="5821366"/>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9CA7F16-7EF7-4BAE-A533-BC5C8B1B0BEB}"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9855200" y="304808"/>
            <a:ext cx="1930400" cy="5851525"/>
          </a:xfrm>
        </p:spPr>
        <p:txBody>
          <a:bodyPr vert="eaVert"/>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ounded Rectangle 15"/>
          <p:cNvSpPr/>
          <p:nvPr/>
        </p:nvSpPr>
        <p:spPr>
          <a:xfrm>
            <a:off x="304800" y="228600"/>
            <a:ext cx="11594592"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82220" y="5353963"/>
            <a:ext cx="11631168" cy="1331580"/>
            <a:chOff x="-3905250" y="4294188"/>
            <a:chExt cx="13011150" cy="1892300"/>
          </a:xfrm>
        </p:grpSpPr>
        <p:sp>
          <p:nvSpPr>
            <p:cNvPr id="11"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2"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3"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4"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5"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ctrTitle"/>
          </p:nvPr>
        </p:nvSpPr>
        <p:spPr>
          <a:xfrm>
            <a:off x="914400" y="1600200"/>
            <a:ext cx="10363200" cy="1780108"/>
          </a:xfrm>
        </p:spPr>
        <p:txBody>
          <a:bodyPr anchor="b">
            <a:normAutofit/>
          </a:bodyPr>
          <a:lstStyle>
            <a:lvl1pPr>
              <a:defRPr sz="440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828800" y="3556001"/>
            <a:ext cx="85344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9CA7F16-7EF7-4BAE-A533-BC5C8B1B0BEB}"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CA7F16-7EF7-4BAE-A533-BC5C8B1B0BEB}"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
        <p:nvSpPr>
          <p:cNvPr id="7" name="Title 6"/>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304800" y="228600"/>
            <a:ext cx="11594592"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p:nvPr/>
        </p:nvSpPr>
        <p:spPr bwMode="hidden">
          <a:xfrm>
            <a:off x="8063257" y="4203592"/>
            <a:ext cx="383523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0" name="Freeform 18"/>
          <p:cNvSpPr/>
          <p:nvPr/>
        </p:nvSpPr>
        <p:spPr bwMode="hidden">
          <a:xfrm>
            <a:off x="3492433" y="4075290"/>
            <a:ext cx="7392687"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1" name="Freeform 22"/>
          <p:cNvSpPr/>
          <p:nvPr/>
        </p:nvSpPr>
        <p:spPr bwMode="hidden">
          <a:xfrm>
            <a:off x="3771637" y="4087562"/>
            <a:ext cx="729064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2" name="Freeform 26"/>
          <p:cNvSpPr/>
          <p:nvPr/>
        </p:nvSpPr>
        <p:spPr bwMode="hidden">
          <a:xfrm>
            <a:off x="7479321" y="4074183"/>
            <a:ext cx="4410667"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3" name="Freeform 10"/>
          <p:cNvSpPr/>
          <p:nvPr/>
        </p:nvSpPr>
        <p:spPr bwMode="hidden">
          <a:xfrm>
            <a:off x="282220" y="4058555"/>
            <a:ext cx="11631168"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sp>
        <p:nvSpPr>
          <p:cNvPr id="2" name="Title 1"/>
          <p:cNvSpPr>
            <a:spLocks noGrp="1"/>
          </p:cNvSpPr>
          <p:nvPr>
            <p:ph type="title"/>
          </p:nvPr>
        </p:nvSpPr>
        <p:spPr>
          <a:xfrm>
            <a:off x="920043" y="2463560"/>
            <a:ext cx="10363200" cy="1524000"/>
          </a:xfrm>
        </p:spPr>
        <p:txBody>
          <a:bodyPr anchor="t">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1823153" y="1437449"/>
            <a:ext cx="8556979"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CA7F16-7EF7-4BAE-A533-BC5C8B1B0BEB}"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p:cNvSpPr>
            <a:spLocks noGrp="1"/>
          </p:cNvSpPr>
          <p:nvPr>
            <p:ph type="dt" sz="half" idx="10"/>
          </p:nvPr>
        </p:nvSpPr>
        <p:spPr/>
        <p:txBody>
          <a:bodyPr/>
          <a:lstStyle/>
          <a:p>
            <a:fld id="{B9CA7F16-7EF7-4BAE-A533-BC5C8B1B0BEB}" type="datetimeFigureOut">
              <a:rPr lang="en-US" smtClean="0"/>
              <a:t>5/1/2026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
        <p:nvSpPr>
          <p:cNvPr id="9" name="Content Placeholder 8"/>
          <p:cNvSpPr>
            <a:spLocks noGrp="1"/>
          </p:cNvSpPr>
          <p:nvPr>
            <p:ph sz="quarter" idx="13"/>
          </p:nvPr>
        </p:nvSpPr>
        <p:spPr>
          <a:xfrm>
            <a:off x="902207" y="2679192"/>
            <a:ext cx="5096256" cy="344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6193536" y="2679192"/>
            <a:ext cx="5096256" cy="344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02208" y="2678114"/>
            <a:ext cx="5096256"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03115" y="3429009"/>
            <a:ext cx="5093407"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7600" y="2678113"/>
            <a:ext cx="5096256"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7" y="3429009"/>
            <a:ext cx="5096256"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9CA7F16-7EF7-4BAE-A533-BC5C8B1B0BEB}" type="datetimeFigureOut">
              <a:rPr lang="en-US" smtClean="0"/>
              <a:t>5/1/2026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CA7F16-7EF7-4BAE-A533-BC5C8B1B0BEB}" type="datetimeFigureOut">
              <a:rPr lang="en-US" smtClean="0"/>
              <a:t>5/1/2026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2" name="Rounded Rectangle 11"/>
          <p:cNvSpPr/>
          <p:nvPr/>
        </p:nvSpPr>
        <p:spPr>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82220" y="714191"/>
            <a:ext cx="11631168" cy="1329874"/>
            <a:chOff x="-3905251" y="4294188"/>
            <a:chExt cx="13027839" cy="1892300"/>
          </a:xfrm>
        </p:grpSpPr>
        <p:sp>
          <p:nvSpPr>
            <p:cNvPr id="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Date Placeholder 1"/>
          <p:cNvSpPr>
            <a:spLocks noGrp="1"/>
          </p:cNvSpPr>
          <p:nvPr>
            <p:ph type="dt" sz="half" idx="10"/>
          </p:nvPr>
        </p:nvSpPr>
        <p:spPr/>
        <p:txBody>
          <a:bodyPr/>
          <a:lstStyle/>
          <a:p>
            <a:fld id="{B9CA7F16-7EF7-4BAE-A533-BC5C8B1B0BEB}" type="datetimeFigureOut">
              <a:rPr lang="en-US" smtClean="0"/>
              <a:t>5/1/2026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ounded Rectangle 14"/>
          <p:cNvSpPr/>
          <p:nvPr/>
        </p:nvSpPr>
        <p:spPr>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9CA7F16-7EF7-4BAE-A533-BC5C8B1B0BEB}" type="datetimeFigureOut">
              <a:rPr lang="en-US" smtClean="0"/>
              <a:t>5/1/2026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
        <p:nvSpPr>
          <p:cNvPr id="4" name="Text Placeholder 3"/>
          <p:cNvSpPr>
            <a:spLocks noGrp="1"/>
          </p:cNvSpPr>
          <p:nvPr>
            <p:ph type="body" sz="half" idx="2"/>
          </p:nvPr>
        </p:nvSpPr>
        <p:spPr>
          <a:xfrm>
            <a:off x="1219200" y="3581409"/>
            <a:ext cx="44704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2" name="Group 23"/>
          <p:cNvGrpSpPr>
            <a:grpSpLocks noChangeAspect="1"/>
          </p:cNvGrpSpPr>
          <p:nvPr/>
        </p:nvGrpSpPr>
        <p:grpSpPr bwMode="hidden">
          <a:xfrm>
            <a:off x="282220" y="714191"/>
            <a:ext cx="11631168" cy="1331580"/>
            <a:chOff x="-3905250" y="4294188"/>
            <a:chExt cx="13011150" cy="1892300"/>
          </a:xfrm>
        </p:grpSpPr>
        <p:sp>
          <p:nvSpPr>
            <p:cNvPr id="25"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26"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27"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8"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9" name="Freeform 28"/>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2" name="Title 21"/>
          <p:cNvSpPr>
            <a:spLocks noGrp="1"/>
          </p:cNvSpPr>
          <p:nvPr>
            <p:ph type="title"/>
          </p:nvPr>
        </p:nvSpPr>
        <p:spPr>
          <a:xfrm>
            <a:off x="1219200" y="2286000"/>
            <a:ext cx="4470400" cy="1252728"/>
          </a:xfrm>
        </p:spPr>
        <p:txBody>
          <a:bodyPr anchor="b">
            <a:noAutofit/>
          </a:bodyPr>
          <a:lstStyle>
            <a:lvl1pPr algn="l">
              <a:defRPr sz="320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02617" y="1828800"/>
            <a:ext cx="5205435"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304800" y="228600"/>
            <a:ext cx="11594592"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82220" y="5353963"/>
            <a:ext cx="11631168" cy="1331580"/>
            <a:chOff x="-3905250" y="4294188"/>
            <a:chExt cx="13011150" cy="1892300"/>
          </a:xfrm>
        </p:grpSpPr>
        <p:sp>
          <p:nvSpPr>
            <p:cNvPr id="10"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1"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2"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3"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4"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title"/>
          </p:nvPr>
        </p:nvSpPr>
        <p:spPr>
          <a:xfrm>
            <a:off x="6498879" y="338667"/>
            <a:ext cx="5083527" cy="2429934"/>
          </a:xfrm>
        </p:spPr>
        <p:txBody>
          <a:bodyPr anchor="b">
            <a:normAutofit/>
          </a:bodyPr>
          <a:lstStyle>
            <a:lvl1pPr algn="l">
              <a:defRPr sz="28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6491117" y="2785533"/>
            <a:ext cx="5091289"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CA7F16-7EF7-4BAE-A533-BC5C8B1B0BEB}" type="datetimeFigureOut">
              <a:rPr lang="en-US" smtClean="0"/>
              <a:t>5/1/2026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
        <p:nvSpPr>
          <p:cNvPr id="3" name="Picture Placeholder 2"/>
          <p:cNvSpPr>
            <a:spLocks noGrp="1"/>
          </p:cNvSpPr>
          <p:nvPr>
            <p:ph type="pic" idx="1"/>
          </p:nvPr>
        </p:nvSpPr>
        <p:spPr>
          <a:xfrm>
            <a:off x="1117600" y="1371600"/>
            <a:ext cx="475488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CA7F16-7EF7-4BAE-A533-BC5C8B1B0BEB}"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t>5/1/2026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grpSp>
        <p:nvGrpSpPr>
          <p:cNvPr id="15" name="Group 14"/>
          <p:cNvGrpSpPr>
            <a:grpSpLocks noChangeAspect="1"/>
          </p:cNvGrpSpPr>
          <p:nvPr/>
        </p:nvGrpSpPr>
        <p:grpSpPr bwMode="hidden">
          <a:xfrm>
            <a:off x="282220" y="714191"/>
            <a:ext cx="11631168" cy="1331580"/>
            <a:chOff x="-3905250" y="4294188"/>
            <a:chExt cx="13011150" cy="1892300"/>
          </a:xfrm>
        </p:grpSpPr>
        <p:sp>
          <p:nvSpPr>
            <p:cNvPr id="16"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7"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8"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9"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0" name="Freeform 19"/>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Vertical Title 1"/>
          <p:cNvSpPr>
            <a:spLocks noGrp="1"/>
          </p:cNvSpPr>
          <p:nvPr>
            <p:ph type="title" orient="vert"/>
          </p:nvPr>
        </p:nvSpPr>
        <p:spPr>
          <a:xfrm>
            <a:off x="8839200" y="1447803"/>
            <a:ext cx="2743200" cy="4487333"/>
          </a:xfrm>
        </p:spPr>
        <p:txBody>
          <a:bodyPr vert="eaVert" anchor="ctr"/>
          <a:lstStyle>
            <a:lvl1pPr algn="l">
              <a:defRPr>
                <a:solidFill>
                  <a:schemeClr val="tx2"/>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09600" y="1447800"/>
            <a:ext cx="80264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1" name="Rectangle 10"/>
          <p:cNvSpPr/>
          <p:nvPr/>
        </p:nvSpPr>
        <p:spPr>
          <a:xfrm>
            <a:off x="0" y="3866920"/>
            <a:ext cx="12192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0" y="0"/>
            <a:ext cx="12192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965060" y="5052546"/>
            <a:ext cx="7516013"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5/1/2026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2" name="Title 1"/>
          <p:cNvSpPr>
            <a:spLocks noGrp="1"/>
          </p:cNvSpPr>
          <p:nvPr>
            <p:ph type="ctrTitle"/>
          </p:nvPr>
        </p:nvSpPr>
        <p:spPr>
          <a:xfrm>
            <a:off x="1090109" y="3132290"/>
            <a:ext cx="9567135" cy="1793167"/>
          </a:xfrm>
          <a:effectLst/>
        </p:spPr>
        <p:txBody>
          <a:bodyPr>
            <a:noAutofit/>
          </a:bodyPr>
          <a:lstStyle>
            <a:lvl1pPr marL="640080" indent="-457200" algn="l">
              <a:defRPr sz="5400"/>
            </a:lvl1pPr>
          </a:lstStyle>
          <a:p>
            <a:r>
              <a:rPr lang="en-US"/>
              <a:t>Click to edit Master title style</a:t>
            </a:r>
            <a:endParaRPr 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509A250-FF31-4206-8172-F9D3106AACB1}" type="datetimeFigureOut">
              <a:rPr lang="en-US" smtClean="0"/>
              <a:t>5/1/2026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8" name="Title 7"/>
          <p:cNvSpPr>
            <a:spLocks noGrp="1"/>
          </p:cNvSpPr>
          <p:nvPr>
            <p:ph type="title"/>
          </p:nvPr>
        </p:nvSpPr>
        <p:spPr/>
        <p:txBody>
          <a:bodyPr/>
          <a:lstStyle/>
          <a:p>
            <a:r>
              <a:rPr lang="en-US"/>
              <a:t>Click to edit Master title style</a:t>
            </a:r>
          </a:p>
        </p:txBody>
      </p:sp>
      <p:sp>
        <p:nvSpPr>
          <p:cNvPr id="10" name="Content Placeholder 9"/>
          <p:cNvSpPr>
            <a:spLocks noGrp="1"/>
          </p:cNvSpPr>
          <p:nvPr>
            <p:ph sz="quarter" idx="13"/>
          </p:nvPr>
        </p:nvSpPr>
        <p:spPr>
          <a:xfrm>
            <a:off x="1524000" y="731520"/>
            <a:ext cx="8534400"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3866920"/>
            <a:ext cx="12192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12192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710927" y="2172648"/>
            <a:ext cx="7955555" cy="2423346"/>
          </a:xfrm>
          <a:effectLst/>
        </p:spPr>
        <p:txBody>
          <a:bodyPr anchor="b"/>
          <a:lstStyle>
            <a:lvl1pPr algn="r">
              <a:defRPr sz="4600" b="1" cap="none" baseline="0"/>
            </a:lvl1pPr>
          </a:lstStyle>
          <a:p>
            <a:r>
              <a:rPr lang="en-US"/>
              <a:t>Click to edit Master title style</a:t>
            </a:r>
            <a:endParaRPr lang="en-US" dirty="0"/>
          </a:p>
        </p:txBody>
      </p:sp>
      <p:sp>
        <p:nvSpPr>
          <p:cNvPr id="3" name="Text Placeholder 2"/>
          <p:cNvSpPr>
            <a:spLocks noGrp="1"/>
          </p:cNvSpPr>
          <p:nvPr>
            <p:ph type="body" idx="1"/>
          </p:nvPr>
        </p:nvSpPr>
        <p:spPr>
          <a:xfrm>
            <a:off x="2696584" y="4607511"/>
            <a:ext cx="7960659"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5/1/2026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9796027F-7875-4030-9381-8BD8C4F21935}" type="datetimeFigureOut">
              <a:rPr lang="en-US" smtClean="0"/>
              <a:t>5/1/2026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
        <p:nvSpPr>
          <p:cNvPr id="8" name="Title 7"/>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3"/>
          </p:nvPr>
        </p:nvSpPr>
        <p:spPr>
          <a:xfrm>
            <a:off x="1523999" y="731519"/>
            <a:ext cx="4462272"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6193536" y="731520"/>
            <a:ext cx="4462272"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24000" y="731520"/>
            <a:ext cx="4462272"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41929" y="1400327"/>
            <a:ext cx="4462272"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6403" y="731520"/>
            <a:ext cx="4462272"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None/>
            </a:pPr>
            <a:r>
              <a:rPr lang="en-US"/>
              <a:t>Click to edit Master text styles</a:t>
            </a:r>
          </a:p>
        </p:txBody>
      </p:sp>
      <p:sp>
        <p:nvSpPr>
          <p:cNvPr id="6" name="Content Placeholder 5"/>
          <p:cNvSpPr>
            <a:spLocks noGrp="1"/>
          </p:cNvSpPr>
          <p:nvPr>
            <p:ph sz="quarter" idx="4"/>
          </p:nvPr>
        </p:nvSpPr>
        <p:spPr>
          <a:xfrm>
            <a:off x="6193367" y="1399032"/>
            <a:ext cx="4462272"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5/1/2026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5/1/2026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5/1/2026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8794" y="2209801"/>
            <a:ext cx="4848113" cy="1258493"/>
          </a:xfrm>
          <a:effectLst/>
        </p:spPr>
        <p:txBody>
          <a:bodyPr anchor="b">
            <a:noAutofit/>
          </a:bodyPr>
          <a:lstStyle>
            <a:lvl1pPr marL="228600" indent="-228600" algn="l">
              <a:defRPr sz="2800" b="1">
                <a:effectLst/>
              </a:defRPr>
            </a:lvl1pPr>
          </a:lstStyle>
          <a:p>
            <a:r>
              <a:rPr lang="en-US"/>
              <a:t>Click to edit Master title style</a:t>
            </a:r>
            <a:endParaRPr lang="en-US" dirty="0"/>
          </a:p>
        </p:txBody>
      </p:sp>
      <p:sp>
        <p:nvSpPr>
          <p:cNvPr id="3" name="Content Placeholder 2"/>
          <p:cNvSpPr>
            <a:spLocks noGrp="1"/>
          </p:cNvSpPr>
          <p:nvPr>
            <p:ph idx="1"/>
          </p:nvPr>
        </p:nvSpPr>
        <p:spPr>
          <a:xfrm>
            <a:off x="6124688" y="731520"/>
            <a:ext cx="5356113"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34354" y="3497802"/>
            <a:ext cx="4518213"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866920"/>
            <a:ext cx="12192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12192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5966900" y="1143000"/>
            <a:ext cx="54864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70516" y="1010486"/>
            <a:ext cx="4925485" cy="2163020"/>
          </a:xfrm>
        </p:spPr>
        <p:txBody>
          <a:bodyPr anchor="b"/>
          <a:lstStyle>
            <a:lvl1pPr marL="182880" indent="-182880">
              <a:buFont typeface="Georgia" panose="02040502050405020303"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
        <p:nvSpPr>
          <p:cNvPr id="2" name="Title 1"/>
          <p:cNvSpPr>
            <a:spLocks noGrp="1"/>
          </p:cNvSpPr>
          <p:nvPr>
            <p:ph type="title"/>
          </p:nvPr>
        </p:nvSpPr>
        <p:spPr>
          <a:xfrm>
            <a:off x="969691" y="4464421"/>
            <a:ext cx="8511384" cy="1143000"/>
          </a:xfrm>
        </p:spPr>
        <p:txBody>
          <a:bodyPr anchor="b">
            <a:noAutofit/>
          </a:bodyPr>
          <a:lstStyle>
            <a:lvl1pPr algn="l">
              <a:defRPr sz="4600" b="1"/>
            </a:lvl1pPr>
          </a:lstStyle>
          <a:p>
            <a:r>
              <a:rPr lang="en-US"/>
              <a:t>Click to edit Master title style</a:t>
            </a:r>
            <a:endParaRPr lang="en-US"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2540000" y="731519"/>
            <a:ext cx="8534400" cy="34747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09A250-FF31-4206-8172-F9D3106AACB1}" type="datetimeFigureOut">
              <a:rPr lang="en-US" smtClean="0"/>
              <a:t>5/1/2026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8344" y="376518"/>
            <a:ext cx="2743200" cy="5238339"/>
          </a:xfrm>
          <a:effectLst/>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4432151" y="731520"/>
            <a:ext cx="6439049" cy="48947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1"/>
            <a:ext cx="48768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340388" y="5047394"/>
            <a:ext cx="97536"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340388" y="4796819"/>
            <a:ext cx="97536"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340388" y="4637685"/>
            <a:ext cx="97536"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340388" y="4542559"/>
            <a:ext cx="97536"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412744" y="680477"/>
            <a:ext cx="60960"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5" name="Rectangle 14"/>
          <p:cNvSpPr/>
          <p:nvPr/>
        </p:nvSpPr>
        <p:spPr>
          <a:xfrm>
            <a:off x="358764" y="680477"/>
            <a:ext cx="36576"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6" name="Rectangle 15"/>
          <p:cNvSpPr/>
          <p:nvPr/>
        </p:nvSpPr>
        <p:spPr>
          <a:xfrm>
            <a:off x="333360" y="680477"/>
            <a:ext cx="1219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7" name="Rectangle 16"/>
          <p:cNvSpPr/>
          <p:nvPr/>
        </p:nvSpPr>
        <p:spPr>
          <a:xfrm>
            <a:off x="295691" y="680477"/>
            <a:ext cx="1219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1219200" y="512064"/>
            <a:ext cx="10363200" cy="914400"/>
          </a:xfrm>
          <a:prstGeom prst="rect">
            <a:avLst/>
          </a:prstGeom>
        </p:spPr>
        <p:txBody>
          <a:bodyPr vert="horz" anchor="t">
            <a:noAutofit/>
          </a:bodyPr>
          <a:lstStyle/>
          <a:p>
            <a:r>
              <a:rPr kumimoji="0" lang="en-US"/>
              <a:t>Click to edit Master title style</a:t>
            </a:r>
          </a:p>
        </p:txBody>
      </p:sp>
      <p:sp>
        <p:nvSpPr>
          <p:cNvPr id="13" name="Text Placeholder 12"/>
          <p:cNvSpPr>
            <a:spLocks noGrp="1"/>
          </p:cNvSpPr>
          <p:nvPr>
            <p:ph type="body" idx="1"/>
          </p:nvPr>
        </p:nvSpPr>
        <p:spPr>
          <a:xfrm>
            <a:off x="1219200" y="1783560"/>
            <a:ext cx="10363200" cy="457200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636000" y="6416676"/>
            <a:ext cx="2844800" cy="365125"/>
          </a:xfrm>
          <a:prstGeom prst="rect">
            <a:avLst/>
          </a:prstGeom>
        </p:spPr>
        <p:txBody>
          <a:bodyPr vert="horz" anchor="b"/>
          <a:lstStyle>
            <a:lvl1pPr algn="l" eaLnBrk="1" latinLnBrk="0" hangingPunct="1">
              <a:defRPr kumimoji="0" sz="1100">
                <a:solidFill>
                  <a:schemeClr val="tx2"/>
                </a:solidFill>
              </a:defRPr>
            </a:lvl1pPr>
          </a:lstStyle>
          <a:p>
            <a:fld id="{4AAD347D-5ACD-4C99-B74B-A9C85AD731AF}" type="datetimeFigureOut">
              <a:rPr lang="en-US" smtClean="0"/>
              <a:t>5/1/2026</a:t>
            </a:fld>
            <a:endParaRPr lang="en-US" dirty="0"/>
          </a:p>
        </p:txBody>
      </p:sp>
      <p:sp>
        <p:nvSpPr>
          <p:cNvPr id="3" name="Footer Placeholder 2"/>
          <p:cNvSpPr>
            <a:spLocks noGrp="1"/>
          </p:cNvSpPr>
          <p:nvPr>
            <p:ph type="ftr" sz="quarter" idx="3"/>
          </p:nvPr>
        </p:nvSpPr>
        <p:spPr>
          <a:xfrm>
            <a:off x="1219200" y="6416676"/>
            <a:ext cx="7416800" cy="365125"/>
          </a:xfrm>
          <a:prstGeom prst="rect">
            <a:avLst/>
          </a:prstGeom>
        </p:spPr>
        <p:txBody>
          <a:bodyPr vert="horz" anchor="b"/>
          <a:lstStyle>
            <a:lvl1pPr algn="r" eaLnBrk="1" latinLnBrk="0" hangingPunct="1">
              <a:defRPr kumimoji="0" sz="1100">
                <a:solidFill>
                  <a:schemeClr val="tx2"/>
                </a:solidFill>
              </a:defRPr>
            </a:lvl1pPr>
          </a:lstStyle>
          <a:p>
            <a:endParaRPr lang="en-US" dirty="0"/>
          </a:p>
        </p:txBody>
      </p:sp>
      <p:sp>
        <p:nvSpPr>
          <p:cNvPr id="23" name="Slide Number Placeholder 22"/>
          <p:cNvSpPr>
            <a:spLocks noGrp="1"/>
          </p:cNvSpPr>
          <p:nvPr>
            <p:ph type="sldNum" sz="quarter" idx="4"/>
          </p:nvPr>
        </p:nvSpPr>
        <p:spPr>
          <a:xfrm>
            <a:off x="11480800" y="6416676"/>
            <a:ext cx="609600" cy="365125"/>
          </a:xfrm>
          <a:prstGeom prst="rect">
            <a:avLst/>
          </a:prstGeom>
        </p:spPr>
        <p:txBody>
          <a:bodyPr vert="horz" anchor="b"/>
          <a:lstStyle>
            <a:lvl1pPr algn="l" eaLnBrk="1" latinLnBrk="0" hangingPunct="1">
              <a:defRPr kumimoji="0" sz="1200">
                <a:solidFill>
                  <a:schemeClr val="tx2"/>
                </a:solidFill>
              </a:defRPr>
            </a:lvl1pPr>
          </a:lstStyle>
          <a:p>
            <a:fld id="{D57F1E4F-1CFF-5643-939E-02111984F565}" type="slidenum">
              <a:rPr lang="en-US" smtClean="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1" latinLnBrk="0" hangingPunct="1">
        <a:spcBef>
          <a:spcPct val="0"/>
        </a:spcBef>
        <a:buNone/>
        <a:defRPr kumimoji="0" sz="4000" kern="1200" spc="-100" baseline="0">
          <a:solidFill>
            <a:schemeClr val="tx2">
              <a:satMod val="200000"/>
            </a:schemeClr>
          </a:solidFill>
          <a:latin typeface="+mj-lt"/>
          <a:ea typeface="+mj-ea"/>
          <a:cs typeface="+mj-cs"/>
        </a:defRPr>
      </a:lvl1pPr>
    </p:titleStyle>
    <p:bodyStyle>
      <a:lvl1pPr marL="411480" indent="-342900" algn="l" rtl="0" eaLnBrk="1" latinLnBrk="0" hangingPunct="1">
        <a:spcBef>
          <a:spcPts val="700"/>
        </a:spcBef>
        <a:buClr>
          <a:schemeClr val="tx2"/>
        </a:buClr>
        <a:buSzPct val="95000"/>
        <a:buFont typeface="Wingdings" panose="05000000000000000000"/>
        <a:buChar char=""/>
        <a:defRPr kumimoji="0" sz="3000" kern="1200">
          <a:solidFill>
            <a:schemeClr val="tx1"/>
          </a:solidFill>
          <a:latin typeface="+mn-lt"/>
          <a:ea typeface="+mn-ea"/>
          <a:cs typeface="+mn-cs"/>
        </a:defRPr>
      </a:lvl1pPr>
      <a:lvl2pPr marL="740410" indent="-285750" algn="l" rtl="0" eaLnBrk="1" latinLnBrk="0" hangingPunct="1">
        <a:spcBef>
          <a:spcPct val="20000"/>
        </a:spcBef>
        <a:buClr>
          <a:schemeClr val="accent2"/>
        </a:buClr>
        <a:buSzPct val="90000"/>
        <a:buFont typeface="Wingdings" panose="05000000000000000000"/>
        <a:buChar char=""/>
        <a:defRPr kumimoji="0" sz="2600" kern="1200">
          <a:solidFill>
            <a:schemeClr val="tx1"/>
          </a:solidFill>
          <a:latin typeface="+mn-lt"/>
          <a:ea typeface="+mn-ea"/>
          <a:cs typeface="+mn-cs"/>
        </a:defRPr>
      </a:lvl2pPr>
      <a:lvl3pPr marL="996950" indent="-228600" algn="l" rtl="0" eaLnBrk="1" latinLnBrk="0" hangingPunct="1">
        <a:spcBef>
          <a:spcPct val="20000"/>
        </a:spcBef>
        <a:buClr>
          <a:schemeClr val="accent2"/>
        </a:buClr>
        <a:buFont typeface="Wingdings 2" panose="05020102010507070707"/>
        <a:buChar char=""/>
        <a:defRPr kumimoji="0" sz="2400" kern="1200">
          <a:solidFill>
            <a:schemeClr val="tx1"/>
          </a:solidFill>
          <a:latin typeface="+mn-lt"/>
          <a:ea typeface="+mn-ea"/>
          <a:cs typeface="+mn-cs"/>
        </a:defRPr>
      </a:lvl3pPr>
      <a:lvl4pPr marL="1261745" indent="-228600" algn="l" rtl="0" eaLnBrk="1" latinLnBrk="0" hangingPunct="1">
        <a:spcBef>
          <a:spcPct val="20000"/>
        </a:spcBef>
        <a:buClr>
          <a:schemeClr val="accent3"/>
        </a:buClr>
        <a:buFont typeface="Wingdings 3" panose="05040102010807070707"/>
        <a:buChar char=""/>
        <a:defRPr kumimoji="0" sz="2200" kern="1200">
          <a:solidFill>
            <a:schemeClr val="tx1"/>
          </a:solidFill>
          <a:latin typeface="+mn-lt"/>
          <a:ea typeface="+mn-ea"/>
          <a:cs typeface="+mn-cs"/>
        </a:defRPr>
      </a:lvl4pPr>
      <a:lvl5pPr marL="1481455" indent="-210185" algn="l" rtl="0" eaLnBrk="1" latinLnBrk="0" hangingPunct="1">
        <a:spcBef>
          <a:spcPct val="20000"/>
        </a:spcBef>
        <a:buClr>
          <a:schemeClr val="accent3"/>
        </a:buClr>
        <a:buFont typeface="Wingdings 2" panose="05020102010507070707"/>
        <a:buChar char=""/>
        <a:defRPr kumimoji="0" sz="2000" kern="1200">
          <a:solidFill>
            <a:schemeClr val="tx1"/>
          </a:solidFill>
          <a:latin typeface="+mn-lt"/>
          <a:ea typeface="+mn-ea"/>
          <a:cs typeface="+mn-cs"/>
        </a:defRPr>
      </a:lvl5pPr>
      <a:lvl6pPr marL="1710055" indent="-210185" algn="l" rtl="0" eaLnBrk="1" latinLnBrk="0" hangingPunct="1">
        <a:spcBef>
          <a:spcPct val="20000"/>
        </a:spcBef>
        <a:buClr>
          <a:schemeClr val="accent3"/>
        </a:buClr>
        <a:buFont typeface="Wingdings 2" panose="05020102010507070707"/>
        <a:buChar char=""/>
        <a:defRPr kumimoji="0" sz="1800" kern="1200">
          <a:solidFill>
            <a:schemeClr val="tx1"/>
          </a:solidFill>
          <a:latin typeface="+mn-lt"/>
          <a:ea typeface="+mn-ea"/>
          <a:cs typeface="+mn-cs"/>
        </a:defRPr>
      </a:lvl6pPr>
      <a:lvl7pPr marL="1901825" indent="-182880" algn="l" rtl="0" eaLnBrk="1" latinLnBrk="0" hangingPunct="1">
        <a:spcBef>
          <a:spcPct val="20000"/>
        </a:spcBef>
        <a:buClr>
          <a:schemeClr val="accent4"/>
        </a:buClr>
        <a:buFont typeface="Wingdings 2" panose="05020102010507070707"/>
        <a:buChar char=""/>
        <a:defRPr kumimoji="0" sz="1600" kern="1200">
          <a:solidFill>
            <a:schemeClr val="tx1"/>
          </a:solidFill>
          <a:latin typeface="+mn-lt"/>
          <a:ea typeface="+mn-ea"/>
          <a:cs typeface="+mn-cs"/>
        </a:defRPr>
      </a:lvl7pPr>
      <a:lvl8pPr marL="2094230" indent="-182880" algn="l" rtl="0" eaLnBrk="1" latinLnBrk="0" hangingPunct="1">
        <a:spcBef>
          <a:spcPct val="20000"/>
        </a:spcBef>
        <a:buClr>
          <a:schemeClr val="accent4"/>
        </a:buClr>
        <a:buFont typeface="Wingdings 2" panose="05020102010507070707"/>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panose="05020102010507070707"/>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2">
        <a:schemeClr val="bg1"/>
      </p:bgRef>
    </p:bg>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13" cstate="print"/>
          <a:stretch>
            <a:fillRect/>
          </a:stretch>
        </p:blipFill>
        <p:spPr>
          <a:xfrm>
            <a:off x="0" y="0"/>
            <a:ext cx="12192000" cy="6858000"/>
          </a:xfrm>
          <a:prstGeom prst="rect">
            <a:avLst/>
          </a:prstGeom>
        </p:spPr>
      </p:pic>
      <p:sp>
        <p:nvSpPr>
          <p:cNvPr id="2" name="Title Placeholder 1"/>
          <p:cNvSpPr>
            <a:spLocks noGrp="1"/>
          </p:cNvSpPr>
          <p:nvPr>
            <p:ph type="title"/>
          </p:nvPr>
        </p:nvSpPr>
        <p:spPr>
          <a:xfrm>
            <a:off x="812800" y="274638"/>
            <a:ext cx="10566400" cy="1143000"/>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812800" y="1600203"/>
            <a:ext cx="105664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20000" y="6356353"/>
            <a:ext cx="2032000" cy="365125"/>
          </a:xfrm>
          <a:prstGeom prst="rect">
            <a:avLst/>
          </a:prstGeom>
        </p:spPr>
        <p:txBody>
          <a:bodyPr vert="horz" lIns="91440" tIns="45720" rIns="91440" bIns="45720" rtlCol="0" anchor="ctr"/>
          <a:lstStyle>
            <a:lvl1pPr algn="r">
              <a:defRPr sz="1000" strike="noStrike" spc="60" baseline="0">
                <a:solidFill>
                  <a:schemeClr val="tx1"/>
                </a:solidFill>
              </a:defRPr>
            </a:lvl1pPr>
          </a:lstStyle>
          <a:p>
            <a:fld id="{B9CA7F16-7EF7-4BAE-A533-BC5C8B1B0BEB}" type="datetimeFigureOut">
              <a:rPr lang="en-US" smtClean="0"/>
              <a:t>5/1/2026</a:t>
            </a:fld>
            <a:endParaRPr lang="en-US"/>
          </a:p>
        </p:txBody>
      </p:sp>
      <p:sp>
        <p:nvSpPr>
          <p:cNvPr id="5" name="Footer Placeholder 4"/>
          <p:cNvSpPr>
            <a:spLocks noGrp="1"/>
          </p:cNvSpPr>
          <p:nvPr>
            <p:ph type="ftr" sz="quarter" idx="3"/>
          </p:nvPr>
        </p:nvSpPr>
        <p:spPr>
          <a:xfrm>
            <a:off x="812800" y="6356353"/>
            <a:ext cx="3860800" cy="365125"/>
          </a:xfrm>
          <a:prstGeom prst="rect">
            <a:avLst/>
          </a:prstGeom>
        </p:spPr>
        <p:txBody>
          <a:bodyPr vert="horz" lIns="91440" tIns="45720" rIns="91440" bIns="45720" rtlCol="0" anchor="ctr"/>
          <a:lstStyle>
            <a:lvl1pPr algn="l">
              <a:defRPr sz="1000" cap="all" spc="60" baseline="0">
                <a:solidFill>
                  <a:schemeClr val="tx1"/>
                </a:solidFill>
              </a:defRPr>
            </a:lvl1pPr>
          </a:lstStyle>
          <a:p>
            <a:endParaRPr lang="en-US"/>
          </a:p>
        </p:txBody>
      </p:sp>
      <p:sp>
        <p:nvSpPr>
          <p:cNvPr id="6" name="Slide Number Placeholder 5"/>
          <p:cNvSpPr>
            <a:spLocks noGrp="1"/>
          </p:cNvSpPr>
          <p:nvPr>
            <p:ph type="sldNum" sz="quarter" idx="4"/>
          </p:nvPr>
        </p:nvSpPr>
        <p:spPr>
          <a:xfrm>
            <a:off x="10058400" y="6356353"/>
            <a:ext cx="1320800" cy="365125"/>
          </a:xfrm>
          <a:prstGeom prst="rect">
            <a:avLst/>
          </a:prstGeom>
        </p:spPr>
        <p:txBody>
          <a:bodyPr vert="horz" lIns="91440" tIns="45720" rIns="91440" bIns="45720" rtlCol="0" anchor="ctr"/>
          <a:lstStyle>
            <a:lvl1pPr algn="r">
              <a:defRPr sz="1100" baseline="0">
                <a:solidFill>
                  <a:schemeClr val="tx1"/>
                </a:solidFill>
              </a:defRPr>
            </a:lvl1pPr>
          </a:lstStyle>
          <a:p>
            <a:fld id="{8A3A827A-826E-4A0B-AEA4-130148450C5D}"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3000" kern="1200" cap="all" spc="5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1pPr>
      <a:lvl2pPr marL="742950" indent="-28575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2pPr>
      <a:lvl3pPr marL="11430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3pPr>
      <a:lvl4pPr marL="16002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4pPr>
      <a:lvl5pPr marL="20574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5pPr>
      <a:lvl6pPr marL="25146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6pPr>
      <a:lvl7pPr marL="29718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7pPr>
      <a:lvl8pPr marL="34290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8pPr>
      <a:lvl9pPr marL="38862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5"/>
            <a:ext cx="12192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99136" y="6388390"/>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7721600" y="6404984"/>
            <a:ext cx="4059936" cy="365760"/>
          </a:xfrm>
          <a:prstGeom prst="rect">
            <a:avLst/>
          </a:prstGeom>
        </p:spPr>
        <p:txBody>
          <a:bodyPr vert="horz"/>
          <a:lstStyle>
            <a:lvl1pPr algn="r" eaLnBrk="1" latinLnBrk="0" hangingPunct="1">
              <a:defRPr kumimoji="0" sz="1400">
                <a:solidFill>
                  <a:srgbClr val="FFFFFF"/>
                </a:solidFill>
              </a:defRPr>
            </a:lvl1pPr>
          </a:lstStyle>
          <a:p>
            <a:fld id="{B9CA7F16-7EF7-4BAE-A533-BC5C8B1B0BEB}" type="datetimeFigureOut">
              <a:rPr lang="en-US" smtClean="0"/>
              <a:t>5/1/2026</a:t>
            </a:fld>
            <a:endParaRPr lang="en-US"/>
          </a:p>
        </p:txBody>
      </p:sp>
      <p:sp>
        <p:nvSpPr>
          <p:cNvPr id="3" name="Footer Placeholder 2"/>
          <p:cNvSpPr>
            <a:spLocks noGrp="1"/>
          </p:cNvSpPr>
          <p:nvPr>
            <p:ph type="ftr" sz="quarter" idx="3"/>
          </p:nvPr>
        </p:nvSpPr>
        <p:spPr>
          <a:xfrm>
            <a:off x="406400" y="6410848"/>
            <a:ext cx="47752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203200" y="1276743"/>
            <a:ext cx="1177747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5791200" y="1040179"/>
            <a:ext cx="6096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8A3A827A-826E-4A0B-AEA4-130148450C5D}" type="slidenum">
              <a:rPr lang="en-US" smtClean="0"/>
              <a:t>‹#›</a:t>
            </a:fld>
            <a:endParaRPr lang="en-US"/>
          </a:p>
        </p:txBody>
      </p:sp>
      <p:sp>
        <p:nvSpPr>
          <p:cNvPr id="22" name="Title Placeholder 21"/>
          <p:cNvSpPr>
            <a:spLocks noGrp="1"/>
          </p:cNvSpPr>
          <p:nvPr>
            <p:ph type="title"/>
          </p:nvPr>
        </p:nvSpPr>
        <p:spPr>
          <a:xfrm>
            <a:off x="402336" y="228600"/>
            <a:ext cx="11379200" cy="758952"/>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02336" y="1524000"/>
            <a:ext cx="11379200" cy="459943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panose="05020102010507070707"/>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panose="0500000000000000000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panose="0500000000000000000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304800" y="228600"/>
            <a:ext cx="11594592"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82220" y="1679429"/>
            <a:ext cx="11631168" cy="1329874"/>
            <a:chOff x="-3905251" y="4294188"/>
            <a:chExt cx="13027839" cy="1892300"/>
          </a:xfrm>
        </p:grpSpPr>
        <p:sp>
          <p:nvSpPr>
            <p:cNvPr id="1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Placeholder 1"/>
          <p:cNvSpPr>
            <a:spLocks noGrp="1"/>
          </p:cNvSpPr>
          <p:nvPr>
            <p:ph type="title"/>
          </p:nvPr>
        </p:nvSpPr>
        <p:spPr>
          <a:xfrm>
            <a:off x="609600" y="338328"/>
            <a:ext cx="10972800" cy="12527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4" name="Date Placeholder 3"/>
          <p:cNvSpPr>
            <a:spLocks noGrp="1"/>
          </p:cNvSpPr>
          <p:nvPr>
            <p:ph type="dt" sz="half" idx="2"/>
          </p:nvPr>
        </p:nvSpPr>
        <p:spPr>
          <a:xfrm>
            <a:off x="6884896" y="6250171"/>
            <a:ext cx="5048920" cy="365125"/>
          </a:xfrm>
          <a:prstGeom prst="rect">
            <a:avLst/>
          </a:prstGeom>
        </p:spPr>
        <p:txBody>
          <a:bodyPr vert="horz" lIns="91440" tIns="45720" rIns="91440" bIns="45720" rtlCol="0" anchor="ctr"/>
          <a:lstStyle>
            <a:lvl1pPr algn="r">
              <a:defRPr sz="1000">
                <a:solidFill>
                  <a:schemeClr val="tx2"/>
                </a:solidFill>
              </a:defRPr>
            </a:lvl1pPr>
          </a:lstStyle>
          <a:p>
            <a:fld id="{B9CA7F16-7EF7-4BAE-A533-BC5C8B1B0BEB}" type="datetimeFigureOut">
              <a:rPr lang="en-US" smtClean="0"/>
              <a:t>5/1/2026</a:t>
            </a:fld>
            <a:endParaRPr lang="en-US"/>
          </a:p>
        </p:txBody>
      </p:sp>
      <p:sp>
        <p:nvSpPr>
          <p:cNvPr id="5" name="Footer Placeholder 4"/>
          <p:cNvSpPr>
            <a:spLocks noGrp="1"/>
          </p:cNvSpPr>
          <p:nvPr>
            <p:ph type="ftr" sz="quarter" idx="3"/>
          </p:nvPr>
        </p:nvSpPr>
        <p:spPr>
          <a:xfrm>
            <a:off x="258189" y="6250171"/>
            <a:ext cx="5048921" cy="365125"/>
          </a:xfrm>
          <a:prstGeom prst="rect">
            <a:avLst/>
          </a:prstGeom>
        </p:spPr>
        <p:txBody>
          <a:bodyPr vert="horz" lIns="91440" tIns="45720" rIns="91440" bIns="45720" rtlCol="0" anchor="ctr"/>
          <a:lstStyle>
            <a:lvl1pPr algn="l">
              <a:defRPr sz="1000">
                <a:solidFill>
                  <a:schemeClr val="tx2"/>
                </a:solidFill>
              </a:defRPr>
            </a:lvl1pPr>
          </a:lstStyle>
          <a:p>
            <a:endParaRPr lang="en-US"/>
          </a:p>
        </p:txBody>
      </p:sp>
      <p:sp>
        <p:nvSpPr>
          <p:cNvPr id="6" name="Slide Number Placeholder 5"/>
          <p:cNvSpPr>
            <a:spLocks noGrp="1"/>
          </p:cNvSpPr>
          <p:nvPr>
            <p:ph type="sldNum" sz="quarter" idx="4"/>
          </p:nvPr>
        </p:nvSpPr>
        <p:spPr>
          <a:xfrm>
            <a:off x="5321452" y="6250170"/>
            <a:ext cx="1549101" cy="365125"/>
          </a:xfrm>
          <a:prstGeom prst="rect">
            <a:avLst/>
          </a:prstGeom>
        </p:spPr>
        <p:txBody>
          <a:bodyPr vert="horz" lIns="91440" tIns="45720" rIns="91440" bIns="45720" rtlCol="0" anchor="ctr"/>
          <a:lstStyle>
            <a:lvl1pPr algn="ctr">
              <a:defRPr sz="1000">
                <a:solidFill>
                  <a:schemeClr val="tx2"/>
                </a:solidFill>
              </a:defRPr>
            </a:lvl1pPr>
          </a:lstStyle>
          <a:p>
            <a:fld id="{8A3A827A-826E-4A0B-AEA4-130148450C5D}" type="slidenum">
              <a:rPr lang="en-US" smtClean="0"/>
              <a:t>‹#›</a:t>
            </a:fld>
            <a:endParaRPr lang="en-US"/>
          </a:p>
        </p:txBody>
      </p:sp>
      <p:sp>
        <p:nvSpPr>
          <p:cNvPr id="3" name="Text Placeholder 2"/>
          <p:cNvSpPr>
            <a:spLocks noGrp="1"/>
          </p:cNvSpPr>
          <p:nvPr>
            <p:ph type="body" idx="1"/>
          </p:nvPr>
        </p:nvSpPr>
        <p:spPr>
          <a:xfrm>
            <a:off x="1162761" y="2675467"/>
            <a:ext cx="9877777" cy="34506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4320" algn="l" defTabSz="914400" rtl="0" eaLnBrk="1" latinLnBrk="0" hangingPunct="1">
        <a:spcBef>
          <a:spcPct val="20000"/>
        </a:spcBef>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defTabSz="914400" rtl="0" eaLnBrk="1" latinLnBrk="0" hangingPunct="1">
        <a:spcBef>
          <a:spcPct val="20000"/>
        </a:spcBef>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anose="05050102010706020507"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0" y="5105400"/>
            <a:ext cx="12192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12192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3768304"/>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12192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2391053" y="4372168"/>
            <a:ext cx="8683348" cy="1143000"/>
          </a:xfrm>
          <a:prstGeom prst="rect">
            <a:avLst/>
          </a:prstGeom>
          <a:effectLst/>
        </p:spPr>
        <p:txBody>
          <a:bodyPr vert="horz" lIns="91440" tIns="45720" rIns="91440" bIns="4572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1524000" y="732260"/>
            <a:ext cx="8534400" cy="34747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00" y="6172201"/>
            <a:ext cx="33528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4AAD347D-5ACD-4C99-B74B-A9C85AD731AF}" type="datetimeFigureOut">
              <a:rPr lang="en-US" smtClean="0"/>
              <a:t>5/1/2026</a:t>
            </a:fld>
            <a:endParaRPr lang="en-US" dirty="0"/>
          </a:p>
        </p:txBody>
      </p:sp>
      <p:sp>
        <p:nvSpPr>
          <p:cNvPr id="5" name="Footer Placeholder 4"/>
          <p:cNvSpPr>
            <a:spLocks noGrp="1"/>
          </p:cNvSpPr>
          <p:nvPr>
            <p:ph type="ftr" sz="quarter" idx="3"/>
          </p:nvPr>
        </p:nvSpPr>
        <p:spPr>
          <a:xfrm>
            <a:off x="609600" y="6172201"/>
            <a:ext cx="44704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5080000" y="6172201"/>
            <a:ext cx="24384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D57F1E4F-1CFF-5643-939E-02111984F565}"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marL="320040" indent="-320040" algn="r" defTabSz="914400" rtl="0" eaLnBrk="1" latinLnBrk="0" hangingPunct="1">
        <a:spcBef>
          <a:spcPct val="0"/>
        </a:spcBef>
        <a:buClr>
          <a:schemeClr val="accent6">
            <a:lumMod val="75000"/>
          </a:schemeClr>
        </a:buClr>
        <a:buSzPct val="128000"/>
        <a:buFont typeface="Georgia" panose="02040502050405020303"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600" kern="1200">
          <a:solidFill>
            <a:schemeClr val="tx1">
              <a:lumMod val="75000"/>
              <a:lumOff val="25000"/>
            </a:schemeClr>
          </a:solidFill>
          <a:latin typeface="+mn-lt"/>
          <a:ea typeface="+mn-ea"/>
          <a:cs typeface="+mn-cs"/>
        </a:defRPr>
      </a:lvl4pPr>
      <a:lvl5pPr marL="139001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5pPr>
      <a:lvl6pPr marL="166433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8pPr>
      <a:lvl9pPr marL="258762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jpeg"/><Relationship Id="rId1" Type="http://schemas.openxmlformats.org/officeDocument/2006/relationships/slideLayout" Target="../slideLayouts/slideLayout4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6.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6.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6.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6.xml"/></Relationships>
</file>

<file path=ppt/slides/_rels/slide2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6.xml"/></Relationships>
</file>

<file path=ppt/slides/_rels/slide2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6.xml"/></Relationships>
</file>

<file path=ppt/slides/_rels/slide2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1.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1.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1.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1.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1.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1.xml"/></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1.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5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cstate="print">
            <a:extLst>
              <a:ext uri="{BEBA8EAE-BF5A-486C-A8C5-ECC9F3942E4B}">
                <a14:imgProps xmlns:a14="http://schemas.microsoft.com/office/drawing/2010/main">
                  <a14:imgLayer r:embed="rId3">
                    <a14:imgEffect>
                      <a14:colorTemperature colorTemp="4700"/>
                    </a14:imgEffect>
                    <a14:imgEffect>
                      <a14:saturation sat="300000"/>
                    </a14:imgEffect>
                  </a14:imgLayer>
                </a14:imgProps>
              </a:ext>
            </a:extLst>
          </a:blip>
          <a:srcRect/>
          <a:stretch>
            <a:fillRect/>
          </a:stretch>
        </p:blipFill>
        <p:spPr>
          <a:xfrm>
            <a:off x="1516743" y="876925"/>
            <a:ext cx="1219200" cy="1132826"/>
          </a:xfrm>
          <a:prstGeom prst="rect">
            <a:avLst/>
          </a:prstGeom>
        </p:spPr>
      </p:pic>
      <p:sp>
        <p:nvSpPr>
          <p:cNvPr id="2" name="Title 1"/>
          <p:cNvSpPr>
            <a:spLocks noGrp="1"/>
          </p:cNvSpPr>
          <p:nvPr>
            <p:ph type="ctrTitle"/>
          </p:nvPr>
        </p:nvSpPr>
        <p:spPr>
          <a:xfrm>
            <a:off x="519358" y="220725"/>
            <a:ext cx="11451771" cy="2790489"/>
          </a:xfrm>
        </p:spPr>
        <p:txBody>
          <a:bodyPr>
            <a:normAutofit fontScale="90000"/>
          </a:bodyPr>
          <a:lstStyle/>
          <a:p>
            <a:pPr marL="182880" indent="0" algn="ctr">
              <a:buNone/>
            </a:pPr>
            <a:r>
              <a:rPr lang="en-US" sz="2700" b="1" dirty="0">
                <a:solidFill>
                  <a:srgbClr val="FF0000"/>
                </a:solidFill>
                <a:effectLst/>
              </a:rPr>
              <a:t>ANNAMACHARYA INSTITUTE OF TECHNOLOGY AND SCIENCES::TIRUPATI</a:t>
            </a:r>
            <a:br>
              <a:rPr lang="en-US" sz="2700" b="1" dirty="0">
                <a:solidFill>
                  <a:srgbClr val="FF0000"/>
                </a:solidFill>
                <a:effectLst/>
              </a:rPr>
            </a:br>
            <a:r>
              <a:rPr lang="en-IN" sz="2000" b="1" dirty="0">
                <a:solidFill>
                  <a:srgbClr val="FF0000"/>
                </a:solidFill>
                <a:effectLst/>
              </a:rPr>
              <a:t>(AUTONOMOUS)</a:t>
            </a:r>
            <a:br>
              <a:rPr lang="en-IN" sz="2000" b="1" dirty="0">
                <a:solidFill>
                  <a:srgbClr val="FF0000"/>
                </a:solidFill>
                <a:effectLst/>
              </a:rPr>
            </a:br>
            <a:r>
              <a:rPr lang="en-IN" sz="2400" dirty="0">
                <a:solidFill>
                  <a:srgbClr val="0033CC"/>
                </a:solidFill>
                <a:effectLst/>
              </a:rPr>
              <a:t>Artificial Intelligence &amp; Machine Learning</a:t>
            </a:r>
            <a:br>
              <a:rPr lang="en-IN" sz="2000" dirty="0">
                <a:solidFill>
                  <a:srgbClr val="0033CC"/>
                </a:solidFill>
                <a:effectLst/>
              </a:rPr>
            </a:br>
            <a:r>
              <a:rPr lang="en-IN" sz="2400" dirty="0">
                <a:effectLst/>
                <a:latin typeface="Algerian" panose="04020705040A02060702" pitchFamily="82" charset="0"/>
              </a:rPr>
              <a:t>A.Y.: 2025-2026</a:t>
            </a:r>
            <a:br>
              <a:rPr lang="en-IN" sz="2400" dirty="0">
                <a:effectLst/>
                <a:latin typeface="Algerian" panose="04020705040A02060702" pitchFamily="82" charset="0"/>
              </a:rPr>
            </a:br>
            <a:r>
              <a:rPr lang="en-IN" sz="2700" dirty="0">
                <a:solidFill>
                  <a:schemeClr val="accent1">
                    <a:lumMod val="75000"/>
                  </a:schemeClr>
                </a:solidFill>
                <a:effectLst/>
              </a:rPr>
              <a:t>VIVA VOICE</a:t>
            </a:r>
            <a:br>
              <a:rPr lang="en-IN" sz="2700" dirty="0">
                <a:solidFill>
                  <a:schemeClr val="accent1">
                    <a:lumMod val="75000"/>
                  </a:schemeClr>
                </a:solidFill>
                <a:effectLst/>
              </a:rPr>
            </a:br>
            <a:br>
              <a:rPr lang="en-IN" sz="2700" b="1" dirty="0">
                <a:solidFill>
                  <a:schemeClr val="accent1">
                    <a:lumMod val="75000"/>
                  </a:schemeClr>
                </a:solidFill>
                <a:effectLst/>
              </a:rPr>
            </a:br>
            <a:r>
              <a:rPr lang="en-US" sz="2400" dirty="0">
                <a:solidFill>
                  <a:srgbClr val="FF0000"/>
                </a:solidFill>
              </a:rPr>
              <a:t>Predicting Digital Payment Platforms Adoption by Retail Vendors Using Machine Learning Techniques</a:t>
            </a:r>
            <a:br>
              <a:rPr lang="en-IN" sz="2400" dirty="0">
                <a:solidFill>
                  <a:srgbClr val="FF0000"/>
                </a:solidFill>
                <a:effectLst/>
                <a:latin typeface="Arial Black" panose="020B0A04020102020204" pitchFamily="34" charset="0"/>
              </a:rPr>
            </a:br>
            <a:endParaRPr lang="en-IN" sz="2400" dirty="0">
              <a:solidFill>
                <a:srgbClr val="FF0000"/>
              </a:solidFill>
              <a:effectLst/>
              <a:latin typeface="Arial Black" panose="020B0A04020102020204" pitchFamily="34" charset="0"/>
            </a:endParaRPr>
          </a:p>
        </p:txBody>
      </p:sp>
      <p:sp>
        <p:nvSpPr>
          <p:cNvPr id="5" name="TextBox 4"/>
          <p:cNvSpPr txBox="1"/>
          <p:nvPr/>
        </p:nvSpPr>
        <p:spPr>
          <a:xfrm>
            <a:off x="3237721" y="4404705"/>
            <a:ext cx="5449079" cy="2000548"/>
          </a:xfrm>
          <a:prstGeom prst="rect">
            <a:avLst/>
          </a:prstGeom>
          <a:noFill/>
        </p:spPr>
        <p:txBody>
          <a:bodyPr wrap="square" rtlCol="0">
            <a:spAutoFit/>
          </a:bodyPr>
          <a:lstStyle/>
          <a:p>
            <a:r>
              <a:rPr lang="en-GB" sz="2000" b="1" dirty="0"/>
              <a:t>		</a:t>
            </a:r>
            <a:r>
              <a:rPr lang="en-GB" sz="2400" b="1" dirty="0">
                <a:solidFill>
                  <a:srgbClr val="FF0000"/>
                </a:solidFill>
              </a:rPr>
              <a:t>AIML-2</a:t>
            </a:r>
            <a:r>
              <a:rPr lang="en-GB" sz="2000" b="1" dirty="0">
                <a:solidFill>
                  <a:srgbClr val="FF0000"/>
                </a:solidFill>
              </a:rPr>
              <a:t>- </a:t>
            </a:r>
            <a:r>
              <a:rPr lang="en-GB" sz="2400" b="1" dirty="0">
                <a:solidFill>
                  <a:srgbClr val="FF0000"/>
                </a:solidFill>
              </a:rPr>
              <a:t>BATCH NO: 02</a:t>
            </a:r>
          </a:p>
          <a:p>
            <a:endParaRPr lang="en-GB" sz="2000" b="1" dirty="0"/>
          </a:p>
          <a:p>
            <a:pPr algn="just"/>
            <a:r>
              <a:rPr lang="en-US" sz="2000" b="1" dirty="0"/>
              <a:t>22AK1A3357			R POOJITHA    </a:t>
            </a:r>
          </a:p>
          <a:p>
            <a:pPr algn="just"/>
            <a:r>
              <a:rPr lang="en-US" sz="2000" b="1" dirty="0"/>
              <a:t>22AK1A3376			G SIDHARDHA</a:t>
            </a:r>
          </a:p>
          <a:p>
            <a:r>
              <a:rPr lang="en-US" sz="2000" b="1" dirty="0"/>
              <a:t>22AK1A3363			M PRUDUEESWAR</a:t>
            </a:r>
          </a:p>
          <a:p>
            <a:r>
              <a:rPr lang="en-US" sz="2000" b="1" dirty="0"/>
              <a:t>22AK1A3387			B VARUN</a:t>
            </a:r>
            <a:endParaRPr lang="en-IN" sz="2000" b="1" dirty="0"/>
          </a:p>
        </p:txBody>
      </p:sp>
      <p:sp>
        <p:nvSpPr>
          <p:cNvPr id="6" name="TextBox 5"/>
          <p:cNvSpPr txBox="1"/>
          <p:nvPr/>
        </p:nvSpPr>
        <p:spPr>
          <a:xfrm>
            <a:off x="1073021" y="3047202"/>
            <a:ext cx="3604453" cy="1631216"/>
          </a:xfrm>
          <a:prstGeom prst="rect">
            <a:avLst/>
          </a:prstGeom>
          <a:noFill/>
        </p:spPr>
        <p:txBody>
          <a:bodyPr wrap="square" rtlCol="0">
            <a:spAutoFit/>
          </a:bodyPr>
          <a:lstStyle/>
          <a:p>
            <a:r>
              <a:rPr lang="en-GB" sz="2000" b="1" dirty="0">
                <a:solidFill>
                  <a:srgbClr val="FF0000"/>
                </a:solidFill>
              </a:rPr>
              <a:t>Under the Guidance of</a:t>
            </a:r>
          </a:p>
          <a:p>
            <a:r>
              <a:rPr lang="en-GB" sz="2000" b="1" dirty="0" err="1">
                <a:solidFill>
                  <a:srgbClr val="0033CC"/>
                </a:solidFill>
              </a:rPr>
              <a:t>Mrs.S.Prathima</a:t>
            </a:r>
            <a:r>
              <a:rPr lang="en-GB" sz="2000" b="1" dirty="0">
                <a:solidFill>
                  <a:srgbClr val="0033CC"/>
                </a:solidFill>
              </a:rPr>
              <a:t>., </a:t>
            </a:r>
            <a:r>
              <a:rPr lang="en-GB" sz="2000" b="1" dirty="0" err="1">
                <a:solidFill>
                  <a:srgbClr val="0033CC"/>
                </a:solidFill>
              </a:rPr>
              <a:t>M.Tech</a:t>
            </a:r>
            <a:endParaRPr lang="en-GB" sz="2000" b="1" dirty="0">
              <a:solidFill>
                <a:srgbClr val="0033CC"/>
              </a:solidFill>
            </a:endParaRPr>
          </a:p>
          <a:p>
            <a:r>
              <a:rPr lang="en-GB" sz="2000" b="1" dirty="0"/>
              <a:t>Assistant Professor</a:t>
            </a:r>
          </a:p>
          <a:p>
            <a:r>
              <a:rPr lang="en-GB" sz="2000" b="1" dirty="0"/>
              <a:t>Department of AIML</a:t>
            </a:r>
          </a:p>
          <a:p>
            <a:r>
              <a:rPr lang="en-GB" sz="2000" b="1" dirty="0"/>
              <a:t>AITS, Tirupati</a:t>
            </a:r>
            <a:endParaRPr lang="en-IN" sz="2000" b="1" dirty="0"/>
          </a:p>
        </p:txBody>
      </p:sp>
      <p:sp>
        <p:nvSpPr>
          <p:cNvPr id="7" name="TextBox 6"/>
          <p:cNvSpPr txBox="1"/>
          <p:nvPr/>
        </p:nvSpPr>
        <p:spPr>
          <a:xfrm>
            <a:off x="8052317" y="3047202"/>
            <a:ext cx="3918811" cy="1631216"/>
          </a:xfrm>
          <a:prstGeom prst="rect">
            <a:avLst/>
          </a:prstGeom>
          <a:noFill/>
        </p:spPr>
        <p:txBody>
          <a:bodyPr wrap="square" rtlCol="0">
            <a:spAutoFit/>
          </a:bodyPr>
          <a:lstStyle/>
          <a:p>
            <a:r>
              <a:rPr lang="en-GB" sz="2000" b="1" dirty="0">
                <a:solidFill>
                  <a:srgbClr val="FF0000"/>
                </a:solidFill>
              </a:rPr>
              <a:t>Head of the Department</a:t>
            </a:r>
          </a:p>
          <a:p>
            <a:r>
              <a:rPr lang="en-GB" sz="2000" b="1" dirty="0">
                <a:solidFill>
                  <a:srgbClr val="0033CC"/>
                </a:solidFill>
              </a:rPr>
              <a:t>Dr </a:t>
            </a:r>
            <a:r>
              <a:rPr lang="en-GB" sz="2000" b="1" dirty="0" err="1">
                <a:solidFill>
                  <a:srgbClr val="0033CC"/>
                </a:solidFill>
              </a:rPr>
              <a:t>C.Siva</a:t>
            </a:r>
            <a:r>
              <a:rPr lang="en-GB" sz="2000" b="1" dirty="0">
                <a:solidFill>
                  <a:srgbClr val="0033CC"/>
                </a:solidFill>
              </a:rPr>
              <a:t> Balaji Yadav., </a:t>
            </a:r>
            <a:r>
              <a:rPr lang="en-GB" sz="2000" b="1" dirty="0" err="1">
                <a:solidFill>
                  <a:srgbClr val="0033CC"/>
                </a:solidFill>
              </a:rPr>
              <a:t>Ph.D</a:t>
            </a:r>
            <a:endParaRPr lang="en-GB" sz="2000" b="1" dirty="0">
              <a:solidFill>
                <a:srgbClr val="0033CC"/>
              </a:solidFill>
            </a:endParaRPr>
          </a:p>
          <a:p>
            <a:r>
              <a:rPr lang="en-GB" sz="2000" b="1" dirty="0"/>
              <a:t> Professor</a:t>
            </a:r>
          </a:p>
          <a:p>
            <a:r>
              <a:rPr lang="en-GB" sz="2000" b="1" dirty="0"/>
              <a:t>Department of AIML</a:t>
            </a:r>
          </a:p>
          <a:p>
            <a:r>
              <a:rPr lang="en-GB" sz="2000" b="1" dirty="0"/>
              <a:t>AITS, Tirupati</a:t>
            </a:r>
            <a:endParaRPr lang="en-IN" sz="2000" b="1" dirty="0"/>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5412" y="646794"/>
            <a:ext cx="9404723" cy="695778"/>
          </a:xfrm>
        </p:spPr>
        <p:txBody>
          <a:bodyPr>
            <a:normAutofit/>
          </a:bodyPr>
          <a:lstStyle/>
          <a:p>
            <a:pPr marL="0" indent="0" algn="ctr">
              <a:buNone/>
            </a:pPr>
            <a:r>
              <a:rPr lang="en-US" sz="3200" b="1" dirty="0">
                <a:solidFill>
                  <a:srgbClr val="6666FF"/>
                </a:solidFill>
              </a:rPr>
              <a:t>ABSTRACT</a:t>
            </a:r>
            <a:endParaRPr lang="en-IN" sz="3200" b="1" dirty="0">
              <a:solidFill>
                <a:srgbClr val="6666FF"/>
              </a:solidFill>
            </a:endParaRPr>
          </a:p>
        </p:txBody>
      </p:sp>
      <p:sp>
        <p:nvSpPr>
          <p:cNvPr id="3" name="Content Placeholder 2"/>
          <p:cNvSpPr>
            <a:spLocks noGrp="1"/>
          </p:cNvSpPr>
          <p:nvPr>
            <p:ph sz="quarter" idx="13"/>
          </p:nvPr>
        </p:nvSpPr>
        <p:spPr>
          <a:xfrm>
            <a:off x="1001489" y="1306286"/>
            <a:ext cx="10232571" cy="5021943"/>
          </a:xfrm>
          <a:prstGeom prst="rect">
            <a:avLst/>
          </a:prstGeom>
        </p:spPr>
        <p:txBody>
          <a:bodyPr>
            <a:normAutofit fontScale="77500" lnSpcReduction="20000"/>
          </a:bodyPr>
          <a:lstStyle/>
          <a:p>
            <a:pPr marL="45720" indent="0" algn="just">
              <a:lnSpc>
                <a:spcPct val="150000"/>
              </a:lnSpc>
              <a:spcAft>
                <a:spcPts val="1000"/>
              </a:spcAft>
              <a:buNone/>
            </a:pPr>
            <a:r>
              <a:rPr lang="en-IN" sz="21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100" dirty="0">
                <a:latin typeface="Times New Roman" panose="02020603050405020304" pitchFamily="18" charset="0"/>
                <a:cs typeface="Times New Roman" panose="02020603050405020304" pitchFamily="18" charset="0"/>
              </a:rPr>
              <a:t>The adoption of digital payment platforms by retail vendors has become a pivotal transformation in India’s payment landscape. This project utilizes machine learning techniques to predict whether a retail vendor is likely to adopt digital payment systems such as Paytm, Google Pay, PhonePe, and Amazon Pay. Data was collected from merchants across major retail markets in Bangalore, targeting both organized and unorganized sectors. Through a comprehensive analytical approach involving descriptive statistics, exploratory factor analysis, and Support Vector Machine (SVM) modeling, the system identifies core factors influencing adoption: perceived usefulness, social influence, and compatibility. Additionally, the system evaluates customer satisfaction across platforms and forecasts future digital payment adoption trends using the ARIMA time series model. This integrated platform consists of three major modules: user (vendor interaction), admin (data management and analysis), and machine learning (prediction and forecasting). The system not only aids in understanding the behavior of retail vendors but also empowers policymakers, fintech providers, and entrepreneurs with actionable insights to improve the digital payments ecosystem.</a:t>
            </a:r>
          </a:p>
          <a:p>
            <a:pPr marL="45720" indent="0" algn="just">
              <a:lnSpc>
                <a:spcPct val="150000"/>
              </a:lnSpc>
              <a:spcAft>
                <a:spcPts val="1000"/>
              </a:spcAft>
              <a:buNone/>
            </a:pPr>
            <a:r>
              <a:rPr lang="en-IN" sz="2100" dirty="0">
                <a:latin typeface="Times New Roman" panose="02020603050405020304" pitchFamily="18" charset="0"/>
                <a:ea typeface="Times New Roman" panose="02020603050405020304" pitchFamily="18" charset="0"/>
                <a:cs typeface="Times New Roman" panose="02020603050405020304" pitchFamily="18" charset="0"/>
              </a:rPr>
              <a:t>Key Words</a:t>
            </a:r>
          </a:p>
          <a:p>
            <a:pPr marL="45720" indent="0">
              <a:lnSpc>
                <a:spcPct val="150000"/>
              </a:lnSpc>
              <a:spcAft>
                <a:spcPts val="1000"/>
              </a:spcAft>
              <a:buNone/>
            </a:pPr>
            <a:r>
              <a:rPr lang="en-IN" sz="2100" dirty="0">
                <a:latin typeface="Times New Roman" panose="02020603050405020304" pitchFamily="18" charset="0"/>
                <a:cs typeface="Times New Roman" panose="02020603050405020304" pitchFamily="18" charset="0"/>
              </a:rPr>
              <a:t>Support Vector Machine (SVM), ARIMA</a:t>
            </a:r>
            <a:endParaRPr lang="en-IN" sz="21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92694" y="401541"/>
            <a:ext cx="5840963" cy="922351"/>
          </a:xfrm>
        </p:spPr>
        <p:txBody>
          <a:bodyPr/>
          <a:lstStyle/>
          <a:p>
            <a:pPr marL="0" indent="0">
              <a:buNone/>
            </a:pPr>
            <a:r>
              <a:rPr lang="en-US" sz="3200" dirty="0">
                <a:solidFill>
                  <a:srgbClr val="6666FF"/>
                </a:solidFill>
              </a:rPr>
              <a:t>DOMAIN INTRODUCTION</a:t>
            </a:r>
            <a:endParaRPr lang="en-IN" sz="3200" dirty="0"/>
          </a:p>
        </p:txBody>
      </p:sp>
      <p:sp>
        <p:nvSpPr>
          <p:cNvPr id="3" name="Content Placeholder 2"/>
          <p:cNvSpPr>
            <a:spLocks noGrp="1"/>
          </p:cNvSpPr>
          <p:nvPr>
            <p:ph sz="quarter" idx="13"/>
          </p:nvPr>
        </p:nvSpPr>
        <p:spPr>
          <a:xfrm>
            <a:off x="564543" y="1359675"/>
            <a:ext cx="11115923" cy="4635608"/>
          </a:xfrm>
        </p:spPr>
        <p:txBody>
          <a:bodyPr>
            <a:normAutofit/>
          </a:bodyPr>
          <a:lstStyle/>
          <a:p>
            <a:pPr marL="45720" indent="0" algn="just">
              <a:lnSpc>
                <a:spcPct val="150000"/>
              </a:lnSpc>
              <a:buNone/>
            </a:pPr>
            <a:r>
              <a:rPr lang="en-US" sz="1600" dirty="0">
                <a:latin typeface="Times New Roman" panose="02020603050405020304" pitchFamily="18" charset="0"/>
                <a:cs typeface="Times New Roman" panose="02020603050405020304" pitchFamily="18" charset="0"/>
              </a:rPr>
              <a:t>With the rise of fintech innovation and increasing smartphone penetration, digital payment platforms have revolutionized the way retail transactions are conducted in India. Vendors are progressively shifting from traditional cash-based models to convenient, secure, and efficient digital alternatives. However, despite this trend, a significant portion of small and medium-sized vendors remains reluctant or inconsistent in adopting these platforms. The decision to adopt digital payment systems depends on multiple factors, including perceived ease of use, usefulness, social influence, compatibility, and trust. This study delves deep into those behavioral and technical factors to uncover what drives adoption and what hinders it. The city of Bangalore, known for its diverse retail market, provides the ideal environment for such a study. This project introduces a comprehensive system that combines statistical models with machine learning algorithms to predict digital payment adoption. Through structured modules and real-time analysis, the system helps retail vendors gain clarity on their digital readiness while offering strategic insights for improving fintech engagement across India’s retail ecosystem.</a:t>
            </a:r>
            <a:endParaRPr lang="en-IN" sz="1600" dirty="0">
              <a:latin typeface="Times New Roman" panose="02020603050405020304" pitchFamily="18" charset="0"/>
              <a:cs typeface="Times New Roman" panose="02020603050405020304" pitchFamily="18" charset="0"/>
            </a:endParaRPr>
          </a:p>
          <a:p>
            <a:pPr marL="45720" indent="0">
              <a:buNone/>
            </a:pPr>
            <a:endParaRPr lang="en-IN"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2503" y="589491"/>
            <a:ext cx="9286993" cy="778988"/>
          </a:xfrm>
        </p:spPr>
        <p:txBody>
          <a:bodyPr>
            <a:normAutofit/>
          </a:bodyPr>
          <a:lstStyle/>
          <a:p>
            <a:pPr marL="0" indent="0" algn="ctr">
              <a:buNone/>
            </a:pPr>
            <a:r>
              <a:rPr lang="en-US" sz="3200" dirty="0">
                <a:solidFill>
                  <a:srgbClr val="6666FF"/>
                </a:solidFill>
              </a:rPr>
              <a:t>EXISTING SYSTEM</a:t>
            </a:r>
            <a:endParaRPr lang="en-IN" sz="3200" b="1" dirty="0">
              <a:solidFill>
                <a:srgbClr val="6666FF"/>
              </a:solidFill>
            </a:endParaRPr>
          </a:p>
        </p:txBody>
      </p:sp>
      <p:sp>
        <p:nvSpPr>
          <p:cNvPr id="3" name="Content Placeholder 2"/>
          <p:cNvSpPr>
            <a:spLocks noGrp="1"/>
          </p:cNvSpPr>
          <p:nvPr>
            <p:ph sz="quarter" idx="13"/>
          </p:nvPr>
        </p:nvSpPr>
        <p:spPr>
          <a:xfrm>
            <a:off x="233081" y="1631576"/>
            <a:ext cx="11761695" cy="4840941"/>
          </a:xfrm>
          <a:prstGeom prst="rect">
            <a:avLst/>
          </a:prstGeom>
        </p:spPr>
        <p:txBody>
          <a:bodyPr>
            <a:normAutofit/>
          </a:bodyPr>
          <a:lstStyle/>
          <a:p>
            <a:pPr marL="0" indent="0" algn="just">
              <a:lnSpc>
                <a:spcPct val="150000"/>
              </a:lnSpc>
              <a:buNone/>
            </a:pPr>
            <a:endParaRPr lang="en-US" sz="1600" dirty="0">
              <a:latin typeface="Times New Roman" panose="02020603050405020304" pitchFamily="18" charset="0"/>
              <a:cs typeface="Times New Roman" panose="02020603050405020304" pitchFamily="18" charset="0"/>
            </a:endParaRPr>
          </a:p>
          <a:p>
            <a:pPr marL="0" indent="0" algn="just">
              <a:lnSpc>
                <a:spcPct val="150000"/>
              </a:lnSpc>
              <a:buNone/>
            </a:pPr>
            <a:endParaRPr lang="en-US"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endParaRPr lang="en-US"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endParaRPr lang="en-US"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endParaRPr lang="en-US"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endParaRPr lang="en-US" sz="16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1052894" y="1884370"/>
            <a:ext cx="10461081" cy="3577261"/>
          </a:xfrm>
          <a:prstGeom prst="rect">
            <a:avLst/>
          </a:prstGeom>
          <a:noFill/>
        </p:spPr>
        <p:txBody>
          <a:bodyPr wrap="square">
            <a:spAutoFit/>
          </a:bodyPr>
          <a:lstStyle/>
          <a:p>
            <a:pPr algn="just">
              <a:lnSpc>
                <a:spcPct val="150000"/>
              </a:lnSpc>
              <a:spcAft>
                <a:spcPts val="800"/>
              </a:spcAft>
            </a:pP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The existing approach to understanding digital payment platform adoption among retail vendors is largely based on traditional statistical and survey-based methods. Most prior studies focus on descriptive analysis, basic regression techniques, and theoretical adoption models such as the Technology Acceptance Model (TAM) and UTAUT to identify influencing factors like perceived usefulness, ease of use, social influence, and compatibility.</a:t>
            </a:r>
          </a:p>
          <a:p>
            <a:pPr algn="just">
              <a:lnSpc>
                <a:spcPct val="150000"/>
              </a:lnSpc>
              <a:spcAft>
                <a:spcPts val="800"/>
              </a:spcAft>
            </a:pP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				These systems primarily analyse historical or survey data to explain adoption behaviour rather than predicting future adoption. Conventional methods often fail to capture complex, non-linear relationships among multiple behavioural and technological factors. Additionally, existing systems do not effectively combine customer satisfaction analysis and trend forecasting to support long-term decision-making for digital payment providers and policymakers.</a:t>
            </a:r>
          </a:p>
          <a:p>
            <a:pPr algn="l">
              <a:lnSpc>
                <a:spcPct val="150000"/>
              </a:lnSpc>
            </a:pPr>
            <a:endParaRPr lang="en-US" sz="1600" i="0" dirty="0">
              <a:solidFill>
                <a:srgbClr val="0D0D0D"/>
              </a:solidFill>
              <a:effectLst/>
              <a:latin typeface="Times New Roman" panose="02020603050405020304" pitchFamily="18" charset="0"/>
              <a:cs typeface="Times New Roman" panose="02020603050405020304" pitchFamily="18" charset="0"/>
            </a:endParaRPr>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5521" y="614384"/>
            <a:ext cx="9286993" cy="778988"/>
          </a:xfrm>
        </p:spPr>
        <p:txBody>
          <a:bodyPr>
            <a:normAutofit/>
          </a:bodyPr>
          <a:lstStyle/>
          <a:p>
            <a:pPr marL="0" indent="0" algn="ctr">
              <a:buNone/>
            </a:pPr>
            <a:r>
              <a:rPr lang="en-US" sz="3200" dirty="0">
                <a:solidFill>
                  <a:srgbClr val="6666FF"/>
                </a:solidFill>
              </a:rPr>
              <a:t>EXISTING SYSTEM DISADVANTAGES </a:t>
            </a:r>
            <a:endParaRPr lang="en-IN" sz="3200" b="1" dirty="0">
              <a:solidFill>
                <a:srgbClr val="6666FF"/>
              </a:solidFill>
            </a:endParaRPr>
          </a:p>
        </p:txBody>
      </p:sp>
      <p:sp>
        <p:nvSpPr>
          <p:cNvPr id="3" name="Content Placeholder 2"/>
          <p:cNvSpPr>
            <a:spLocks noGrp="1"/>
          </p:cNvSpPr>
          <p:nvPr>
            <p:ph sz="quarter" idx="13"/>
          </p:nvPr>
        </p:nvSpPr>
        <p:spPr>
          <a:xfrm>
            <a:off x="233081" y="1631576"/>
            <a:ext cx="11761695" cy="4840941"/>
          </a:xfrm>
          <a:prstGeom prst="rect">
            <a:avLst/>
          </a:prstGeom>
        </p:spPr>
        <p:txBody>
          <a:bodyPr>
            <a:normAutofit/>
          </a:bodyPr>
          <a:lstStyle/>
          <a:p>
            <a:pPr algn="just">
              <a:lnSpc>
                <a:spcPct val="150000"/>
              </a:lnSpc>
            </a:pPr>
            <a:r>
              <a:rPr lang="en-US" sz="1600" b="1" dirty="0">
                <a:latin typeface="Times New Roman" panose="02020603050405020304" pitchFamily="18" charset="0"/>
                <a:cs typeface="Times New Roman" panose="02020603050405020304" pitchFamily="18" charset="0"/>
              </a:rPr>
              <a:t>Limited Predictive Capability</a:t>
            </a:r>
            <a:r>
              <a:rPr lang="en-US" sz="1600" dirty="0">
                <a:latin typeface="Times New Roman" panose="02020603050405020304" pitchFamily="18" charset="0"/>
                <a:cs typeface="Times New Roman" panose="02020603050405020304" pitchFamily="18" charset="0"/>
              </a:rPr>
              <a:t>: Traditional methods like regression do not effectively capture </a:t>
            </a:r>
            <a:r>
              <a:rPr lang="en-US" sz="1600" b="1" dirty="0">
                <a:latin typeface="Times New Roman" panose="02020603050405020304" pitchFamily="18" charset="0"/>
                <a:cs typeface="Times New Roman" panose="02020603050405020304" pitchFamily="18" charset="0"/>
              </a:rPr>
              <a:t>non-linear or complex relationships</a:t>
            </a:r>
            <a:r>
              <a:rPr lang="en-US" sz="1600" dirty="0">
                <a:latin typeface="Times New Roman" panose="02020603050405020304" pitchFamily="18" charset="0"/>
                <a:cs typeface="Times New Roman" panose="02020603050405020304" pitchFamily="18" charset="0"/>
              </a:rPr>
              <a:t> between multiple factors.</a:t>
            </a:r>
            <a:endParaRPr lang="en-IN" sz="1600" dirty="0">
              <a:latin typeface="Times New Roman" panose="02020603050405020304" pitchFamily="18" charset="0"/>
              <a:cs typeface="Times New Roman" panose="02020603050405020304" pitchFamily="18" charset="0"/>
            </a:endParaRPr>
          </a:p>
          <a:p>
            <a:pPr algn="just">
              <a:lnSpc>
                <a:spcPct val="150000"/>
              </a:lnSpc>
            </a:pP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Low Explanatory Power</a:t>
            </a:r>
            <a:r>
              <a:rPr lang="en-US" sz="1600" dirty="0">
                <a:latin typeface="Times New Roman" panose="02020603050405020304" pitchFamily="18" charset="0"/>
                <a:cs typeface="Times New Roman" panose="02020603050405020304" pitchFamily="18" charset="0"/>
              </a:rPr>
              <a:t>: The regression model used in the study showed an </a:t>
            </a:r>
            <a:r>
              <a:rPr lang="en-US" sz="1600" b="1" dirty="0">
                <a:latin typeface="Times New Roman" panose="02020603050405020304" pitchFamily="18" charset="0"/>
                <a:cs typeface="Times New Roman" panose="02020603050405020304" pitchFamily="18" charset="0"/>
              </a:rPr>
              <a:t>R² value of only 0.003</a:t>
            </a:r>
            <a:r>
              <a:rPr lang="en-US" sz="1600" dirty="0">
                <a:latin typeface="Times New Roman" panose="02020603050405020304" pitchFamily="18" charset="0"/>
                <a:cs typeface="Times New Roman" panose="02020603050405020304" pitchFamily="18" charset="0"/>
              </a:rPr>
              <a:t>, indicating that it explains virtually no variance in business type classification.</a:t>
            </a:r>
            <a:endParaRPr lang="en-IN" sz="1600" dirty="0">
              <a:latin typeface="Times New Roman" panose="02020603050405020304" pitchFamily="18" charset="0"/>
              <a:cs typeface="Times New Roman" panose="02020603050405020304" pitchFamily="18" charset="0"/>
            </a:endParaRPr>
          </a:p>
          <a:p>
            <a:pPr algn="just">
              <a:lnSpc>
                <a:spcPct val="150000"/>
              </a:lnSpc>
            </a:pPr>
            <a:r>
              <a:rPr lang="en-US" sz="1600" b="1" dirty="0">
                <a:latin typeface="Times New Roman" panose="02020603050405020304" pitchFamily="18" charset="0"/>
                <a:cs typeface="Times New Roman" panose="02020603050405020304" pitchFamily="18" charset="0"/>
              </a:rPr>
              <a:t>Static and Rigid</a:t>
            </a:r>
            <a:r>
              <a:rPr lang="en-US" sz="1600" dirty="0">
                <a:latin typeface="Times New Roman" panose="02020603050405020304" pitchFamily="18" charset="0"/>
                <a:cs typeface="Times New Roman" panose="02020603050405020304" pitchFamily="18" charset="0"/>
              </a:rPr>
              <a:t>: The models do not adapt to </a:t>
            </a:r>
            <a:r>
              <a:rPr lang="en-US" sz="1600" b="1" dirty="0">
                <a:latin typeface="Times New Roman" panose="02020603050405020304" pitchFamily="18" charset="0"/>
                <a:cs typeface="Times New Roman" panose="02020603050405020304" pitchFamily="18" charset="0"/>
              </a:rPr>
              <a:t>changing behavioral patterns</a:t>
            </a:r>
            <a:r>
              <a:rPr lang="en-US" sz="1600" dirty="0">
                <a:latin typeface="Times New Roman" panose="02020603050405020304" pitchFamily="18" charset="0"/>
                <a:cs typeface="Times New Roman" panose="02020603050405020304" pitchFamily="18" charset="0"/>
              </a:rPr>
              <a:t> or new market trends over time.</a:t>
            </a:r>
            <a:endParaRPr lang="en-IN" sz="1600" dirty="0">
              <a:latin typeface="Times New Roman" panose="02020603050405020304" pitchFamily="18" charset="0"/>
              <a:cs typeface="Times New Roman" panose="02020603050405020304" pitchFamily="18" charset="0"/>
            </a:endParaRPr>
          </a:p>
          <a:p>
            <a:pPr algn="just">
              <a:lnSpc>
                <a:spcPct val="150000"/>
              </a:lnSpc>
            </a:pPr>
            <a:r>
              <a:rPr lang="en-US" sz="1600" b="1" dirty="0">
                <a:latin typeface="Times New Roman" panose="02020603050405020304" pitchFamily="18" charset="0"/>
                <a:cs typeface="Times New Roman" panose="02020603050405020304" pitchFamily="18" charset="0"/>
              </a:rPr>
              <a:t>Oversimplified Assumptions</a:t>
            </a:r>
            <a:r>
              <a:rPr lang="en-US" sz="1600" dirty="0">
                <a:latin typeface="Times New Roman" panose="02020603050405020304" pitchFamily="18" charset="0"/>
                <a:cs typeface="Times New Roman" panose="02020603050405020304" pitchFamily="18" charset="0"/>
              </a:rPr>
              <a:t>: Techniques such as EFA assume data normality and linearity, which are often unrealistic in behavioral and adoption studies.</a:t>
            </a:r>
            <a:endParaRPr lang="en-IN" sz="1600" dirty="0">
              <a:latin typeface="Times New Roman" panose="02020603050405020304" pitchFamily="18" charset="0"/>
              <a:cs typeface="Times New Roman" panose="02020603050405020304" pitchFamily="18" charset="0"/>
            </a:endParaRPr>
          </a:p>
          <a:p>
            <a:pPr algn="just">
              <a:lnSpc>
                <a:spcPct val="150000"/>
              </a:lnSpc>
            </a:pPr>
            <a:r>
              <a:rPr lang="en-US" sz="1600" b="1" dirty="0">
                <a:latin typeface="Times New Roman" panose="02020603050405020304" pitchFamily="18" charset="0"/>
                <a:cs typeface="Times New Roman" panose="02020603050405020304" pitchFamily="18" charset="0"/>
              </a:rPr>
              <a:t>No Real-Time Insights</a:t>
            </a:r>
            <a:r>
              <a:rPr lang="en-US" sz="1600" dirty="0">
                <a:latin typeface="Times New Roman" panose="02020603050405020304" pitchFamily="18" charset="0"/>
                <a:cs typeface="Times New Roman" panose="02020603050405020304" pitchFamily="18" charset="0"/>
              </a:rPr>
              <a:t>: Traditional methods do not provide </a:t>
            </a:r>
            <a:r>
              <a:rPr lang="en-US" sz="1600" b="1" dirty="0">
                <a:latin typeface="Times New Roman" panose="02020603050405020304" pitchFamily="18" charset="0"/>
                <a:cs typeface="Times New Roman" panose="02020603050405020304" pitchFamily="18" charset="0"/>
              </a:rPr>
              <a:t>dynamic or real-time prediction</a:t>
            </a:r>
            <a:r>
              <a:rPr lang="en-US" sz="1600" dirty="0">
                <a:latin typeface="Times New Roman" panose="02020603050405020304" pitchFamily="18" charset="0"/>
                <a:cs typeface="Times New Roman" panose="02020603050405020304" pitchFamily="18" charset="0"/>
              </a:rPr>
              <a:t>, making them less useful for agile decision-making.</a:t>
            </a:r>
            <a:endParaRPr lang="en-IN" sz="1600" dirty="0">
              <a:latin typeface="Times New Roman" panose="02020603050405020304" pitchFamily="18" charset="0"/>
              <a:cs typeface="Times New Roman" panose="02020603050405020304" pitchFamily="18" charset="0"/>
            </a:endParaRPr>
          </a:p>
          <a:p>
            <a:pPr marL="45720" indent="0" algn="just">
              <a:lnSpc>
                <a:spcPct val="150000"/>
              </a:lnSpc>
              <a:buNone/>
            </a:pPr>
            <a:endParaRPr lang="en-US" sz="1600" dirty="0">
              <a:latin typeface="Times New Roman" panose="02020603050405020304" pitchFamily="18" charset="0"/>
              <a:cs typeface="Times New Roman" panose="02020603050405020304" pitchFamily="18" charset="0"/>
            </a:endParaRPr>
          </a:p>
        </p:txBody>
      </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34747" y="401008"/>
            <a:ext cx="5122505" cy="584775"/>
          </a:xfrm>
          <a:prstGeom prst="rect">
            <a:avLst/>
          </a:prstGeom>
          <a:noFill/>
        </p:spPr>
        <p:txBody>
          <a:bodyPr wrap="square" rtlCol="0">
            <a:spAutoFit/>
          </a:bodyPr>
          <a:lstStyle/>
          <a:p>
            <a:pPr algn="ctr"/>
            <a:r>
              <a:rPr lang="en-US" sz="3200" dirty="0">
                <a:solidFill>
                  <a:srgbClr val="6666FF"/>
                </a:solidFill>
                <a:effectLst>
                  <a:outerShdw blurRad="50800" dist="38100" dir="5400000" algn="t" rotWithShape="0">
                    <a:prstClr val="black">
                      <a:alpha val="40000"/>
                    </a:prst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rPr>
              <a:t>EXISTING WORK</a:t>
            </a:r>
            <a:endParaRPr lang="en-US" sz="3200" dirty="0">
              <a:effectLst>
                <a:outerShdw blurRad="50800" dist="38100" dir="5400000" algn="t" rotWithShape="0">
                  <a:prstClr val="black">
                    <a:alpha val="40000"/>
                  </a:prstClr>
                </a:outerShdw>
                <a:reflection blurRad="6350" stA="55000" endA="300" endPos="45500" dir="5400000" sy="-100000" algn="bl" rotWithShape="0"/>
              </a:effectLst>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nvGraphicFramePr>
        <p:xfrm>
          <a:off x="520960" y="1305005"/>
          <a:ext cx="11150080" cy="5385044"/>
        </p:xfrm>
        <a:graphic>
          <a:graphicData uri="http://schemas.openxmlformats.org/drawingml/2006/table">
            <a:tbl>
              <a:tblPr firstRow="1" bandRow="1">
                <a:tableStyleId>{5C22544A-7EE6-4342-B048-85BDC9FD1C3A}</a:tableStyleId>
              </a:tblPr>
              <a:tblGrid>
                <a:gridCol w="485192">
                  <a:extLst>
                    <a:ext uri="{9D8B030D-6E8A-4147-A177-3AD203B41FA5}">
                      <a16:colId xmlns:a16="http://schemas.microsoft.com/office/drawing/2014/main" val="20000"/>
                    </a:ext>
                  </a:extLst>
                </a:gridCol>
                <a:gridCol w="2920481">
                  <a:extLst>
                    <a:ext uri="{9D8B030D-6E8A-4147-A177-3AD203B41FA5}">
                      <a16:colId xmlns:a16="http://schemas.microsoft.com/office/drawing/2014/main" val="20001"/>
                    </a:ext>
                  </a:extLst>
                </a:gridCol>
                <a:gridCol w="1754155">
                  <a:extLst>
                    <a:ext uri="{9D8B030D-6E8A-4147-A177-3AD203B41FA5}">
                      <a16:colId xmlns:a16="http://schemas.microsoft.com/office/drawing/2014/main" val="20002"/>
                    </a:ext>
                  </a:extLst>
                </a:gridCol>
                <a:gridCol w="2236206">
                  <a:extLst>
                    <a:ext uri="{9D8B030D-6E8A-4147-A177-3AD203B41FA5}">
                      <a16:colId xmlns:a16="http://schemas.microsoft.com/office/drawing/2014/main" val="20003"/>
                    </a:ext>
                  </a:extLst>
                </a:gridCol>
                <a:gridCol w="1691982">
                  <a:extLst>
                    <a:ext uri="{9D8B030D-6E8A-4147-A177-3AD203B41FA5}">
                      <a16:colId xmlns:a16="http://schemas.microsoft.com/office/drawing/2014/main" val="20004"/>
                    </a:ext>
                  </a:extLst>
                </a:gridCol>
                <a:gridCol w="2062064">
                  <a:extLst>
                    <a:ext uri="{9D8B030D-6E8A-4147-A177-3AD203B41FA5}">
                      <a16:colId xmlns:a16="http://schemas.microsoft.com/office/drawing/2014/main" val="20005"/>
                    </a:ext>
                  </a:extLst>
                </a:gridCol>
              </a:tblGrid>
              <a:tr h="1251061">
                <a:tc>
                  <a:txBody>
                    <a:bodyPr/>
                    <a:lstStyle/>
                    <a:p>
                      <a:r>
                        <a:rPr lang="en-US" dirty="0"/>
                        <a:t>S. No</a:t>
                      </a:r>
                    </a:p>
                  </a:txBody>
                  <a:tcPr/>
                </a:tc>
                <a:tc>
                  <a:txBody>
                    <a:bodyPr/>
                    <a:lstStyle/>
                    <a:p>
                      <a:pPr algn="ctr"/>
                      <a:r>
                        <a:rPr lang="en-US" dirty="0"/>
                        <a:t>Title of the Paper</a:t>
                      </a:r>
                    </a:p>
                  </a:txBody>
                  <a:tcPr/>
                </a:tc>
                <a:tc>
                  <a:txBody>
                    <a:bodyPr/>
                    <a:lstStyle/>
                    <a:p>
                      <a:pPr algn="ctr"/>
                      <a:r>
                        <a:rPr lang="en-US" dirty="0"/>
                        <a:t>Author Names</a:t>
                      </a:r>
                    </a:p>
                  </a:txBody>
                  <a:tcPr/>
                </a:tc>
                <a:tc>
                  <a:txBody>
                    <a:bodyPr/>
                    <a:lstStyle/>
                    <a:p>
                      <a:pPr algn="ctr"/>
                      <a:r>
                        <a:rPr lang="en-US" dirty="0"/>
                        <a:t>Problem</a:t>
                      </a:r>
                      <a:r>
                        <a:rPr lang="en-US" baseline="0" dirty="0"/>
                        <a:t> Statement</a:t>
                      </a:r>
                      <a:endParaRPr lang="en-US" dirty="0"/>
                    </a:p>
                  </a:txBody>
                  <a:tcPr/>
                </a:tc>
                <a:tc>
                  <a:txBody>
                    <a:bodyPr/>
                    <a:lstStyle/>
                    <a:p>
                      <a:pPr algn="ctr"/>
                      <a:r>
                        <a:rPr lang="en-US" dirty="0"/>
                        <a:t>Method/</a:t>
                      </a:r>
                      <a:r>
                        <a:rPr lang="en-US" baseline="0" dirty="0"/>
                        <a:t> Algorithm Used </a:t>
                      </a:r>
                      <a:endParaRPr lang="en-US" dirty="0"/>
                    </a:p>
                  </a:txBody>
                  <a:tcPr/>
                </a:tc>
                <a:tc>
                  <a:txBody>
                    <a:bodyPr/>
                    <a:lstStyle/>
                    <a:p>
                      <a:pPr algn="ctr"/>
                      <a:r>
                        <a:rPr lang="en-US" dirty="0"/>
                        <a:t>Year of Published</a:t>
                      </a:r>
                    </a:p>
                  </a:txBody>
                  <a:tcPr/>
                </a:tc>
                <a:extLst>
                  <a:ext uri="{0D108BD9-81ED-4DB2-BD59-A6C34878D82A}">
                    <a16:rowId xmlns:a16="http://schemas.microsoft.com/office/drawing/2014/main" val="10000"/>
                  </a:ext>
                </a:extLst>
              </a:tr>
              <a:tr h="2224385">
                <a:tc>
                  <a:txBody>
                    <a:bodyPr/>
                    <a:lstStyle/>
                    <a:p>
                      <a:pPr algn="ctr" fontAlgn="ctr"/>
                      <a:r>
                        <a:rPr lang="en-IN" sz="1600" kern="1200" dirty="0">
                          <a:solidFill>
                            <a:schemeClr val="dk1"/>
                          </a:solidFill>
                          <a:effectLst/>
                          <a:latin typeface="Times New Roman" panose="02020603050405020304" pitchFamily="18" charset="0"/>
                          <a:ea typeface="+mn-ea"/>
                          <a:cs typeface="Times New Roman" panose="02020603050405020304" pitchFamily="18" charset="0"/>
                        </a:rPr>
                        <a:t>1</a:t>
                      </a:r>
                    </a:p>
                  </a:txBody>
                  <a:tcPr marL="7620" marR="7620" marT="7620" marB="0" anchor="ctr"/>
                </a:tc>
                <a:tc>
                  <a:txBody>
                    <a:bodyPr/>
                    <a:lstStyle/>
                    <a:p>
                      <a:pPr algn="ctr" fontAlgn="ctr"/>
                      <a:r>
                        <a:rPr lang="en-US" sz="1600" kern="1200" dirty="0">
                          <a:solidFill>
                            <a:schemeClr val="dk1"/>
                          </a:solidFill>
                          <a:effectLst/>
                          <a:latin typeface="Times New Roman" panose="02020603050405020304" pitchFamily="18" charset="0"/>
                          <a:ea typeface="+mn-ea"/>
                          <a:cs typeface="Times New Roman" panose="02020603050405020304" pitchFamily="18" charset="0"/>
                        </a:rPr>
                        <a:t>“Digital Payment Adoption y Retail Vendors in India”</a:t>
                      </a:r>
                    </a:p>
                  </a:txBody>
                  <a:tcPr marL="7620" marR="7620" marT="7620" marB="0" anchor="ctr"/>
                </a:tc>
                <a:tc>
                  <a:txBody>
                    <a:bodyPr/>
                    <a:lstStyle/>
                    <a:p>
                      <a:pPr algn="ctr" fontAlgn="ctr"/>
                      <a:r>
                        <a:rPr lang="en-US" sz="1600" kern="1200" dirty="0">
                          <a:solidFill>
                            <a:schemeClr val="dk1"/>
                          </a:solidFill>
                          <a:effectLst/>
                          <a:latin typeface="Times New Roman" panose="02020603050405020304" pitchFamily="18" charset="0"/>
                          <a:ea typeface="+mn-ea"/>
                          <a:cs typeface="Times New Roman" panose="02020603050405020304" pitchFamily="18" charset="0"/>
                        </a:rPr>
                        <a:t>R. Kumar and S. Sharma,</a:t>
                      </a:r>
                    </a:p>
                  </a:txBody>
                  <a:tcPr marL="7620" marR="7620" marT="7620" marB="0" anchor="ctr"/>
                </a:tc>
                <a:tc>
                  <a:txBody>
                    <a:bodyPr/>
                    <a:lstStyle/>
                    <a:p>
                      <a:pPr algn="ctr" fontAlgn="ctr"/>
                      <a:r>
                        <a:rPr lang="en-US" sz="1600" kern="1200" dirty="0">
                          <a:solidFill>
                            <a:schemeClr val="dk1"/>
                          </a:solidFill>
                          <a:effectLst/>
                          <a:latin typeface="Times New Roman" panose="02020603050405020304" pitchFamily="18" charset="0"/>
                          <a:ea typeface="+mn-ea"/>
                          <a:cs typeface="Times New Roman" panose="02020603050405020304" pitchFamily="18" charset="0"/>
                        </a:rPr>
                        <a:t>Low adoption of digital payments among small retail vendors.</a:t>
                      </a:r>
                    </a:p>
                  </a:txBody>
                  <a:tcPr marL="7620" marR="7620" marT="7620" marB="0" anchor="ctr"/>
                </a:tc>
                <a:tc>
                  <a:txBody>
                    <a:bodyPr/>
                    <a:lstStyle/>
                    <a:p>
                      <a:pPr algn="ctr" fontAlgn="ctr"/>
                      <a:r>
                        <a:rPr lang="en-IN" sz="1600" kern="1200" dirty="0">
                          <a:solidFill>
                            <a:schemeClr val="dk1"/>
                          </a:solidFill>
                          <a:effectLst/>
                          <a:latin typeface="Times New Roman" panose="02020603050405020304" pitchFamily="18" charset="0"/>
                          <a:ea typeface="+mn-ea"/>
                          <a:cs typeface="Times New Roman" panose="02020603050405020304" pitchFamily="18" charset="0"/>
                        </a:rPr>
                        <a:t>TAM, Descriptive Statistics</a:t>
                      </a:r>
                    </a:p>
                  </a:txBody>
                  <a:tcPr marL="7620" marR="7620" marT="7620" marB="0" anchor="ctr"/>
                </a:tc>
                <a:tc>
                  <a:txBody>
                    <a:bodyPr/>
                    <a:lstStyle/>
                    <a:p>
                      <a:pPr algn="ctr" fontAlgn="ctr"/>
                      <a:r>
                        <a:rPr lang="en-US" sz="1600" kern="1200" dirty="0">
                          <a:solidFill>
                            <a:schemeClr val="dk1"/>
                          </a:solidFill>
                          <a:effectLst/>
                          <a:latin typeface="Times New Roman" panose="02020603050405020304" pitchFamily="18" charset="0"/>
                          <a:ea typeface="+mn-ea"/>
                          <a:cs typeface="Times New Roman" panose="02020603050405020304" pitchFamily="18" charset="0"/>
                        </a:rPr>
                        <a:t>2020</a:t>
                      </a:r>
                    </a:p>
                  </a:txBody>
                  <a:tcPr marL="7620" marR="7620" marT="7620" marB="0" anchor="ctr"/>
                </a:tc>
                <a:extLst>
                  <a:ext uri="{0D108BD9-81ED-4DB2-BD59-A6C34878D82A}">
                    <a16:rowId xmlns:a16="http://schemas.microsoft.com/office/drawing/2014/main" val="10001"/>
                  </a:ext>
                </a:extLst>
              </a:tr>
              <a:tr h="1909598">
                <a:tc>
                  <a:txBody>
                    <a:bodyPr/>
                    <a:lstStyle/>
                    <a:p>
                      <a:pPr algn="ctr" fontAlgn="ctr"/>
                      <a:r>
                        <a:rPr lang="en-IN" sz="1600" kern="1200">
                          <a:solidFill>
                            <a:schemeClr val="dk1"/>
                          </a:solidFill>
                          <a:effectLst/>
                          <a:latin typeface="Times New Roman" panose="02020603050405020304" pitchFamily="18" charset="0"/>
                          <a:ea typeface="+mn-ea"/>
                          <a:cs typeface="Times New Roman" panose="02020603050405020304" pitchFamily="18" charset="0"/>
                        </a:rPr>
                        <a:t>2</a:t>
                      </a:r>
                    </a:p>
                  </a:txBody>
                  <a:tcPr marL="7620" marR="7620" marT="7620" marB="0" anchor="ctr"/>
                </a:tc>
                <a:tc>
                  <a:txBody>
                    <a:bodyPr/>
                    <a:lstStyle/>
                    <a:p>
                      <a:pPr algn="ctr" fontAlgn="ctr"/>
                      <a:r>
                        <a:rPr lang="en-US" sz="1600" kern="1200" dirty="0">
                          <a:solidFill>
                            <a:schemeClr val="dk1"/>
                          </a:solidFill>
                          <a:effectLst/>
                          <a:latin typeface="Times New Roman" panose="02020603050405020304" pitchFamily="18" charset="0"/>
                          <a:ea typeface="+mn-ea"/>
                          <a:cs typeface="Times New Roman" panose="02020603050405020304" pitchFamily="18" charset="0"/>
                        </a:rPr>
                        <a:t>"Factors Influencing Merchant Adoption of Mobile Payments"</a:t>
                      </a:r>
                    </a:p>
                  </a:txBody>
                  <a:tcPr marL="7620" marR="7620" marT="762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P. Gupta and A. Verma, </a:t>
                      </a:r>
                      <a:endParaRPr lang="en-US" sz="1600" kern="1200" dirty="0">
                        <a:solidFill>
                          <a:schemeClr val="dk1"/>
                        </a:solidFill>
                        <a:effectLst/>
                        <a:latin typeface="Times New Roman" panose="02020603050405020304" pitchFamily="18" charset="0"/>
                        <a:ea typeface="+mn-ea"/>
                        <a:cs typeface="Times New Roman" panose="02020603050405020304" pitchFamily="18" charset="0"/>
                      </a:endParaRPr>
                    </a:p>
                    <a:p>
                      <a:pPr algn="ctr" fontAlgn="ctr"/>
                      <a:endParaRPr lang="en-US"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algn="ctr" fontAlgn="ctr"/>
                      <a:r>
                        <a:rPr lang="en-US" sz="1600" kern="1200" dirty="0">
                          <a:solidFill>
                            <a:schemeClr val="dk1"/>
                          </a:solidFill>
                          <a:effectLst/>
                          <a:latin typeface="Times New Roman" panose="02020603050405020304" pitchFamily="18" charset="0"/>
                          <a:ea typeface="+mn-ea"/>
                          <a:cs typeface="Times New Roman" panose="02020603050405020304" pitchFamily="18" charset="0"/>
                        </a:rPr>
                        <a:t>Identifying key factors affecting merchant adoption decisions.</a:t>
                      </a:r>
                    </a:p>
                  </a:txBody>
                  <a:tcPr marL="7620" marR="7620" marT="7620" marB="0" anchor="ctr"/>
                </a:tc>
                <a:tc>
                  <a:txBody>
                    <a:bodyPr/>
                    <a:lstStyle/>
                    <a:p>
                      <a:pPr algn="ctr" fontAlgn="ctr"/>
                      <a:r>
                        <a:rPr lang="en-IN" sz="1600" kern="1200" dirty="0">
                          <a:solidFill>
                            <a:schemeClr val="dk1"/>
                          </a:solidFill>
                          <a:effectLst/>
                          <a:latin typeface="Times New Roman" panose="02020603050405020304" pitchFamily="18" charset="0"/>
                          <a:ea typeface="+mn-ea"/>
                          <a:cs typeface="Times New Roman" panose="02020603050405020304" pitchFamily="18" charset="0"/>
                        </a:rPr>
                        <a:t>UTAUT Model, Regression Analysis</a:t>
                      </a:r>
                    </a:p>
                  </a:txBody>
                  <a:tcPr marL="7620" marR="7620" marT="7620" marB="0" anchor="ctr"/>
                </a:tc>
                <a:tc>
                  <a:txBody>
                    <a:bodyPr/>
                    <a:lstStyle/>
                    <a:p>
                      <a:pPr algn="ctr" fontAlgn="ctr"/>
                      <a:r>
                        <a:rPr lang="en-US" sz="1600" kern="1200" dirty="0">
                          <a:solidFill>
                            <a:schemeClr val="dk1"/>
                          </a:solidFill>
                          <a:effectLst/>
                          <a:latin typeface="Times New Roman" panose="02020603050405020304" pitchFamily="18" charset="0"/>
                          <a:ea typeface="+mn-ea"/>
                          <a:cs typeface="Times New Roman" panose="02020603050405020304" pitchFamily="18" charset="0"/>
                        </a:rPr>
                        <a:t>2021</a:t>
                      </a:r>
                    </a:p>
                  </a:txBody>
                  <a:tcPr marL="7620" marR="7620" marT="7620" marB="0" anchor="ctr"/>
                </a:tc>
                <a:extLst>
                  <a:ext uri="{0D108BD9-81ED-4DB2-BD59-A6C34878D82A}">
                    <a16:rowId xmlns:a16="http://schemas.microsoft.com/office/drawing/2014/main" val="1000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nvGraphicFramePr>
        <p:xfrm>
          <a:off x="609600" y="657193"/>
          <a:ext cx="11150080" cy="5385044"/>
        </p:xfrm>
        <a:graphic>
          <a:graphicData uri="http://schemas.openxmlformats.org/drawingml/2006/table">
            <a:tbl>
              <a:tblPr firstRow="1" bandRow="1">
                <a:tableStyleId>{5C22544A-7EE6-4342-B048-85BDC9FD1C3A}</a:tableStyleId>
              </a:tblPr>
              <a:tblGrid>
                <a:gridCol w="485192">
                  <a:extLst>
                    <a:ext uri="{9D8B030D-6E8A-4147-A177-3AD203B41FA5}">
                      <a16:colId xmlns:a16="http://schemas.microsoft.com/office/drawing/2014/main" val="20000"/>
                    </a:ext>
                  </a:extLst>
                </a:gridCol>
                <a:gridCol w="2920481">
                  <a:extLst>
                    <a:ext uri="{9D8B030D-6E8A-4147-A177-3AD203B41FA5}">
                      <a16:colId xmlns:a16="http://schemas.microsoft.com/office/drawing/2014/main" val="20001"/>
                    </a:ext>
                  </a:extLst>
                </a:gridCol>
                <a:gridCol w="1754155">
                  <a:extLst>
                    <a:ext uri="{9D8B030D-6E8A-4147-A177-3AD203B41FA5}">
                      <a16:colId xmlns:a16="http://schemas.microsoft.com/office/drawing/2014/main" val="20002"/>
                    </a:ext>
                  </a:extLst>
                </a:gridCol>
                <a:gridCol w="2245568">
                  <a:extLst>
                    <a:ext uri="{9D8B030D-6E8A-4147-A177-3AD203B41FA5}">
                      <a16:colId xmlns:a16="http://schemas.microsoft.com/office/drawing/2014/main" val="20003"/>
                    </a:ext>
                  </a:extLst>
                </a:gridCol>
                <a:gridCol w="1682620">
                  <a:extLst>
                    <a:ext uri="{9D8B030D-6E8A-4147-A177-3AD203B41FA5}">
                      <a16:colId xmlns:a16="http://schemas.microsoft.com/office/drawing/2014/main" val="20004"/>
                    </a:ext>
                  </a:extLst>
                </a:gridCol>
                <a:gridCol w="2062064">
                  <a:extLst>
                    <a:ext uri="{9D8B030D-6E8A-4147-A177-3AD203B41FA5}">
                      <a16:colId xmlns:a16="http://schemas.microsoft.com/office/drawing/2014/main" val="20005"/>
                    </a:ext>
                  </a:extLst>
                </a:gridCol>
              </a:tblGrid>
              <a:tr h="1251061">
                <a:tc>
                  <a:txBody>
                    <a:bodyPr/>
                    <a:lstStyle/>
                    <a:p>
                      <a:r>
                        <a:rPr lang="en-US" dirty="0"/>
                        <a:t>S. No</a:t>
                      </a:r>
                    </a:p>
                  </a:txBody>
                  <a:tcPr/>
                </a:tc>
                <a:tc>
                  <a:txBody>
                    <a:bodyPr/>
                    <a:lstStyle/>
                    <a:p>
                      <a:pPr algn="ctr"/>
                      <a:r>
                        <a:rPr lang="en-US" dirty="0"/>
                        <a:t>Title of the Paper</a:t>
                      </a:r>
                    </a:p>
                  </a:txBody>
                  <a:tcPr/>
                </a:tc>
                <a:tc>
                  <a:txBody>
                    <a:bodyPr/>
                    <a:lstStyle/>
                    <a:p>
                      <a:pPr algn="ctr"/>
                      <a:r>
                        <a:rPr lang="en-US" dirty="0"/>
                        <a:t>Author Names</a:t>
                      </a:r>
                    </a:p>
                  </a:txBody>
                  <a:tcPr/>
                </a:tc>
                <a:tc>
                  <a:txBody>
                    <a:bodyPr/>
                    <a:lstStyle/>
                    <a:p>
                      <a:pPr algn="ctr"/>
                      <a:r>
                        <a:rPr lang="en-US" dirty="0"/>
                        <a:t>Problem</a:t>
                      </a:r>
                      <a:r>
                        <a:rPr lang="en-US" baseline="0" dirty="0"/>
                        <a:t> Statement</a:t>
                      </a:r>
                      <a:endParaRPr lang="en-US" dirty="0"/>
                    </a:p>
                  </a:txBody>
                  <a:tcPr/>
                </a:tc>
                <a:tc>
                  <a:txBody>
                    <a:bodyPr/>
                    <a:lstStyle/>
                    <a:p>
                      <a:pPr algn="ctr"/>
                      <a:r>
                        <a:rPr lang="en-US" dirty="0"/>
                        <a:t>Method/</a:t>
                      </a:r>
                      <a:r>
                        <a:rPr lang="en-US" baseline="0" dirty="0"/>
                        <a:t> Algorithm Used </a:t>
                      </a:r>
                      <a:endParaRPr lang="en-US" dirty="0"/>
                    </a:p>
                  </a:txBody>
                  <a:tcPr/>
                </a:tc>
                <a:tc>
                  <a:txBody>
                    <a:bodyPr/>
                    <a:lstStyle/>
                    <a:p>
                      <a:pPr algn="ctr"/>
                      <a:r>
                        <a:rPr lang="en-US" dirty="0"/>
                        <a:t>Year of Published</a:t>
                      </a:r>
                    </a:p>
                  </a:txBody>
                  <a:tcPr/>
                </a:tc>
                <a:extLst>
                  <a:ext uri="{0D108BD9-81ED-4DB2-BD59-A6C34878D82A}">
                    <a16:rowId xmlns:a16="http://schemas.microsoft.com/office/drawing/2014/main" val="10000"/>
                  </a:ext>
                </a:extLst>
              </a:tr>
              <a:tr h="2224385">
                <a:tc>
                  <a:txBody>
                    <a:bodyPr/>
                    <a:lstStyle/>
                    <a:p>
                      <a:pPr algn="ctr" fontAlgn="ctr"/>
                      <a:r>
                        <a:rPr lang="en-IN" sz="1600" kern="1200" dirty="0">
                          <a:solidFill>
                            <a:schemeClr val="dk1"/>
                          </a:solidFill>
                          <a:effectLst/>
                          <a:latin typeface="Times New Roman" panose="02020603050405020304" pitchFamily="18" charset="0"/>
                          <a:ea typeface="+mn-ea"/>
                          <a:cs typeface="Times New Roman" panose="02020603050405020304" pitchFamily="18" charset="0"/>
                        </a:rPr>
                        <a:t>3</a:t>
                      </a:r>
                    </a:p>
                  </a:txBody>
                  <a:tcPr marL="7620" marR="7620" marT="7620" marB="0" anchor="ctr"/>
                </a:tc>
                <a:tc>
                  <a:txBody>
                    <a:bodyPr/>
                    <a:lstStyle/>
                    <a:p>
                      <a:pPr algn="ctr" fontAlgn="ctr"/>
                      <a:r>
                        <a:rPr lang="en-US" sz="1600" kern="1200" dirty="0">
                          <a:solidFill>
                            <a:schemeClr val="dk1"/>
                          </a:solidFill>
                          <a:effectLst/>
                          <a:latin typeface="Times New Roman" panose="02020603050405020304" pitchFamily="18" charset="0"/>
                          <a:ea typeface="+mn-ea"/>
                          <a:cs typeface="Times New Roman" panose="02020603050405020304" pitchFamily="18" charset="0"/>
                        </a:rPr>
                        <a:t>"Predicting Digital Payment Platform Adoption Using Machine Learning"</a:t>
                      </a:r>
                    </a:p>
                  </a:txBody>
                  <a:tcPr marL="7620" marR="7620" marT="7620" marB="0" anchor="ctr"/>
                </a:tc>
                <a:tc>
                  <a:txBody>
                    <a:bodyPr/>
                    <a:lstStyle/>
                    <a:p>
                      <a:pPr algn="ctr" fontAlgn="ct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S. </a:t>
                      </a:r>
                      <a:r>
                        <a:rPr lang="en-IN" sz="1600" dirty="0" err="1">
                          <a:effectLst/>
                          <a:latin typeface="Times New Roman" panose="02020603050405020304" pitchFamily="18" charset="0"/>
                          <a:ea typeface="Times New Roman" panose="02020603050405020304" pitchFamily="18" charset="0"/>
                          <a:cs typeface="Times New Roman" panose="02020603050405020304" pitchFamily="18" charset="0"/>
                        </a:rPr>
                        <a:t>Rautaray</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and A. Agrawal, </a:t>
                      </a:r>
                      <a:endParaRPr lang="en-US"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algn="ctr" fontAlgn="ctr"/>
                      <a:r>
                        <a:rPr lang="en-US" sz="1600" kern="1200" dirty="0">
                          <a:solidFill>
                            <a:schemeClr val="dk1"/>
                          </a:solidFill>
                          <a:effectLst/>
                          <a:latin typeface="Times New Roman" panose="02020603050405020304" pitchFamily="18" charset="0"/>
                          <a:ea typeface="+mn-ea"/>
                          <a:cs typeface="Times New Roman" panose="02020603050405020304" pitchFamily="18" charset="0"/>
                        </a:rPr>
                        <a:t>Difficulty in predicting vendor adoption behavior accurately.</a:t>
                      </a:r>
                    </a:p>
                  </a:txBody>
                  <a:tcPr marL="7620" marR="7620" marT="7620" marB="0" anchor="ctr"/>
                </a:tc>
                <a:tc>
                  <a:txBody>
                    <a:bodyPr/>
                    <a:lstStyle/>
                    <a:p>
                      <a:pPr algn="ctr" fontAlgn="ctr"/>
                      <a:r>
                        <a:rPr lang="en-IN" sz="1600" kern="1200" dirty="0">
                          <a:solidFill>
                            <a:schemeClr val="dk1"/>
                          </a:solidFill>
                          <a:effectLst/>
                          <a:latin typeface="Times New Roman" panose="02020603050405020304" pitchFamily="18" charset="0"/>
                          <a:ea typeface="+mn-ea"/>
                          <a:cs typeface="Times New Roman" panose="02020603050405020304" pitchFamily="18" charset="0"/>
                        </a:rPr>
                        <a:t>SVM, Decision Tree (88%)</a:t>
                      </a:r>
                    </a:p>
                  </a:txBody>
                  <a:tcPr marL="7620" marR="7620" marT="7620" marB="0" anchor="ctr"/>
                </a:tc>
                <a:tc>
                  <a:txBody>
                    <a:bodyPr/>
                    <a:lstStyle/>
                    <a:p>
                      <a:pPr algn="ctr" fontAlgn="ctr"/>
                      <a:r>
                        <a:rPr lang="en-US" sz="1600" kern="1200" dirty="0">
                          <a:solidFill>
                            <a:schemeClr val="dk1"/>
                          </a:solidFill>
                          <a:effectLst/>
                          <a:latin typeface="Times New Roman" panose="02020603050405020304" pitchFamily="18" charset="0"/>
                          <a:ea typeface="+mn-ea"/>
                          <a:cs typeface="Times New Roman" panose="02020603050405020304" pitchFamily="18" charset="0"/>
                        </a:rPr>
                        <a:t>2022</a:t>
                      </a:r>
                    </a:p>
                  </a:txBody>
                  <a:tcPr marL="7620" marR="7620" marT="7620" marB="0" anchor="ctr"/>
                </a:tc>
                <a:extLst>
                  <a:ext uri="{0D108BD9-81ED-4DB2-BD59-A6C34878D82A}">
                    <a16:rowId xmlns:a16="http://schemas.microsoft.com/office/drawing/2014/main" val="10001"/>
                  </a:ext>
                </a:extLst>
              </a:tr>
              <a:tr h="1909598">
                <a:tc>
                  <a:txBody>
                    <a:bodyPr/>
                    <a:lstStyle/>
                    <a:p>
                      <a:pPr algn="ctr" fontAlgn="ctr"/>
                      <a:r>
                        <a:rPr lang="en-IN" sz="1600" kern="1200" dirty="0">
                          <a:solidFill>
                            <a:schemeClr val="dk1"/>
                          </a:solidFill>
                          <a:effectLst/>
                          <a:latin typeface="Times New Roman" panose="02020603050405020304" pitchFamily="18" charset="0"/>
                          <a:ea typeface="+mn-ea"/>
                          <a:cs typeface="Times New Roman" panose="02020603050405020304" pitchFamily="18" charset="0"/>
                        </a:rPr>
                        <a:t>4</a:t>
                      </a:r>
                    </a:p>
                  </a:txBody>
                  <a:tcPr marL="7620" marR="7620" marT="7620" marB="0" anchor="ctr"/>
                </a:tc>
                <a:tc>
                  <a:txBody>
                    <a:bodyPr/>
                    <a:lstStyle/>
                    <a:p>
                      <a:pPr algn="ctr" fontAlgn="ctr"/>
                      <a:r>
                        <a:rPr lang="en-US" sz="1600" kern="1200" dirty="0">
                          <a:solidFill>
                            <a:schemeClr val="dk1"/>
                          </a:solidFill>
                          <a:effectLst/>
                          <a:latin typeface="Times New Roman" panose="02020603050405020304" pitchFamily="18" charset="0"/>
                          <a:ea typeface="+mn-ea"/>
                          <a:cs typeface="Times New Roman" panose="02020603050405020304" pitchFamily="18" charset="0"/>
                        </a:rPr>
                        <a:t>"Retail Vendor Digital Payment Adoption: A Data Mining Approach"</a:t>
                      </a:r>
                    </a:p>
                  </a:txBody>
                  <a:tcPr marL="7620" marR="7620" marT="762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K. Mohan and V. Reddy, </a:t>
                      </a:r>
                      <a:endParaRPr lang="en-US" sz="1600" kern="1200" dirty="0">
                        <a:solidFill>
                          <a:schemeClr val="dk1"/>
                        </a:solidFill>
                        <a:effectLst/>
                        <a:latin typeface="Times New Roman" panose="02020603050405020304" pitchFamily="18" charset="0"/>
                        <a:ea typeface="+mn-ea"/>
                        <a:cs typeface="Times New Roman" panose="02020603050405020304" pitchFamily="18" charset="0"/>
                      </a:endParaRPr>
                    </a:p>
                    <a:p>
                      <a:pPr algn="ctr" fontAlgn="ctr"/>
                      <a:endParaRPr lang="en-US"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algn="ctr" fontAlgn="ctr"/>
                      <a:r>
                        <a:rPr lang="en-US" sz="1600" kern="1200" dirty="0">
                          <a:solidFill>
                            <a:schemeClr val="dk1"/>
                          </a:solidFill>
                          <a:effectLst/>
                          <a:latin typeface="Times New Roman" panose="02020603050405020304" pitchFamily="18" charset="0"/>
                          <a:ea typeface="+mn-ea"/>
                          <a:cs typeface="Times New Roman" panose="02020603050405020304" pitchFamily="18" charset="0"/>
                        </a:rPr>
                        <a:t>Limited use of data mining in merchant adoption analysis.</a:t>
                      </a:r>
                    </a:p>
                  </a:txBody>
                  <a:tcPr marL="7620" marR="7620" marT="762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IN" sz="1600" kern="1200" dirty="0">
                          <a:solidFill>
                            <a:schemeClr val="dk1"/>
                          </a:solidFill>
                          <a:effectLst/>
                          <a:latin typeface="Times New Roman" panose="02020603050405020304" pitchFamily="18" charset="0"/>
                          <a:ea typeface="+mn-ea"/>
                          <a:cs typeface="Times New Roman" panose="02020603050405020304" pitchFamily="18" charset="0"/>
                        </a:rPr>
                        <a:t>Decision Tree, Clustering(85%)</a:t>
                      </a:r>
                    </a:p>
                    <a:p>
                      <a:pPr algn="ctr" fontAlgn="ct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algn="ctr" fontAlgn="ctr"/>
                      <a:r>
                        <a:rPr lang="en-US" sz="1600" kern="1200" dirty="0">
                          <a:solidFill>
                            <a:schemeClr val="dk1"/>
                          </a:solidFill>
                          <a:effectLst/>
                          <a:latin typeface="Times New Roman" panose="02020603050405020304" pitchFamily="18" charset="0"/>
                          <a:ea typeface="+mn-ea"/>
                          <a:cs typeface="Times New Roman" panose="02020603050405020304" pitchFamily="18" charset="0"/>
                        </a:rPr>
                        <a:t>2022</a:t>
                      </a:r>
                    </a:p>
                  </a:txBody>
                  <a:tcPr marL="7620" marR="7620" marT="7620" marB="0" anchor="ctr"/>
                </a:tc>
                <a:extLst>
                  <a:ext uri="{0D108BD9-81ED-4DB2-BD59-A6C34878D82A}">
                    <a16:rowId xmlns:a16="http://schemas.microsoft.com/office/drawing/2014/main" val="1000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520960" y="736478"/>
          <a:ext cx="11150080" cy="5385044"/>
        </p:xfrm>
        <a:graphic>
          <a:graphicData uri="http://schemas.openxmlformats.org/drawingml/2006/table">
            <a:tbl>
              <a:tblPr firstRow="1" bandRow="1">
                <a:tableStyleId>{5C22544A-7EE6-4342-B048-85BDC9FD1C3A}</a:tableStyleId>
              </a:tblPr>
              <a:tblGrid>
                <a:gridCol w="485192">
                  <a:extLst>
                    <a:ext uri="{9D8B030D-6E8A-4147-A177-3AD203B41FA5}">
                      <a16:colId xmlns:a16="http://schemas.microsoft.com/office/drawing/2014/main" val="20000"/>
                    </a:ext>
                  </a:extLst>
                </a:gridCol>
                <a:gridCol w="2920481">
                  <a:extLst>
                    <a:ext uri="{9D8B030D-6E8A-4147-A177-3AD203B41FA5}">
                      <a16:colId xmlns:a16="http://schemas.microsoft.com/office/drawing/2014/main" val="20001"/>
                    </a:ext>
                  </a:extLst>
                </a:gridCol>
                <a:gridCol w="1754155">
                  <a:extLst>
                    <a:ext uri="{9D8B030D-6E8A-4147-A177-3AD203B41FA5}">
                      <a16:colId xmlns:a16="http://schemas.microsoft.com/office/drawing/2014/main" val="20002"/>
                    </a:ext>
                  </a:extLst>
                </a:gridCol>
                <a:gridCol w="2236206">
                  <a:extLst>
                    <a:ext uri="{9D8B030D-6E8A-4147-A177-3AD203B41FA5}">
                      <a16:colId xmlns:a16="http://schemas.microsoft.com/office/drawing/2014/main" val="20003"/>
                    </a:ext>
                  </a:extLst>
                </a:gridCol>
                <a:gridCol w="1691982">
                  <a:extLst>
                    <a:ext uri="{9D8B030D-6E8A-4147-A177-3AD203B41FA5}">
                      <a16:colId xmlns:a16="http://schemas.microsoft.com/office/drawing/2014/main" val="20004"/>
                    </a:ext>
                  </a:extLst>
                </a:gridCol>
                <a:gridCol w="2062064">
                  <a:extLst>
                    <a:ext uri="{9D8B030D-6E8A-4147-A177-3AD203B41FA5}">
                      <a16:colId xmlns:a16="http://schemas.microsoft.com/office/drawing/2014/main" val="20005"/>
                    </a:ext>
                  </a:extLst>
                </a:gridCol>
              </a:tblGrid>
              <a:tr h="1251061">
                <a:tc>
                  <a:txBody>
                    <a:bodyPr/>
                    <a:lstStyle/>
                    <a:p>
                      <a:r>
                        <a:rPr lang="en-US" dirty="0"/>
                        <a:t>S. No</a:t>
                      </a:r>
                    </a:p>
                  </a:txBody>
                  <a:tcPr/>
                </a:tc>
                <a:tc>
                  <a:txBody>
                    <a:bodyPr/>
                    <a:lstStyle/>
                    <a:p>
                      <a:pPr algn="ctr"/>
                      <a:r>
                        <a:rPr lang="en-US" dirty="0"/>
                        <a:t>Title of the Paper</a:t>
                      </a:r>
                    </a:p>
                  </a:txBody>
                  <a:tcPr/>
                </a:tc>
                <a:tc>
                  <a:txBody>
                    <a:bodyPr/>
                    <a:lstStyle/>
                    <a:p>
                      <a:pPr algn="ctr"/>
                      <a:r>
                        <a:rPr lang="en-US" dirty="0"/>
                        <a:t>Author Names</a:t>
                      </a:r>
                    </a:p>
                  </a:txBody>
                  <a:tcPr/>
                </a:tc>
                <a:tc>
                  <a:txBody>
                    <a:bodyPr/>
                    <a:lstStyle/>
                    <a:p>
                      <a:pPr algn="ctr"/>
                      <a:r>
                        <a:rPr lang="en-US" dirty="0"/>
                        <a:t>Problem</a:t>
                      </a:r>
                      <a:r>
                        <a:rPr lang="en-US" baseline="0" dirty="0"/>
                        <a:t> Statement</a:t>
                      </a:r>
                      <a:endParaRPr lang="en-US" dirty="0"/>
                    </a:p>
                  </a:txBody>
                  <a:tcPr/>
                </a:tc>
                <a:tc>
                  <a:txBody>
                    <a:bodyPr/>
                    <a:lstStyle/>
                    <a:p>
                      <a:pPr algn="ctr"/>
                      <a:r>
                        <a:rPr lang="en-US" dirty="0"/>
                        <a:t>Method/</a:t>
                      </a:r>
                      <a:r>
                        <a:rPr lang="en-US" baseline="0" dirty="0"/>
                        <a:t> Algorithm Used </a:t>
                      </a:r>
                      <a:endParaRPr lang="en-US" dirty="0"/>
                    </a:p>
                  </a:txBody>
                  <a:tcPr/>
                </a:tc>
                <a:tc>
                  <a:txBody>
                    <a:bodyPr/>
                    <a:lstStyle/>
                    <a:p>
                      <a:pPr algn="ctr"/>
                      <a:r>
                        <a:rPr lang="en-US" dirty="0"/>
                        <a:t>Year of Published</a:t>
                      </a:r>
                    </a:p>
                  </a:txBody>
                  <a:tcPr/>
                </a:tc>
                <a:extLst>
                  <a:ext uri="{0D108BD9-81ED-4DB2-BD59-A6C34878D82A}">
                    <a16:rowId xmlns:a16="http://schemas.microsoft.com/office/drawing/2014/main" val="10000"/>
                  </a:ext>
                </a:extLst>
              </a:tr>
              <a:tr h="2224385">
                <a:tc>
                  <a:txBody>
                    <a:bodyPr/>
                    <a:lstStyle/>
                    <a:p>
                      <a:pPr algn="ctr" fontAlgn="ctr"/>
                      <a:r>
                        <a:rPr lang="en-US" sz="1600" kern="1200" dirty="0">
                          <a:solidFill>
                            <a:schemeClr val="dk1"/>
                          </a:solidFill>
                          <a:effectLst/>
                          <a:latin typeface="Times New Roman" panose="02020603050405020304" pitchFamily="18" charset="0"/>
                          <a:ea typeface="+mn-ea"/>
                          <a:cs typeface="Times New Roman" panose="02020603050405020304" pitchFamily="18" charset="0"/>
                        </a:rPr>
                        <a:t>5</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algn="ctr" fontAlgn="ctr"/>
                      <a:r>
                        <a:rPr lang="en-US" sz="1600" kern="1200" dirty="0">
                          <a:solidFill>
                            <a:schemeClr val="dk1"/>
                          </a:solidFill>
                          <a:effectLst/>
                          <a:latin typeface="Times New Roman" panose="02020603050405020304" pitchFamily="18" charset="0"/>
                          <a:ea typeface="+mn-ea"/>
                          <a:cs typeface="Times New Roman" panose="02020603050405020304" pitchFamily="18" charset="0"/>
                        </a:rPr>
                        <a:t>"Adoption of UPI Payments by Small Retailers"</a:t>
                      </a:r>
                    </a:p>
                  </a:txBody>
                  <a:tcPr marL="7620" marR="7620" marT="7620" marB="0" anchor="ctr"/>
                </a:tc>
                <a:tc>
                  <a:txBody>
                    <a:bodyPr/>
                    <a:lstStyle/>
                    <a:p>
                      <a:pPr algn="ctr" fontAlgn="ct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M. Rao and T. Iyer, </a:t>
                      </a:r>
                      <a:endParaRPr lang="en-US"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algn="ctr" fontAlgn="ctr"/>
                      <a:r>
                        <a:rPr lang="en-US" sz="1600" kern="1200" dirty="0">
                          <a:solidFill>
                            <a:schemeClr val="dk1"/>
                          </a:solidFill>
                          <a:effectLst/>
                          <a:latin typeface="Times New Roman" panose="02020603050405020304" pitchFamily="18" charset="0"/>
                          <a:ea typeface="+mn-ea"/>
                          <a:cs typeface="Times New Roman" panose="02020603050405020304" pitchFamily="18" charset="0"/>
                        </a:rPr>
                        <a:t>Trust and security concerns affecting UPI adoption.</a:t>
                      </a:r>
                    </a:p>
                  </a:txBody>
                  <a:tcPr marL="7620" marR="7620" marT="7620" marB="0" anchor="ctr"/>
                </a:tc>
                <a:tc>
                  <a:txBody>
                    <a:bodyPr/>
                    <a:lstStyle/>
                    <a:p>
                      <a:pPr algn="ctr" fontAlgn="ctr"/>
                      <a:r>
                        <a:rPr lang="en-IN" sz="1600" kern="1200" dirty="0">
                          <a:solidFill>
                            <a:schemeClr val="dk1"/>
                          </a:solidFill>
                          <a:effectLst/>
                          <a:latin typeface="Times New Roman" panose="02020603050405020304" pitchFamily="18" charset="0"/>
                          <a:ea typeface="+mn-ea"/>
                          <a:cs typeface="Times New Roman" panose="02020603050405020304" pitchFamily="18" charset="0"/>
                        </a:rPr>
                        <a:t>Statistical Analysis, K-Means</a:t>
                      </a:r>
                    </a:p>
                  </a:txBody>
                  <a:tcPr marL="7620" marR="7620" marT="7620" marB="0" anchor="ctr"/>
                </a:tc>
                <a:tc>
                  <a:txBody>
                    <a:bodyPr/>
                    <a:lstStyle/>
                    <a:p>
                      <a:pPr algn="ctr" fontAlgn="ctr"/>
                      <a:r>
                        <a:rPr lang="en-US" sz="1600" kern="1200" dirty="0">
                          <a:solidFill>
                            <a:schemeClr val="dk1"/>
                          </a:solidFill>
                          <a:effectLst/>
                          <a:latin typeface="Times New Roman" panose="02020603050405020304" pitchFamily="18" charset="0"/>
                          <a:ea typeface="+mn-ea"/>
                          <a:cs typeface="Times New Roman" panose="02020603050405020304" pitchFamily="18" charset="0"/>
                        </a:rPr>
                        <a:t>2022</a:t>
                      </a:r>
                    </a:p>
                  </a:txBody>
                  <a:tcPr marL="7620" marR="7620" marT="7620" marB="0" anchor="ctr"/>
                </a:tc>
                <a:extLst>
                  <a:ext uri="{0D108BD9-81ED-4DB2-BD59-A6C34878D82A}">
                    <a16:rowId xmlns:a16="http://schemas.microsoft.com/office/drawing/2014/main" val="10001"/>
                  </a:ext>
                </a:extLst>
              </a:tr>
              <a:tr h="1909598">
                <a:tc>
                  <a:txBody>
                    <a:bodyPr/>
                    <a:lstStyle/>
                    <a:p>
                      <a:pPr algn="ctr" fontAlgn="ctr"/>
                      <a:r>
                        <a:rPr lang="en-US" sz="1600" kern="1200" dirty="0">
                          <a:solidFill>
                            <a:schemeClr val="dk1"/>
                          </a:solidFill>
                          <a:effectLst/>
                          <a:latin typeface="Times New Roman" panose="02020603050405020304" pitchFamily="18" charset="0"/>
                          <a:ea typeface="+mn-ea"/>
                          <a:cs typeface="Times New Roman" panose="02020603050405020304" pitchFamily="18" charset="0"/>
                        </a:rPr>
                        <a:t>6</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algn="ctr" fontAlgn="ctr"/>
                      <a:r>
                        <a:rPr lang="en-US" sz="1600" kern="1200" dirty="0">
                          <a:solidFill>
                            <a:schemeClr val="dk1"/>
                          </a:solidFill>
                          <a:effectLst/>
                          <a:latin typeface="Times New Roman" panose="02020603050405020304" pitchFamily="18" charset="0"/>
                          <a:ea typeface="+mn-ea"/>
                          <a:cs typeface="Times New Roman" panose="02020603050405020304" pitchFamily="18" charset="0"/>
                        </a:rPr>
                        <a:t>"Predicting Merchant Acceptance of Digital Wallets"</a:t>
                      </a:r>
                    </a:p>
                  </a:txBody>
                  <a:tcPr marL="7620" marR="7620" marT="762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A. Mehta and R. Nair, </a:t>
                      </a:r>
                      <a:endParaRPr lang="en-US" sz="1600" kern="1200" dirty="0">
                        <a:solidFill>
                          <a:schemeClr val="dk1"/>
                        </a:solidFill>
                        <a:effectLst/>
                        <a:latin typeface="Times New Roman" panose="02020603050405020304" pitchFamily="18" charset="0"/>
                        <a:ea typeface="+mn-ea"/>
                        <a:cs typeface="Times New Roman" panose="02020603050405020304" pitchFamily="18" charset="0"/>
                      </a:endParaRPr>
                    </a:p>
                    <a:p>
                      <a:pPr algn="ctr" fontAlgn="ctr"/>
                      <a:endParaRPr lang="en-US"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algn="ctr" fontAlgn="ctr"/>
                      <a:r>
                        <a:rPr lang="en-US" sz="1600" kern="1200" dirty="0">
                          <a:solidFill>
                            <a:schemeClr val="dk1"/>
                          </a:solidFill>
                          <a:effectLst/>
                          <a:latin typeface="Times New Roman" panose="02020603050405020304" pitchFamily="18" charset="0"/>
                          <a:ea typeface="+mn-ea"/>
                          <a:cs typeface="Times New Roman" panose="02020603050405020304" pitchFamily="18" charset="0"/>
                        </a:rPr>
                        <a:t>Need for automated prediction of digital wallet acceptance.</a:t>
                      </a:r>
                    </a:p>
                  </a:txBody>
                  <a:tcPr marL="7620" marR="7620" marT="7620" marB="0" anchor="ctr"/>
                </a:tc>
                <a:tc>
                  <a:txBody>
                    <a:bodyPr/>
                    <a:lstStyle/>
                    <a:p>
                      <a:pPr algn="ctr" fontAlgn="ctr"/>
                      <a:r>
                        <a:rPr lang="en-IN" sz="1600" kern="1200" dirty="0">
                          <a:solidFill>
                            <a:schemeClr val="dk1"/>
                          </a:solidFill>
                          <a:effectLst/>
                          <a:latin typeface="Times New Roman" panose="02020603050405020304" pitchFamily="18" charset="0"/>
                          <a:ea typeface="+mn-ea"/>
                          <a:cs typeface="Times New Roman" panose="02020603050405020304" pitchFamily="18" charset="0"/>
                        </a:rPr>
                        <a:t>Naïve Bayes, SVM (87%)</a:t>
                      </a:r>
                    </a:p>
                  </a:txBody>
                  <a:tcPr marL="7620" marR="7620" marT="7620" marB="0" anchor="ctr"/>
                </a:tc>
                <a:tc>
                  <a:txBody>
                    <a:bodyPr/>
                    <a:lstStyle/>
                    <a:p>
                      <a:pPr algn="ctr" fontAlgn="ctr"/>
                      <a:r>
                        <a:rPr lang="en-US" sz="1600" kern="1200" dirty="0">
                          <a:solidFill>
                            <a:schemeClr val="dk1"/>
                          </a:solidFill>
                          <a:effectLst/>
                          <a:latin typeface="Times New Roman" panose="02020603050405020304" pitchFamily="18" charset="0"/>
                          <a:ea typeface="+mn-ea"/>
                          <a:cs typeface="Times New Roman" panose="02020603050405020304" pitchFamily="18" charset="0"/>
                        </a:rPr>
                        <a:t>2023</a:t>
                      </a:r>
                    </a:p>
                  </a:txBody>
                  <a:tcPr marL="7620" marR="7620" marT="7620" marB="0" anchor="ctr"/>
                </a:tc>
                <a:extLst>
                  <a:ext uri="{0D108BD9-81ED-4DB2-BD59-A6C34878D82A}">
                    <a16:rowId xmlns:a16="http://schemas.microsoft.com/office/drawing/2014/main" val="1000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5521" y="614384"/>
            <a:ext cx="9286993" cy="778988"/>
          </a:xfrm>
        </p:spPr>
        <p:txBody>
          <a:bodyPr>
            <a:normAutofit/>
          </a:bodyPr>
          <a:lstStyle/>
          <a:p>
            <a:pPr marL="0" indent="0" algn="ctr">
              <a:buNone/>
            </a:pPr>
            <a:r>
              <a:rPr lang="en-US" sz="3200" b="1" dirty="0">
                <a:solidFill>
                  <a:srgbClr val="6666FF"/>
                </a:solidFill>
              </a:rPr>
              <a:t>PROPOSED SYSTEM</a:t>
            </a:r>
            <a:endParaRPr lang="en-IN" sz="3200" b="1" dirty="0">
              <a:solidFill>
                <a:srgbClr val="6666FF"/>
              </a:solidFill>
            </a:endParaRPr>
          </a:p>
        </p:txBody>
      </p:sp>
      <p:sp>
        <p:nvSpPr>
          <p:cNvPr id="3" name="Content Placeholder 2"/>
          <p:cNvSpPr>
            <a:spLocks noGrp="1"/>
          </p:cNvSpPr>
          <p:nvPr>
            <p:ph sz="quarter" idx="13"/>
          </p:nvPr>
        </p:nvSpPr>
        <p:spPr>
          <a:xfrm>
            <a:off x="690282" y="1687560"/>
            <a:ext cx="10627751" cy="4825207"/>
          </a:xfrm>
          <a:prstGeom prst="rect">
            <a:avLst/>
          </a:prstGeom>
        </p:spPr>
        <p:txBody>
          <a:bodyPr>
            <a:normAutofit/>
          </a:bodyPr>
          <a:lstStyle/>
          <a:p>
            <a:pPr algn="just">
              <a:lnSpc>
                <a:spcPct val="150000"/>
              </a:lnSpc>
              <a:buFont typeface="Wingdings" panose="05000000000000000000" pitchFamily="2" charset="2"/>
              <a:buChar char="q"/>
            </a:pPr>
            <a:endParaRPr lang="en-US"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endParaRPr lang="en-US"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endParaRPr lang="en-US"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endParaRPr lang="en-US" sz="16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873967" y="1723446"/>
            <a:ext cx="10444066" cy="3577261"/>
          </a:xfrm>
          <a:prstGeom prst="rect">
            <a:avLst/>
          </a:prstGeom>
          <a:noFill/>
        </p:spPr>
        <p:txBody>
          <a:bodyPr wrap="square">
            <a:spAutoFit/>
          </a:bodyPr>
          <a:lstStyle/>
          <a:p>
            <a:pPr algn="just">
              <a:lnSpc>
                <a:spcPct val="150000"/>
              </a:lnSpc>
              <a:spcAft>
                <a:spcPts val="800"/>
              </a:spcAft>
            </a:pP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The proposed system introduces an integrated machine learning–based framework to predict digital payment platform adoption among retail vendors. Data collected from 270 retail merchants across 10 major markets in Bangalore is analysed using a combination of statistical methods and machine learning models.</a:t>
            </a:r>
          </a:p>
          <a:p>
            <a:pPr algn="just">
              <a:lnSpc>
                <a:spcPct val="150000"/>
              </a:lnSpc>
              <a:spcAft>
                <a:spcPts val="800"/>
              </a:spcAft>
            </a:pP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The system applies Exploratory Factor Analysis (EFA) to identify the most influential adoption factors such as perceived usefulness, social influence, and compatibility. These factors are then used as input features for a Support Vector Machine (SVM) model to predict the likelihood of digital payment platform adoption.</a:t>
            </a:r>
          </a:p>
          <a:p>
            <a:pPr algn="just">
              <a:lnSpc>
                <a:spcPct val="150000"/>
              </a:lnSpc>
              <a:spcAft>
                <a:spcPts val="800"/>
              </a:spcAft>
            </a:pP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In addition, the system evaluates customer satisfaction across multiple digital payment platforms and uses ARIMA time-series models on Google Trends data to forecast future adoption trends. This unified analytical approach enhances both predictive accuracy and strategic insight.</a:t>
            </a:r>
          </a:p>
        </p:txBody>
      </p:sp>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5521" y="614384"/>
            <a:ext cx="9286993" cy="778988"/>
          </a:xfrm>
        </p:spPr>
        <p:txBody>
          <a:bodyPr>
            <a:normAutofit/>
          </a:bodyPr>
          <a:lstStyle/>
          <a:p>
            <a:pPr marL="0" indent="0" algn="ctr">
              <a:buNone/>
            </a:pPr>
            <a:r>
              <a:rPr lang="en-US" sz="3200" dirty="0">
                <a:solidFill>
                  <a:srgbClr val="6666FF"/>
                </a:solidFill>
              </a:rPr>
              <a:t>ADVANTAGES OF </a:t>
            </a:r>
            <a:r>
              <a:rPr lang="en-US" sz="3200" b="1" dirty="0">
                <a:solidFill>
                  <a:srgbClr val="6666FF"/>
                </a:solidFill>
              </a:rPr>
              <a:t>PROPOSED SYSTEM</a:t>
            </a:r>
            <a:endParaRPr lang="en-IN" sz="3200" b="1" dirty="0">
              <a:solidFill>
                <a:srgbClr val="6666FF"/>
              </a:solidFill>
            </a:endParaRPr>
          </a:p>
        </p:txBody>
      </p:sp>
      <p:sp>
        <p:nvSpPr>
          <p:cNvPr id="3" name="Content Placeholder 2"/>
          <p:cNvSpPr>
            <a:spLocks noGrp="1"/>
          </p:cNvSpPr>
          <p:nvPr>
            <p:ph sz="quarter" idx="13"/>
          </p:nvPr>
        </p:nvSpPr>
        <p:spPr>
          <a:xfrm>
            <a:off x="233081" y="1631576"/>
            <a:ext cx="11761695" cy="4840941"/>
          </a:xfrm>
          <a:prstGeom prst="rect">
            <a:avLst/>
          </a:prstGeom>
        </p:spPr>
        <p:txBody>
          <a:bodyPr>
            <a:normAutofit/>
          </a:bodyPr>
          <a:lstStyle/>
          <a:p>
            <a:pPr lvl="0" algn="just">
              <a:lnSpc>
                <a:spcPct val="150000"/>
              </a:lnSpc>
            </a:pPr>
            <a:r>
              <a:rPr lang="en-US" sz="1600" b="1" dirty="0">
                <a:latin typeface="Times New Roman" panose="02020603050405020304" pitchFamily="18" charset="0"/>
                <a:cs typeface="Times New Roman" panose="02020603050405020304" pitchFamily="18" charset="0"/>
              </a:rPr>
              <a:t>Improved Predictive Accuracy</a:t>
            </a:r>
            <a:r>
              <a:rPr lang="en-US" sz="1600" dirty="0">
                <a:latin typeface="Times New Roman" panose="02020603050405020304" pitchFamily="18" charset="0"/>
                <a:cs typeface="Times New Roman" panose="02020603050405020304" pitchFamily="18" charset="0"/>
              </a:rPr>
              <a:t>: The SVM Classification model demonstrated decent performance with an </a:t>
            </a:r>
            <a:r>
              <a:rPr lang="en-US" sz="1600" b="1" dirty="0">
                <a:latin typeface="Times New Roman" panose="02020603050405020304" pitchFamily="18" charset="0"/>
                <a:cs typeface="Times New Roman" panose="02020603050405020304" pitchFamily="18" charset="0"/>
              </a:rPr>
              <a:t>F1 Score of 97.30%</a:t>
            </a:r>
            <a:r>
              <a:rPr lang="en-US" sz="1600" dirty="0">
                <a:latin typeface="Times New Roman" panose="02020603050405020304" pitchFamily="18" charset="0"/>
                <a:cs typeface="Times New Roman" panose="02020603050405020304" pitchFamily="18" charset="0"/>
              </a:rPr>
              <a:t> and </a:t>
            </a:r>
            <a:r>
              <a:rPr lang="en-US" sz="1600" b="1" dirty="0">
                <a:latin typeface="Times New Roman" panose="02020603050405020304" pitchFamily="18" charset="0"/>
                <a:cs typeface="Times New Roman" panose="02020603050405020304" pitchFamily="18" charset="0"/>
              </a:rPr>
              <a:t>Accuracy of 95.00%</a:t>
            </a:r>
            <a:r>
              <a:rPr lang="en-US" sz="1600" dirty="0">
                <a:latin typeface="Times New Roman" panose="02020603050405020304" pitchFamily="18" charset="0"/>
                <a:cs typeface="Times New Roman" panose="02020603050405020304" pitchFamily="18" charset="0"/>
              </a:rPr>
              <a:t>, outperforming traditional models.</a:t>
            </a:r>
            <a:endParaRPr lang="en-IN" sz="1600" dirty="0">
              <a:latin typeface="Times New Roman" panose="02020603050405020304" pitchFamily="18" charset="0"/>
              <a:cs typeface="Times New Roman" panose="02020603050405020304" pitchFamily="18" charset="0"/>
            </a:endParaRPr>
          </a:p>
          <a:p>
            <a:pPr lvl="0" algn="just">
              <a:lnSpc>
                <a:spcPct val="150000"/>
              </a:lnSpc>
            </a:pP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Ability to Model Complex Relationships</a:t>
            </a:r>
            <a:r>
              <a:rPr lang="en-US" sz="1600" dirty="0">
                <a:latin typeface="Times New Roman" panose="02020603050405020304" pitchFamily="18" charset="0"/>
                <a:cs typeface="Times New Roman" panose="02020603050405020304" pitchFamily="18" charset="0"/>
              </a:rPr>
              <a:t>: SVM and similar ML models </a:t>
            </a:r>
            <a:r>
              <a:rPr lang="en-US" sz="1600" b="1" dirty="0">
                <a:latin typeface="Times New Roman" panose="02020603050405020304" pitchFamily="18" charset="0"/>
                <a:cs typeface="Times New Roman" panose="02020603050405020304" pitchFamily="18" charset="0"/>
              </a:rPr>
              <a:t>capture non-linear interactions</a:t>
            </a:r>
            <a:r>
              <a:rPr lang="en-US" sz="1600" dirty="0">
                <a:latin typeface="Times New Roman" panose="02020603050405020304" pitchFamily="18" charset="0"/>
                <a:cs typeface="Times New Roman" panose="02020603050405020304" pitchFamily="18" charset="0"/>
              </a:rPr>
              <a:t> among variables that classical methods cannot.</a:t>
            </a:r>
            <a:endParaRPr lang="en-IN" sz="1600" dirty="0">
              <a:latin typeface="Times New Roman" panose="02020603050405020304" pitchFamily="18" charset="0"/>
              <a:cs typeface="Times New Roman" panose="02020603050405020304" pitchFamily="18" charset="0"/>
            </a:endParaRPr>
          </a:p>
          <a:p>
            <a:pPr lvl="0" algn="just">
              <a:lnSpc>
                <a:spcPct val="150000"/>
              </a:lnSpc>
            </a:pPr>
            <a:r>
              <a:rPr lang="en-US" sz="1600" b="1" dirty="0">
                <a:latin typeface="Times New Roman" panose="02020603050405020304" pitchFamily="18" charset="0"/>
                <a:cs typeface="Times New Roman" panose="02020603050405020304" pitchFamily="18" charset="0"/>
              </a:rPr>
              <a:t>Future Forecasting</a:t>
            </a:r>
            <a:r>
              <a:rPr lang="en-US" sz="1600" dirty="0">
                <a:latin typeface="Times New Roman" panose="02020603050405020304" pitchFamily="18" charset="0"/>
                <a:cs typeface="Times New Roman" panose="02020603050405020304" pitchFamily="18" charset="0"/>
              </a:rPr>
              <a:t>: Incorporation of </a:t>
            </a:r>
            <a:r>
              <a:rPr lang="en-US" sz="1600" b="1" dirty="0">
                <a:latin typeface="Times New Roman" panose="02020603050405020304" pitchFamily="18" charset="0"/>
                <a:cs typeface="Times New Roman" panose="02020603050405020304" pitchFamily="18" charset="0"/>
              </a:rPr>
              <a:t>ARIMA models</a:t>
            </a:r>
            <a:r>
              <a:rPr lang="en-US" sz="1600" dirty="0">
                <a:latin typeface="Times New Roman" panose="02020603050405020304" pitchFamily="18" charset="0"/>
                <a:cs typeface="Times New Roman" panose="02020603050405020304" pitchFamily="18" charset="0"/>
              </a:rPr>
              <a:t> allows for effective </a:t>
            </a:r>
            <a:r>
              <a:rPr lang="en-US" sz="1600" b="1" dirty="0">
                <a:latin typeface="Times New Roman" panose="02020603050405020304" pitchFamily="18" charset="0"/>
                <a:cs typeface="Times New Roman" panose="02020603050405020304" pitchFamily="18" charset="0"/>
              </a:rPr>
              <a:t>trend prediction</a:t>
            </a:r>
            <a:r>
              <a:rPr lang="en-US" sz="1600" dirty="0">
                <a:latin typeface="Times New Roman" panose="02020603050405020304" pitchFamily="18" charset="0"/>
                <a:cs typeface="Times New Roman" panose="02020603050405020304" pitchFamily="18" charset="0"/>
              </a:rPr>
              <a:t> using real-world signals like Google Trends.</a:t>
            </a:r>
            <a:endParaRPr lang="en-IN" sz="1600" dirty="0">
              <a:latin typeface="Times New Roman" panose="02020603050405020304" pitchFamily="18" charset="0"/>
              <a:cs typeface="Times New Roman" panose="02020603050405020304" pitchFamily="18" charset="0"/>
            </a:endParaRPr>
          </a:p>
          <a:p>
            <a:pPr lvl="0" algn="just">
              <a:lnSpc>
                <a:spcPct val="150000"/>
              </a:lnSpc>
            </a:pP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Holistic Vendor Profiling</a:t>
            </a:r>
            <a:r>
              <a:rPr lang="en-US" sz="1600" dirty="0">
                <a:latin typeface="Times New Roman" panose="02020603050405020304" pitchFamily="18" charset="0"/>
                <a:cs typeface="Times New Roman" panose="02020603050405020304" pitchFamily="18" charset="0"/>
              </a:rPr>
              <a:t>: Uses EFA for understanding underlying vendor adoption behavior, giving better strategic insights to stakeholders.</a:t>
            </a:r>
            <a:endParaRPr lang="en-IN" sz="1600" dirty="0">
              <a:latin typeface="Times New Roman" panose="02020603050405020304" pitchFamily="18" charset="0"/>
              <a:cs typeface="Times New Roman" panose="02020603050405020304" pitchFamily="18" charset="0"/>
            </a:endParaRPr>
          </a:p>
          <a:p>
            <a:pPr algn="just">
              <a:lnSpc>
                <a:spcPct val="150000"/>
              </a:lnSpc>
            </a:pPr>
            <a:r>
              <a:rPr lang="en-US" sz="1600" b="1" dirty="0">
                <a:latin typeface="Times New Roman" panose="02020603050405020304" pitchFamily="18" charset="0"/>
                <a:cs typeface="Times New Roman" panose="02020603050405020304" pitchFamily="18" charset="0"/>
              </a:rPr>
              <a:t>Adaptability and Scalability</a:t>
            </a:r>
            <a:r>
              <a:rPr lang="en-US" sz="1600" dirty="0">
                <a:latin typeface="Times New Roman" panose="02020603050405020304" pitchFamily="18" charset="0"/>
                <a:cs typeface="Times New Roman" panose="02020603050405020304" pitchFamily="18" charset="0"/>
              </a:rPr>
              <a:t>: The model can be retrained with new data over time, making it </a:t>
            </a:r>
            <a:r>
              <a:rPr lang="en-US" sz="1600" b="1" dirty="0">
                <a:latin typeface="Times New Roman" panose="02020603050405020304" pitchFamily="18" charset="0"/>
                <a:cs typeface="Times New Roman" panose="02020603050405020304" pitchFamily="18" charset="0"/>
              </a:rPr>
              <a:t>scalable and adaptable</a:t>
            </a:r>
            <a:r>
              <a:rPr lang="en-US" sz="1600" dirty="0">
                <a:latin typeface="Times New Roman" panose="02020603050405020304" pitchFamily="18" charset="0"/>
                <a:cs typeface="Times New Roman" panose="02020603050405020304" pitchFamily="18" charset="0"/>
              </a:rPr>
              <a:t> to market dynamics.</a:t>
            </a:r>
            <a:endParaRPr lang="en-IN" sz="1600" dirty="0">
              <a:latin typeface="Times New Roman" panose="02020603050405020304" pitchFamily="18" charset="0"/>
              <a:cs typeface="Times New Roman" panose="02020603050405020304" pitchFamily="18" charset="0"/>
            </a:endParaRPr>
          </a:p>
          <a:p>
            <a:pPr marL="0" indent="0" algn="just">
              <a:lnSpc>
                <a:spcPct val="150000"/>
              </a:lnSpc>
              <a:buNone/>
            </a:pPr>
            <a:endParaRPr lang="en-US"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endParaRPr lang="en-US"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endParaRPr lang="en-US"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endParaRPr lang="en-US"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endParaRPr lang="en-US" sz="1600" dirty="0">
              <a:latin typeface="Times New Roman" panose="02020603050405020304" pitchFamily="18" charset="0"/>
              <a:cs typeface="Times New Roman" panose="02020603050405020304" pitchFamily="18" charset="0"/>
            </a:endParaRPr>
          </a:p>
        </p:txBody>
      </p:sp>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16766" y="673445"/>
            <a:ext cx="8683348" cy="1143000"/>
          </a:xfrm>
        </p:spPr>
        <p:txBody>
          <a:bodyPr/>
          <a:lstStyle/>
          <a:p>
            <a:pPr marL="0" indent="0">
              <a:buNone/>
            </a:pPr>
            <a:r>
              <a:rPr lang="en-US" sz="3200" dirty="0">
                <a:solidFill>
                  <a:srgbClr val="6666FF"/>
                </a:solidFill>
              </a:rPr>
              <a:t>PROPOSED METHODOLOGY ARCHITECTURE</a:t>
            </a:r>
            <a:endParaRPr lang="en-IN" sz="3200" dirty="0"/>
          </a:p>
        </p:txBody>
      </p:sp>
      <p:pic>
        <p:nvPicPr>
          <p:cNvPr id="15" name="Picture 14"/>
          <p:cNvPicPr>
            <a:picLocks noChangeAspect="1"/>
          </p:cNvPicPr>
          <p:nvPr/>
        </p:nvPicPr>
        <p:blipFill>
          <a:blip r:embed="rId2"/>
          <a:stretch>
            <a:fillRect/>
          </a:stretch>
        </p:blipFill>
        <p:spPr>
          <a:xfrm>
            <a:off x="161731" y="1629955"/>
            <a:ext cx="6024465" cy="4043680"/>
          </a:xfrm>
          <a:prstGeom prst="rect">
            <a:avLst/>
          </a:prstGeom>
        </p:spPr>
      </p:pic>
      <p:sp>
        <p:nvSpPr>
          <p:cNvPr id="3" name="TextBox 2">
            <a:extLst>
              <a:ext uri="{FF2B5EF4-FFF2-40B4-BE49-F238E27FC236}">
                <a16:creationId xmlns:a16="http://schemas.microsoft.com/office/drawing/2014/main" id="{66F939EF-B062-190C-1A5D-C62205FA6FDD}"/>
              </a:ext>
            </a:extLst>
          </p:cNvPr>
          <p:cNvSpPr txBox="1"/>
          <p:nvPr/>
        </p:nvSpPr>
        <p:spPr>
          <a:xfrm>
            <a:off x="6587412" y="2341983"/>
            <a:ext cx="5281127" cy="2954655"/>
          </a:xfrm>
          <a:prstGeom prst="rect">
            <a:avLst/>
          </a:prstGeom>
          <a:noFill/>
        </p:spPr>
        <p:txBody>
          <a:bodyPr wrap="square" rtlCol="0">
            <a:spAutoFit/>
          </a:bodyPr>
          <a:lstStyle/>
          <a:p>
            <a:pPr marL="285750" indent="-285750">
              <a:buFont typeface="Wingdings" panose="05000000000000000000" pitchFamily="2" charset="2"/>
              <a:buChar char="Ø"/>
            </a:pPr>
            <a:r>
              <a:rPr lang="en-US" sz="2400" dirty="0"/>
              <a:t>DATASET: 20 columns, 100 rows</a:t>
            </a:r>
          </a:p>
          <a:p>
            <a:endParaRPr lang="en-US" sz="2400" dirty="0"/>
          </a:p>
          <a:p>
            <a:pPr marL="285750" indent="-285750">
              <a:buFont typeface="Wingdings" panose="05000000000000000000" pitchFamily="2" charset="2"/>
              <a:buChar char="Ø"/>
            </a:pPr>
            <a:r>
              <a:rPr lang="en-US" sz="2400" dirty="0"/>
              <a:t>EFA: Exploring important features</a:t>
            </a:r>
          </a:p>
          <a:p>
            <a:endParaRPr lang="en-US" sz="2400" dirty="0"/>
          </a:p>
          <a:p>
            <a:pPr marL="285750" indent="-285750">
              <a:buFont typeface="Wingdings" panose="05000000000000000000" pitchFamily="2" charset="2"/>
              <a:buChar char="Ø"/>
            </a:pPr>
            <a:r>
              <a:rPr lang="en-US" sz="2400" dirty="0"/>
              <a:t>SVM: SVC classification Model</a:t>
            </a:r>
          </a:p>
          <a:p>
            <a:endParaRPr lang="en-US" sz="2400" dirty="0"/>
          </a:p>
          <a:p>
            <a:pPr marL="285750" indent="-285750">
              <a:buFont typeface="Wingdings" panose="05000000000000000000" pitchFamily="2" charset="2"/>
              <a:buChar char="Ø"/>
            </a:pPr>
            <a:r>
              <a:rPr lang="en-US" sz="2400" dirty="0"/>
              <a:t>ARIMA: Future Prediction</a:t>
            </a:r>
          </a:p>
          <a:p>
            <a:pPr marL="285750" indent="-285750">
              <a:buFont typeface="Wingdings" panose="05000000000000000000" pitchFamily="2" charset="2"/>
              <a:buChar char="Ø"/>
            </a:pPr>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7992" y="614384"/>
            <a:ext cx="9286993" cy="650998"/>
          </a:xfrm>
        </p:spPr>
        <p:txBody>
          <a:bodyPr>
            <a:normAutofit/>
          </a:bodyPr>
          <a:lstStyle/>
          <a:p>
            <a:pPr marL="0" indent="0" algn="ctr">
              <a:buNone/>
            </a:pPr>
            <a:r>
              <a:rPr lang="en-US" sz="3200" b="1" dirty="0">
                <a:solidFill>
                  <a:srgbClr val="6666FF"/>
                </a:solidFill>
              </a:rPr>
              <a:t>MINIMUM SYSTEM REQUIREMENTS</a:t>
            </a:r>
            <a:endParaRPr lang="en-IN" sz="3200" b="1" dirty="0">
              <a:solidFill>
                <a:srgbClr val="6666FF"/>
              </a:solidFill>
            </a:endParaRPr>
          </a:p>
        </p:txBody>
      </p:sp>
      <p:sp>
        <p:nvSpPr>
          <p:cNvPr id="5" name="TextBox 4"/>
          <p:cNvSpPr txBox="1"/>
          <p:nvPr/>
        </p:nvSpPr>
        <p:spPr>
          <a:xfrm>
            <a:off x="942109" y="858982"/>
            <a:ext cx="10291952" cy="6016968"/>
          </a:xfrm>
          <a:prstGeom prst="rect">
            <a:avLst/>
          </a:prstGeom>
          <a:noFill/>
        </p:spPr>
        <p:txBody>
          <a:bodyPr wrap="square" rtlCol="0">
            <a:spAutoFit/>
          </a:bodyPr>
          <a:lstStyle/>
          <a:p>
            <a:pPr marL="457200" algn="just">
              <a:lnSpc>
                <a:spcPct val="150000"/>
              </a:lnSpc>
              <a:spcAft>
                <a:spcPts val="100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50000"/>
              </a:lnSpc>
              <a:spcAft>
                <a:spcPts val="1000"/>
              </a:spcAft>
            </a:pPr>
            <a:r>
              <a:rPr lang="en-US" sz="16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SYSTEM REQUIREMENTS</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50000"/>
              </a:lnSpc>
              <a:spcAft>
                <a:spcPts val="1000"/>
              </a:spcAft>
            </a:pPr>
            <a:r>
              <a:rPr lang="en-US" sz="16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HARDWARE REQUIREMENTS:</a:t>
            </a:r>
            <a:endParaRPr lang="en-IN" sz="1600" dirty="0">
              <a:solidFill>
                <a:srgbClr val="FF0000"/>
              </a:solidFill>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50000"/>
              </a:lnSpc>
              <a:spcAft>
                <a:spcPts val="1000"/>
              </a:spcAf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PROCESSOR	                             :  	Intel I3</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50000"/>
              </a:lnSpc>
              <a:spcAft>
                <a:spcPts val="1000"/>
              </a:spcAf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RAM		                             :	32GB </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50000"/>
              </a:lnSpc>
              <a:spcAft>
                <a:spcPts val="1000"/>
              </a:spcAf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SPACE ON HARD DISK 		  :	minimum 1TB</a:t>
            </a: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50000"/>
              </a:lnSpc>
              <a:spcAft>
                <a:spcPts val="1000"/>
              </a:spcAft>
            </a:pPr>
            <a:r>
              <a:rPr lang="en-US" sz="1600" b="1" dirty="0">
                <a:solidFill>
                  <a:srgbClr val="FF0000"/>
                </a:solidFill>
                <a:latin typeface="Times New Roman" panose="02020603050405020304" pitchFamily="18" charset="0"/>
                <a:cs typeface="Times New Roman" panose="02020603050405020304" pitchFamily="18" charset="0"/>
              </a:rPr>
              <a:t>SOFTWARE REQUIREMENTS:</a:t>
            </a:r>
            <a:endParaRPr lang="en-IN" sz="1600" b="1" dirty="0">
              <a:solidFill>
                <a:srgbClr val="FF0000"/>
              </a:solidFill>
              <a:latin typeface="Times New Roman" panose="02020603050405020304" pitchFamily="18" charset="0"/>
              <a:cs typeface="Times New Roman" panose="02020603050405020304" pitchFamily="18" charset="0"/>
            </a:endParaRPr>
          </a:p>
          <a:p>
            <a:pPr algn="just">
              <a:lnSpc>
                <a:spcPct val="150000"/>
              </a:lnSpc>
              <a:spcAft>
                <a:spcPts val="1000"/>
              </a:spcAf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PYTHON IDE                                :       Anaconda </a:t>
            </a:r>
            <a:r>
              <a:rPr lang="en-US" sz="1600" dirty="0" err="1">
                <a:effectLst/>
                <a:latin typeface="Times New Roman" panose="02020603050405020304" pitchFamily="18" charset="0"/>
                <a:ea typeface="Times New Roman" panose="02020603050405020304" pitchFamily="18" charset="0"/>
                <a:cs typeface="Times New Roman" panose="02020603050405020304" pitchFamily="18" charset="0"/>
              </a:rPr>
              <a:t>Jupyter</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 Notebook</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50000"/>
              </a:lnSpc>
              <a:spcAft>
                <a:spcPts val="1000"/>
              </a:spcAf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BACK END                                    :       Jupyter Notebook</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50000"/>
              </a:lnSpc>
              <a:spcAft>
                <a:spcPts val="1000"/>
              </a:spcAf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FRONT END                                  :       Django frame</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50000"/>
              </a:lnSpc>
              <a:spcAft>
                <a:spcPts val="1000"/>
              </a:spcAf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PROGRAMMING LANGUAGE   :       Python</a:t>
            </a:r>
            <a:endParaRPr lang="en-IN" sz="1600" dirty="0">
              <a:effectLst/>
              <a:latin typeface="Calibri" panose="020F0502020204030204" pitchFamily="34" charset="0"/>
              <a:ea typeface="Times New Roman" panose="02020603050405020304" pitchFamily="18" charset="0"/>
              <a:cs typeface="Times New Roman" panose="02020603050405020304" pitchFamily="18" charset="0"/>
            </a:endParaRPr>
          </a:p>
          <a:p>
            <a:pPr>
              <a:lnSpc>
                <a:spcPct val="150000"/>
              </a:lnSpc>
            </a:pPr>
            <a:endParaRPr lang="en-IN" sz="2000" dirty="0"/>
          </a:p>
        </p:txBody>
      </p:sp>
    </p:spTree>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8275" y="2379980"/>
            <a:ext cx="9286875" cy="3325495"/>
          </a:xfrm>
        </p:spPr>
        <p:txBody>
          <a:bodyPr>
            <a:normAutofit/>
          </a:bodyPr>
          <a:lstStyle/>
          <a:p>
            <a:pPr marL="0" indent="0" algn="ctr">
              <a:buNone/>
            </a:pPr>
            <a:r>
              <a:rPr lang="en-US" sz="4800" dirty="0">
                <a:ln w="6600">
                  <a:solidFill>
                    <a:srgbClr val="7030A0"/>
                  </a:solidFill>
                  <a:prstDash val="solid"/>
                </a:ln>
                <a:solidFill>
                  <a:srgbClr val="7030A0"/>
                </a:solidFill>
                <a:effectLst>
                  <a:outerShdw blurRad="50800" dist="38100" dir="2700000" algn="tl" rotWithShape="0">
                    <a:prstClr val="black">
                      <a:alpha val="40000"/>
                    </a:prstClr>
                  </a:outerShdw>
                </a:effectLst>
                <a:latin typeface="Times New Roman" panose="02020603050405020304" pitchFamily="18" charset="0"/>
                <a:ea typeface="Kozuka Mincho Pr6N B" panose="02020800000000000000" pitchFamily="18" charset="-128"/>
                <a:cs typeface="Times New Roman" panose="02020603050405020304" pitchFamily="18" charset="0"/>
                <a:sym typeface="+mn-ea"/>
              </a:rPr>
              <a:t>ANALYSIS &amp; </a:t>
            </a:r>
            <a:r>
              <a:rPr lang="en-US" sz="4800" dirty="0">
                <a:ln w="12700">
                  <a:solidFill>
                    <a:srgbClr val="7030A0"/>
                  </a:solidFill>
                  <a:prstDash val="solid"/>
                </a:ln>
                <a:solidFill>
                  <a:srgbClr val="7030A0"/>
                </a:solidFill>
                <a:effectLst>
                  <a:outerShdw blurRad="50800" dist="38100" dir="2700000" algn="tl" rotWithShape="0">
                    <a:prstClr val="black">
                      <a:alpha val="40000"/>
                    </a:prstClr>
                  </a:outerShdw>
                </a:effectLst>
                <a:latin typeface="Times New Roman" panose="02020603050405020304" pitchFamily="18" charset="0"/>
                <a:ea typeface="Kozuka Mincho Pr6N B" panose="02020800000000000000" pitchFamily="18" charset="-128"/>
                <a:cs typeface="Times New Roman" panose="02020603050405020304" pitchFamily="18" charset="0"/>
                <a:sym typeface="+mn-ea"/>
              </a:rPr>
              <a:t>DESIGN</a:t>
            </a:r>
            <a:endParaRPr lang="en-US" sz="4800" b="1" dirty="0">
              <a:ln w="12700">
                <a:solidFill>
                  <a:srgbClr val="7030A0"/>
                </a:solidFill>
                <a:prstDash val="solid"/>
              </a:ln>
              <a:solidFill>
                <a:srgbClr val="7030A0"/>
              </a:solidFill>
              <a:effectLst>
                <a:outerShdw blurRad="50800" dist="38100" dir="2700000" algn="tl" rotWithShape="0">
                  <a:prstClr val="black">
                    <a:alpha val="40000"/>
                  </a:prstClr>
                </a:outerShdw>
              </a:effectLst>
              <a:latin typeface="Times New Roman" panose="02020603050405020304" pitchFamily="18" charset="0"/>
              <a:ea typeface="Kozuka Mincho Pr6N B" panose="02020800000000000000" pitchFamily="18" charset="-128"/>
              <a:cs typeface="Times New Roman" panose="02020603050405020304" pitchFamily="18" charset="0"/>
              <a:sym typeface="+mn-ea"/>
            </a:endParaRPr>
          </a:p>
        </p:txBody>
      </p:sp>
      <p:sp>
        <p:nvSpPr>
          <p:cNvPr id="3" name="Text Box 2"/>
          <p:cNvSpPr txBox="1"/>
          <p:nvPr/>
        </p:nvSpPr>
        <p:spPr>
          <a:xfrm>
            <a:off x="424180" y="1350010"/>
            <a:ext cx="11101705" cy="368300"/>
          </a:xfrm>
          <a:prstGeom prst="rect">
            <a:avLst/>
          </a:prstGeom>
          <a:noFill/>
        </p:spPr>
        <p:txBody>
          <a:bodyPr wrap="square" rtlCol="0">
            <a:spAutoFit/>
          </a:bodyPr>
          <a:lstStyle/>
          <a:p>
            <a:endParaRPr lang="en-US"/>
          </a:p>
        </p:txBody>
      </p:sp>
    </p:spTree>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03200" y="0"/>
            <a:ext cx="11541759" cy="6617196"/>
          </a:xfrm>
          <a:prstGeom prst="rect">
            <a:avLst/>
          </a:prstGeom>
          <a:noFill/>
        </p:spPr>
        <p:txBody>
          <a:bodyPr wrap="square">
            <a:spAutoFit/>
          </a:bodyPr>
          <a:lstStyle/>
          <a:p>
            <a:pPr algn="ctr"/>
            <a:r>
              <a:rPr lang="en-US" sz="2800" b="1" dirty="0">
                <a:solidFill>
                  <a:srgbClr val="6666FF"/>
                </a:solidFill>
                <a:effectLst>
                  <a:reflection blurRad="6350" stA="55000" endA="300" endPos="45500" dir="5400000" sy="-100000" algn="bl" rotWithShape="0"/>
                </a:effectLst>
                <a:latin typeface="Times New Roman" panose="02020603050405020304" pitchFamily="18" charset="0"/>
                <a:cs typeface="Times New Roman" panose="02020603050405020304" pitchFamily="18" charset="0"/>
              </a:rPr>
              <a:t>ANALYSIS</a:t>
            </a:r>
          </a:p>
          <a:p>
            <a:pPr algn="ctr"/>
            <a:r>
              <a:rPr lang="en-US" sz="2400" b="1" dirty="0">
                <a:solidFill>
                  <a:srgbClr val="6666FF"/>
                </a:solidFill>
                <a:latin typeface="Times New Roman" panose="02020603050405020304" pitchFamily="18" charset="0"/>
                <a:cs typeface="Times New Roman" panose="02020603050405020304" pitchFamily="18" charset="0"/>
              </a:rPr>
              <a:t>SYSTEM AND USER MODULES</a:t>
            </a:r>
          </a:p>
          <a:p>
            <a:pPr algn="ctr"/>
            <a:endParaRPr lang="en-US" sz="2400" b="1" dirty="0">
              <a:solidFill>
                <a:srgbClr val="6666FF"/>
              </a:solidFill>
              <a:latin typeface="Times New Roman" panose="02020603050405020304" pitchFamily="18" charset="0"/>
              <a:cs typeface="Times New Roman" panose="02020603050405020304" pitchFamily="18" charset="0"/>
            </a:endParaRPr>
          </a:p>
          <a:p>
            <a:pPr>
              <a:lnSpc>
                <a:spcPct val="150000"/>
              </a:lnSpc>
            </a:pPr>
            <a:r>
              <a:rPr lang="en-US" b="1" dirty="0">
                <a:solidFill>
                  <a:srgbClr val="FF0000"/>
                </a:solidFill>
              </a:rPr>
              <a:t>Data Collection Module :</a:t>
            </a:r>
          </a:p>
          <a:p>
            <a:pPr>
              <a:lnSpc>
                <a:spcPct val="150000"/>
              </a:lnSpc>
            </a:pPr>
            <a:r>
              <a:rPr lang="en-US" dirty="0"/>
              <a:t>• Collect structured survey data from retail vendors including demographics, business type, transaction volume, and digital payment experience.</a:t>
            </a:r>
            <a:br>
              <a:rPr lang="en-US" dirty="0"/>
            </a:br>
            <a:r>
              <a:rPr lang="en-US" dirty="0"/>
              <a:t>• Standardize responses using normalization and encoding techniques to ensure consistency across users.</a:t>
            </a:r>
            <a:br>
              <a:rPr lang="en-US" dirty="0"/>
            </a:br>
            <a:r>
              <a:rPr lang="en-US" dirty="0"/>
              <a:t>• Validate survey inputs to prevent missing or incorrect entries.</a:t>
            </a:r>
            <a:br>
              <a:rPr lang="en-US" dirty="0"/>
            </a:br>
            <a:r>
              <a:rPr lang="en-US" dirty="0"/>
              <a:t>• Store data in a secure database for further analysis and ML processing.</a:t>
            </a:r>
            <a:br>
              <a:rPr lang="en-US" dirty="0"/>
            </a:br>
            <a:r>
              <a:rPr lang="en-US" dirty="0"/>
              <a:t>• Continuously update the dataset as more vendors participate in the survey.</a:t>
            </a:r>
            <a:br>
              <a:rPr lang="en-US" sz="2400" dirty="0"/>
            </a:br>
            <a:r>
              <a:rPr lang="en-US" b="1" dirty="0">
                <a:solidFill>
                  <a:srgbClr val="FF0000"/>
                </a:solidFill>
              </a:rPr>
              <a:t> Feature Extraction Module :</a:t>
            </a:r>
          </a:p>
          <a:p>
            <a:pPr>
              <a:lnSpc>
                <a:spcPct val="150000"/>
              </a:lnSpc>
            </a:pPr>
            <a:r>
              <a:rPr lang="en-US" dirty="0"/>
              <a:t>• Extract significant behavioral and demographic features from survey data using Exploratory Factor Analysis .</a:t>
            </a:r>
            <a:br>
              <a:rPr lang="en-US" dirty="0"/>
            </a:br>
            <a:r>
              <a:rPr lang="en-US" dirty="0"/>
              <a:t>• Reduce dimensionality by grouping correlated variables into meaningful latent factors.</a:t>
            </a:r>
            <a:br>
              <a:rPr lang="en-US" dirty="0"/>
            </a:br>
            <a:r>
              <a:rPr lang="en-US" dirty="0"/>
              <a:t>• Transform raw survey responses into numerical representations suitable for machine learning.</a:t>
            </a:r>
            <a:br>
              <a:rPr lang="en-US" dirty="0"/>
            </a:br>
            <a:r>
              <a:rPr lang="en-US" dirty="0"/>
              <a:t>• Optimize selected features to improve prediction accuracy.</a:t>
            </a:r>
          </a:p>
          <a:p>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87176" y="0"/>
            <a:ext cx="11247568" cy="7521546"/>
          </a:xfrm>
          <a:prstGeom prst="rect">
            <a:avLst/>
          </a:prstGeom>
          <a:noFill/>
        </p:spPr>
        <p:txBody>
          <a:bodyPr wrap="square">
            <a:spAutoFit/>
          </a:bodyPr>
          <a:lstStyle/>
          <a:p>
            <a:pPr>
              <a:lnSpc>
                <a:spcPct val="150000"/>
              </a:lnSpc>
            </a:pPr>
            <a:r>
              <a:rPr lang="en-US" b="1" dirty="0">
                <a:solidFill>
                  <a:srgbClr val="FF0000"/>
                </a:solidFill>
              </a:rPr>
              <a:t>Model Training &amp; Validation Module :</a:t>
            </a:r>
          </a:p>
          <a:p>
            <a:pPr>
              <a:lnSpc>
                <a:spcPct val="150000"/>
              </a:lnSpc>
            </a:pPr>
            <a:r>
              <a:rPr lang="en-US" dirty="0"/>
              <a:t>• Train Support Vector Machine (SVM) or similar ML models using cleaned and factor-extracted data.</a:t>
            </a:r>
            <a:br>
              <a:rPr lang="en-US" dirty="0"/>
            </a:br>
            <a:r>
              <a:rPr lang="en-US" dirty="0"/>
              <a:t>• Split the dataset into training, validation, and testing sets for performance measurement.</a:t>
            </a:r>
            <a:br>
              <a:rPr lang="en-US" dirty="0"/>
            </a:br>
            <a:r>
              <a:rPr lang="en-US" dirty="0"/>
              <a:t>• Apply preprocessing techniques such as scaling, normalization, and outlier removal.</a:t>
            </a:r>
            <a:br>
              <a:rPr lang="en-US" dirty="0"/>
            </a:br>
            <a:r>
              <a:rPr lang="en-US" dirty="0"/>
              <a:t>• Fine-tune hyperparameters (kernel type, C value, </a:t>
            </a:r>
            <a:r>
              <a:rPr lang="en-US" dirty="0" err="1"/>
              <a:t>gamma,Probability</a:t>
            </a:r>
            <a:r>
              <a:rPr lang="en-US" dirty="0"/>
              <a:t>) to maximize classification accuracy.</a:t>
            </a:r>
            <a:br>
              <a:rPr lang="en-US" dirty="0"/>
            </a:br>
            <a:r>
              <a:rPr lang="en-US" dirty="0"/>
              <a:t>• Validate the model using cross-validation and monitor accuracy, precision, recall, and F1-score.</a:t>
            </a:r>
            <a:br>
              <a:rPr lang="en-US" dirty="0"/>
            </a:br>
            <a:r>
              <a:rPr lang="en-US" dirty="0"/>
              <a:t>• Incorporate ARIMA time series forecasting to predict future digital payment adoption trends using external data like Google Trends.</a:t>
            </a:r>
          </a:p>
          <a:p>
            <a:pPr>
              <a:lnSpc>
                <a:spcPct val="150000"/>
              </a:lnSpc>
            </a:pPr>
            <a:endParaRPr lang="en-US" dirty="0"/>
          </a:p>
          <a:p>
            <a:pPr>
              <a:lnSpc>
                <a:spcPct val="150000"/>
              </a:lnSpc>
            </a:pPr>
            <a:r>
              <a:rPr lang="en-US" b="1" dirty="0"/>
              <a:t> </a:t>
            </a:r>
            <a:r>
              <a:rPr lang="en-US" b="1" dirty="0">
                <a:solidFill>
                  <a:srgbClr val="FF0000"/>
                </a:solidFill>
              </a:rPr>
              <a:t>Prediction &amp; Classification Module :</a:t>
            </a:r>
          </a:p>
          <a:p>
            <a:pPr>
              <a:lnSpc>
                <a:spcPct val="150000"/>
              </a:lnSpc>
            </a:pPr>
            <a:r>
              <a:rPr lang="en-US" dirty="0"/>
              <a:t>• Classify each retail vendor’s likelihood of digital payment adoption using trained ML models.</a:t>
            </a:r>
            <a:br>
              <a:rPr lang="en-US" dirty="0"/>
            </a:br>
            <a:r>
              <a:rPr lang="en-US" dirty="0"/>
              <a:t>• Map predicted probability scores to adoption categories (High, Moderate, Low).</a:t>
            </a:r>
            <a:br>
              <a:rPr lang="en-US" dirty="0"/>
            </a:br>
            <a:r>
              <a:rPr lang="en-US" dirty="0"/>
              <a:t>• Display personalized adoption likelihood on the vendor dashboard.</a:t>
            </a:r>
            <a:br>
              <a:rPr lang="en-US" dirty="0"/>
            </a:br>
            <a:r>
              <a:rPr lang="en-US" dirty="0"/>
              <a:t>• Allow users to compare satisfaction levels across multiple digital payment platforms.</a:t>
            </a:r>
            <a:br>
              <a:rPr lang="en-US" dirty="0"/>
            </a:br>
            <a:r>
              <a:rPr lang="en-US" dirty="0"/>
              <a:t>• Ensure robustness by handling missing values, inconsistent responses, and noise in survey data.</a:t>
            </a:r>
          </a:p>
          <a:p>
            <a:pPr>
              <a:lnSpc>
                <a:spcPct val="150000"/>
              </a:lnSpc>
            </a:pPr>
            <a:br>
              <a:rPr lang="en-US" dirty="0"/>
            </a:br>
            <a:endParaRPr lang="en-US" altLang="en-US" b="0" i="0" dirty="0">
              <a:solidFill>
                <a:srgbClr val="002060"/>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60400" y="-105231"/>
            <a:ext cx="11348720" cy="7094250"/>
          </a:xfrm>
          <a:prstGeom prst="rect">
            <a:avLst/>
          </a:prstGeom>
          <a:noFill/>
        </p:spPr>
        <p:txBody>
          <a:bodyPr wrap="square" rtlCol="0">
            <a:spAutoFit/>
          </a:bodyPr>
          <a:lstStyle/>
          <a:p>
            <a:pPr>
              <a:lnSpc>
                <a:spcPct val="150000"/>
              </a:lnSpc>
            </a:pPr>
            <a:endParaRPr lang="en-US" dirty="0"/>
          </a:p>
          <a:p>
            <a:pPr>
              <a:lnSpc>
                <a:spcPct val="150000"/>
              </a:lnSpc>
            </a:pPr>
            <a:r>
              <a:rPr lang="en-US" b="1" dirty="0">
                <a:solidFill>
                  <a:srgbClr val="FF0000"/>
                </a:solidFill>
              </a:rPr>
              <a:t>System Integration &amp; Real-Time Processing Module :</a:t>
            </a:r>
          </a:p>
          <a:p>
            <a:pPr>
              <a:lnSpc>
                <a:spcPct val="150000"/>
              </a:lnSpc>
            </a:pPr>
            <a:r>
              <a:rPr lang="en-US" dirty="0"/>
              <a:t>• Integrate ML predictions within the vendor’s personalized dashboard for instant feedback.</a:t>
            </a:r>
            <a:br>
              <a:rPr lang="en-US" dirty="0"/>
            </a:br>
            <a:r>
              <a:rPr lang="en-US" dirty="0"/>
              <a:t>• Enable secure user registration, authentication, and survey submission.</a:t>
            </a:r>
            <a:br>
              <a:rPr lang="en-US" dirty="0"/>
            </a:br>
            <a:r>
              <a:rPr lang="en-US" dirty="0"/>
              <a:t>• Provide real-time analytics visualizations such as bar charts, trends, and comparison metrics.</a:t>
            </a:r>
            <a:br>
              <a:rPr lang="en-US" dirty="0"/>
            </a:br>
            <a:r>
              <a:rPr lang="en-US" dirty="0"/>
              <a:t>• Allow administrators to manage user data and monitor participation directly through their portal.</a:t>
            </a:r>
            <a:br>
              <a:rPr lang="en-US" dirty="0"/>
            </a:br>
            <a:r>
              <a:rPr lang="en-US" dirty="0"/>
              <a:t>• Synchronize the Machine Learning module with admin analytics for seamless data flow.</a:t>
            </a:r>
            <a:br>
              <a:rPr lang="en-US" dirty="0"/>
            </a:br>
            <a:br>
              <a:rPr lang="en-US" dirty="0"/>
            </a:br>
            <a:r>
              <a:rPr lang="en-US" b="1" dirty="0">
                <a:solidFill>
                  <a:srgbClr val="FF0000"/>
                </a:solidFill>
              </a:rPr>
              <a:t>Performance Evaluation &amp; Optimization Module :</a:t>
            </a:r>
          </a:p>
          <a:p>
            <a:pPr>
              <a:lnSpc>
                <a:spcPct val="150000"/>
              </a:lnSpc>
            </a:pPr>
            <a:r>
              <a:rPr lang="en-US" dirty="0"/>
              <a:t>• Evaluate ML models using accuracy, precision, recall, F1-score.</a:t>
            </a:r>
          </a:p>
          <a:p>
            <a:pPr>
              <a:lnSpc>
                <a:spcPct val="150000"/>
              </a:lnSpc>
            </a:pPr>
            <a:r>
              <a:rPr lang="en-US" dirty="0"/>
              <a:t>• Analyze prediction accuracy for different vendor categories and business types.</a:t>
            </a:r>
            <a:br>
              <a:rPr lang="en-US" dirty="0"/>
            </a:br>
            <a:r>
              <a:rPr lang="en-US" dirty="0"/>
              <a:t>• Reduce false positives/negatives by adjusting classification thresholds and retraining models.</a:t>
            </a:r>
            <a:br>
              <a:rPr lang="en-US" dirty="0"/>
            </a:br>
            <a:r>
              <a:rPr lang="en-US" dirty="0"/>
              <a:t>• Improve model performance using additional survey data and refined EFA-based features.</a:t>
            </a:r>
            <a:br>
              <a:rPr lang="en-US" dirty="0"/>
            </a:br>
            <a:r>
              <a:rPr lang="en-US" dirty="0"/>
              <a:t>• Compare different ML algorithms (SVM, Random Forest, Logistic Regression) for optimal efficiency.</a:t>
            </a:r>
            <a:br>
              <a:rPr lang="en-US" dirty="0"/>
            </a:br>
            <a:r>
              <a:rPr lang="en-US" dirty="0"/>
              <a:t>• Monitor ARIMA forecast accuracy by comparing predicted trends with real-world adoption patterns.</a:t>
            </a:r>
          </a:p>
          <a:p>
            <a:br>
              <a:rPr lang="en-US" dirty="0"/>
            </a:br>
            <a:br>
              <a:rPr lang="en-US" sz="1600" dirty="0"/>
            </a:b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5" name="TextBox 4"/>
          <p:cNvSpPr txBox="1"/>
          <p:nvPr/>
        </p:nvSpPr>
        <p:spPr>
          <a:xfrm>
            <a:off x="4549449" y="152475"/>
            <a:ext cx="3273491" cy="892552"/>
          </a:xfrm>
          <a:prstGeom prst="rect">
            <a:avLst/>
          </a:prstGeom>
          <a:noFill/>
        </p:spPr>
        <p:txBody>
          <a:bodyPr wrap="square" rtlCol="0">
            <a:spAutoFit/>
          </a:bodyPr>
          <a:lstStyle/>
          <a:p>
            <a:r>
              <a:rPr lang="en-US" sz="2400" dirty="0">
                <a:solidFill>
                  <a:schemeClr val="bg2">
                    <a:lumMod val="50000"/>
                  </a:schemeClr>
                </a:solidFill>
              </a:rPr>
              <a:t>        </a:t>
            </a:r>
            <a:r>
              <a:rPr lang="en-US" sz="2800" dirty="0">
                <a:solidFill>
                  <a:srgbClr val="6666FF"/>
                </a:solidFill>
                <a:effectLst>
                  <a:reflection blurRad="6350" stA="55000" endA="300" endPos="45500" dir="5400000" sy="-100000" algn="bl" rotWithShape="0"/>
                </a:effectLst>
              </a:rPr>
              <a:t>DESIGN</a:t>
            </a:r>
            <a:endParaRPr lang="en-IN" sz="2800" dirty="0">
              <a:solidFill>
                <a:srgbClr val="6666FF"/>
              </a:solidFill>
              <a:effectLst>
                <a:reflection blurRad="6350" stA="55000" endA="300" endPos="45500" dir="5400000" sy="-100000" algn="bl" rotWithShape="0"/>
              </a:effectLst>
            </a:endParaRPr>
          </a:p>
          <a:p>
            <a:r>
              <a:rPr lang="en-IN" sz="2400" u="sng" dirty="0">
                <a:solidFill>
                  <a:schemeClr val="tx1">
                    <a:lumMod val="95000"/>
                    <a:lumOff val="5000"/>
                  </a:schemeClr>
                </a:solidFill>
              </a:rPr>
              <a:t>DATA</a:t>
            </a:r>
            <a:r>
              <a:rPr lang="en-IN" sz="2400" dirty="0">
                <a:solidFill>
                  <a:schemeClr val="tx1">
                    <a:lumMod val="95000"/>
                    <a:lumOff val="5000"/>
                  </a:schemeClr>
                </a:solidFill>
              </a:rPr>
              <a:t> </a:t>
            </a:r>
            <a:r>
              <a:rPr lang="en-IN" sz="2400" u="sng" dirty="0">
                <a:solidFill>
                  <a:schemeClr val="tx1">
                    <a:lumMod val="95000"/>
                    <a:lumOff val="5000"/>
                  </a:schemeClr>
                </a:solidFill>
              </a:rPr>
              <a:t>FLOW</a:t>
            </a:r>
            <a:r>
              <a:rPr lang="en-IN" sz="2400" dirty="0">
                <a:solidFill>
                  <a:schemeClr val="tx1">
                    <a:lumMod val="95000"/>
                    <a:lumOff val="5000"/>
                  </a:schemeClr>
                </a:solidFill>
              </a:rPr>
              <a:t> </a:t>
            </a:r>
            <a:r>
              <a:rPr lang="en-IN" sz="2400" u="sng" dirty="0">
                <a:solidFill>
                  <a:schemeClr val="tx1">
                    <a:lumMod val="95000"/>
                    <a:lumOff val="5000"/>
                  </a:schemeClr>
                </a:solidFill>
              </a:rPr>
              <a:t>DIAGRAM</a:t>
            </a:r>
            <a:endParaRPr lang="en-US" sz="2400" u="sng" dirty="0">
              <a:solidFill>
                <a:schemeClr val="bg2">
                  <a:lumMod val="50000"/>
                </a:schemeClr>
              </a:solidFill>
            </a:endParaRPr>
          </a:p>
        </p:txBody>
      </p:sp>
      <p:sp>
        <p:nvSpPr>
          <p:cNvPr id="1048646" name="TextBox 6"/>
          <p:cNvSpPr txBox="1"/>
          <p:nvPr/>
        </p:nvSpPr>
        <p:spPr>
          <a:xfrm>
            <a:off x="373224" y="1045029"/>
            <a:ext cx="11625943" cy="646331"/>
          </a:xfrm>
          <a:prstGeom prst="rect">
            <a:avLst/>
          </a:prstGeom>
          <a:noFill/>
        </p:spPr>
        <p:txBody>
          <a:bodyPr wrap="square" rtlCol="0">
            <a:spAutoFit/>
          </a:bodyPr>
          <a:lstStyle/>
          <a:p>
            <a:pPr marL="285750" indent="-285750">
              <a:buFont typeface="Arial" panose="020B0604020202020204" pitchFamily="34" charset="0"/>
              <a:buChar char="•"/>
            </a:pPr>
            <a:r>
              <a:rPr lang="en-US" kern="0" dirty="0">
                <a:solidFill>
                  <a:srgbClr val="000000"/>
                </a:solidFill>
                <a:latin typeface="Times New Roman" panose="02020603050405020304" pitchFamily="18" charset="0"/>
                <a:ea typeface="Times New Roman" panose="02020603050405020304" pitchFamily="18" charset="0"/>
              </a:rPr>
              <a:t>A </a:t>
            </a:r>
            <a:r>
              <a:rPr lang="en-US" sz="1800" kern="0" dirty="0">
                <a:solidFill>
                  <a:srgbClr val="000000"/>
                </a:solidFill>
                <a:effectLst/>
                <a:latin typeface="Times New Roman" panose="02020603050405020304" pitchFamily="18" charset="0"/>
                <a:ea typeface="Times New Roman" panose="02020603050405020304" pitchFamily="18" charset="0"/>
              </a:rPr>
              <a:t>Data Flow Diagram shows how information enters and leaves the system, what changes the information and where information is stored. </a:t>
            </a:r>
            <a:endParaRPr lang="en-IN" sz="2000" dirty="0"/>
          </a:p>
        </p:txBody>
      </p:sp>
      <p:sp>
        <p:nvSpPr>
          <p:cNvPr id="5" name="TextBox 4"/>
          <p:cNvSpPr txBox="1"/>
          <p:nvPr/>
        </p:nvSpPr>
        <p:spPr>
          <a:xfrm>
            <a:off x="779646" y="2040556"/>
            <a:ext cx="2194560" cy="461665"/>
          </a:xfrm>
          <a:prstGeom prst="rect">
            <a:avLst/>
          </a:prstGeom>
          <a:noFill/>
        </p:spPr>
        <p:txBody>
          <a:bodyPr wrap="square" rtlCol="0">
            <a:spAutoFit/>
          </a:bodyPr>
          <a:lstStyle/>
          <a:p>
            <a:r>
              <a:rPr lang="en-IN" sz="2400" b="1" dirty="0"/>
              <a:t>LEVEL-0</a:t>
            </a:r>
          </a:p>
        </p:txBody>
      </p:sp>
      <p:pic>
        <p:nvPicPr>
          <p:cNvPr id="4" name="Picture 3">
            <a:extLst>
              <a:ext uri="{FF2B5EF4-FFF2-40B4-BE49-F238E27FC236}">
                <a16:creationId xmlns:a16="http://schemas.microsoft.com/office/drawing/2014/main" id="{67BC15A0-8DC2-54F6-2C48-C7360C9CF884}"/>
              </a:ext>
            </a:extLst>
          </p:cNvPr>
          <p:cNvPicPr>
            <a:picLocks noChangeAspect="1"/>
          </p:cNvPicPr>
          <p:nvPr/>
        </p:nvPicPr>
        <p:blipFill>
          <a:blip r:embed="rId2"/>
          <a:stretch>
            <a:fillRect/>
          </a:stretch>
        </p:blipFill>
        <p:spPr>
          <a:xfrm>
            <a:off x="2313994" y="2851417"/>
            <a:ext cx="7893698" cy="306549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96766" y="462013"/>
            <a:ext cx="3031958" cy="461665"/>
          </a:xfrm>
          <a:prstGeom prst="rect">
            <a:avLst/>
          </a:prstGeom>
          <a:noFill/>
        </p:spPr>
        <p:txBody>
          <a:bodyPr wrap="square" rtlCol="0">
            <a:spAutoFit/>
          </a:bodyPr>
          <a:lstStyle/>
          <a:p>
            <a:r>
              <a:rPr lang="en-IN" sz="2400" b="1" dirty="0"/>
              <a:t>LEVEL-1</a:t>
            </a:r>
          </a:p>
        </p:txBody>
      </p:sp>
      <p:pic>
        <p:nvPicPr>
          <p:cNvPr id="2" name="Picture 1" descr="IMG_256"/>
          <p:cNvPicPr>
            <a:picLocks noChangeAspect="1"/>
          </p:cNvPicPr>
          <p:nvPr/>
        </p:nvPicPr>
        <p:blipFill>
          <a:blip r:embed="rId2"/>
          <a:stretch>
            <a:fillRect/>
          </a:stretch>
        </p:blipFill>
        <p:spPr>
          <a:xfrm>
            <a:off x="2879876" y="923678"/>
            <a:ext cx="6200775" cy="5194604"/>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7" name="TextBox 3"/>
          <p:cNvSpPr txBox="1"/>
          <p:nvPr/>
        </p:nvSpPr>
        <p:spPr>
          <a:xfrm>
            <a:off x="4105469" y="331237"/>
            <a:ext cx="3125755" cy="461665"/>
          </a:xfrm>
          <a:prstGeom prst="rect">
            <a:avLst/>
          </a:prstGeom>
          <a:noFill/>
        </p:spPr>
        <p:txBody>
          <a:bodyPr wrap="square" rtlCol="0">
            <a:spAutoFit/>
          </a:bodyPr>
          <a:lstStyle/>
          <a:p>
            <a:r>
              <a:rPr lang="en-US" sz="2400" dirty="0"/>
              <a:t>     </a:t>
            </a:r>
            <a:r>
              <a:rPr lang="en-US" sz="2400" u="sng" dirty="0"/>
              <a:t>CLASS</a:t>
            </a:r>
            <a:r>
              <a:rPr lang="en-US" sz="2400" dirty="0"/>
              <a:t> </a:t>
            </a:r>
            <a:r>
              <a:rPr lang="en-US" sz="2400" u="sng" dirty="0"/>
              <a:t>DIAGRAM</a:t>
            </a:r>
            <a:endParaRPr lang="en-IN" sz="2400" u="sng" dirty="0"/>
          </a:p>
        </p:txBody>
      </p:sp>
      <p:sp>
        <p:nvSpPr>
          <p:cNvPr id="1048648" name="TextBox 5"/>
          <p:cNvSpPr txBox="1"/>
          <p:nvPr/>
        </p:nvSpPr>
        <p:spPr>
          <a:xfrm>
            <a:off x="289248" y="979714"/>
            <a:ext cx="11625943" cy="923330"/>
          </a:xfrm>
          <a:prstGeom prst="rect">
            <a:avLst/>
          </a:prstGeom>
          <a:noFill/>
        </p:spPr>
        <p:txBody>
          <a:bodyPr wrap="square" rtlCol="0">
            <a:spAutoFit/>
          </a:bodyPr>
          <a:lstStyle/>
          <a:p>
            <a:pPr marL="285750" indent="-285750">
              <a:buFont typeface="Arial" panose="020B0604020202020204" pitchFamily="34" charset="0"/>
              <a:buChar char="•"/>
            </a:pPr>
            <a:r>
              <a:rPr lang="en-US" kern="0" dirty="0">
                <a:solidFill>
                  <a:srgbClr val="000000"/>
                </a:solidFill>
                <a:latin typeface="Times New Roman" panose="02020603050405020304" pitchFamily="18" charset="0"/>
                <a:ea typeface="Times New Roman" panose="02020603050405020304" pitchFamily="18" charset="0"/>
              </a:rPr>
              <a:t>A </a:t>
            </a:r>
            <a:r>
              <a:rPr lang="en-US" sz="1800" kern="0" dirty="0">
                <a:solidFill>
                  <a:srgbClr val="000000"/>
                </a:solidFill>
                <a:effectLst/>
                <a:latin typeface="Times New Roman" panose="02020603050405020304" pitchFamily="18" charset="0"/>
                <a:ea typeface="Times New Roman" panose="02020603050405020304" pitchFamily="18" charset="0"/>
              </a:rPr>
              <a:t>class diagram in the Unified Modeling Language (UML) is a type of static structure diagram that describes the structure of a system by showing the system's classes, their attributes, operations (or methods), and the relationships among the classes. </a:t>
            </a:r>
            <a:endParaRPr lang="en-IN" sz="2000" dirty="0"/>
          </a:p>
        </p:txBody>
      </p:sp>
      <p:pic>
        <p:nvPicPr>
          <p:cNvPr id="3" name="Picture 2" descr="IMG_256"/>
          <p:cNvPicPr>
            <a:picLocks noChangeAspect="1"/>
          </p:cNvPicPr>
          <p:nvPr/>
        </p:nvPicPr>
        <p:blipFill>
          <a:blip r:embed="rId2"/>
          <a:stretch>
            <a:fillRect/>
          </a:stretch>
        </p:blipFill>
        <p:spPr>
          <a:xfrm>
            <a:off x="3786841" y="1801495"/>
            <a:ext cx="3763010" cy="5056505"/>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9" name="TextBox 4"/>
          <p:cNvSpPr txBox="1"/>
          <p:nvPr/>
        </p:nvSpPr>
        <p:spPr>
          <a:xfrm>
            <a:off x="4376056" y="177282"/>
            <a:ext cx="2939143" cy="461665"/>
          </a:xfrm>
          <a:prstGeom prst="rect">
            <a:avLst/>
          </a:prstGeom>
          <a:noFill/>
        </p:spPr>
        <p:txBody>
          <a:bodyPr wrap="square" rtlCol="0">
            <a:spAutoFit/>
          </a:bodyPr>
          <a:lstStyle/>
          <a:p>
            <a:r>
              <a:rPr lang="en-US" sz="2400" dirty="0"/>
              <a:t> </a:t>
            </a:r>
            <a:r>
              <a:rPr lang="en-US" sz="2400" u="sng" dirty="0"/>
              <a:t>USE</a:t>
            </a:r>
            <a:r>
              <a:rPr lang="en-US" sz="2400" dirty="0"/>
              <a:t> </a:t>
            </a:r>
            <a:r>
              <a:rPr lang="en-US" sz="2400" u="sng" dirty="0"/>
              <a:t>CASE</a:t>
            </a:r>
            <a:r>
              <a:rPr lang="en-US" sz="2400" dirty="0"/>
              <a:t> </a:t>
            </a:r>
            <a:r>
              <a:rPr lang="en-US" sz="2400" u="sng" dirty="0"/>
              <a:t>DIAGRAM</a:t>
            </a:r>
            <a:endParaRPr lang="en-IN" sz="2400" u="sng" dirty="0"/>
          </a:p>
        </p:txBody>
      </p:sp>
      <p:sp>
        <p:nvSpPr>
          <p:cNvPr id="1048650" name="TextBox 6"/>
          <p:cNvSpPr txBox="1"/>
          <p:nvPr/>
        </p:nvSpPr>
        <p:spPr>
          <a:xfrm>
            <a:off x="195943" y="638947"/>
            <a:ext cx="11800114" cy="1289071"/>
          </a:xfrm>
          <a:prstGeom prst="rect">
            <a:avLst/>
          </a:prstGeom>
          <a:noFill/>
        </p:spPr>
        <p:txBody>
          <a:bodyPr wrap="square" rtlCol="0">
            <a:spAutoFit/>
          </a:bodyPr>
          <a:lstStyle/>
          <a:p>
            <a:pPr marL="342900" indent="-342900" algn="just">
              <a:lnSpc>
                <a:spcPct val="150000"/>
              </a:lnSpc>
              <a:spcAft>
                <a:spcPts val="1000"/>
              </a:spcAft>
              <a:buFont typeface="Arial" panose="020B0604020202020204" pitchFamily="34" charset="0"/>
              <a:buChar char="•"/>
              <a:tabLst>
                <a:tab pos="457200" algn="l"/>
              </a:tabLst>
            </a:pPr>
            <a:r>
              <a:rPr lang="en-US" sz="1800" dirty="0">
                <a:solidFill>
                  <a:srgbClr val="000000"/>
                </a:solidFill>
                <a:effectLst/>
                <a:latin typeface="Times New Roman" panose="02020603050405020304" pitchFamily="18" charset="0"/>
                <a:ea typeface="Times New Roman" panose="02020603050405020304" pitchFamily="18" charset="0"/>
              </a:rPr>
              <a:t>A use case diagram in the Unified Modeling Language (UML) is a type of behavioral diagram. The main purpose of a use case diagram is to show what system functions are performed for which actor. Roles of the actors in the system can be depicted.</a:t>
            </a:r>
            <a:endParaRPr lang="en-IN" sz="1800" dirty="0">
              <a:effectLst/>
              <a:latin typeface="Times New Roman" panose="02020603050405020304" pitchFamily="18" charset="0"/>
              <a:ea typeface="Times New Roman" panose="02020603050405020304" pitchFamily="18" charset="0"/>
            </a:endParaRPr>
          </a:p>
        </p:txBody>
      </p:sp>
      <p:pic>
        <p:nvPicPr>
          <p:cNvPr id="3" name="Picture 2" descr="IMG_256"/>
          <p:cNvPicPr>
            <a:picLocks noChangeAspect="1"/>
          </p:cNvPicPr>
          <p:nvPr/>
        </p:nvPicPr>
        <p:blipFill>
          <a:blip r:embed="rId2"/>
          <a:stretch>
            <a:fillRect/>
          </a:stretch>
        </p:blipFill>
        <p:spPr>
          <a:xfrm>
            <a:off x="2720671" y="2389683"/>
            <a:ext cx="6750657" cy="3180521"/>
          </a:xfrm>
          <a:prstGeom prst="rect">
            <a:avLst/>
          </a:prstGeom>
          <a:noFill/>
          <a:ln w="9525">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0" name="TextBox 4"/>
          <p:cNvSpPr txBox="1"/>
          <p:nvPr/>
        </p:nvSpPr>
        <p:spPr>
          <a:xfrm>
            <a:off x="4683967" y="158621"/>
            <a:ext cx="3013788" cy="461665"/>
          </a:xfrm>
          <a:prstGeom prst="rect">
            <a:avLst/>
          </a:prstGeom>
          <a:noFill/>
        </p:spPr>
        <p:txBody>
          <a:bodyPr wrap="square" rtlCol="0">
            <a:spAutoFit/>
          </a:bodyPr>
          <a:lstStyle/>
          <a:p>
            <a:r>
              <a:rPr lang="en-US" sz="2400" u="sng" dirty="0"/>
              <a:t>ACTIVITY</a:t>
            </a:r>
            <a:r>
              <a:rPr lang="en-US" sz="2400" dirty="0"/>
              <a:t> </a:t>
            </a:r>
            <a:r>
              <a:rPr lang="en-US" sz="2400" u="sng" dirty="0"/>
              <a:t>DIAGRAM</a:t>
            </a:r>
            <a:endParaRPr lang="en-IN" sz="2400" u="sng" dirty="0"/>
          </a:p>
        </p:txBody>
      </p:sp>
      <p:sp>
        <p:nvSpPr>
          <p:cNvPr id="1048601" name="TextBox 6"/>
          <p:cNvSpPr txBox="1"/>
          <p:nvPr/>
        </p:nvSpPr>
        <p:spPr>
          <a:xfrm>
            <a:off x="494522" y="793102"/>
            <a:ext cx="11430000" cy="646331"/>
          </a:xfrm>
          <a:prstGeom prst="rect">
            <a:avLst/>
          </a:prstGeom>
          <a:noFill/>
        </p:spPr>
        <p:txBody>
          <a:bodyPr wrap="square" rtlCol="0">
            <a:spAutoFit/>
          </a:bodyPr>
          <a:lstStyle/>
          <a:p>
            <a:pPr marL="285750" indent="-285750">
              <a:buFont typeface="Arial" panose="020B0604020202020204" pitchFamily="34" charset="0"/>
              <a:buChar char="•"/>
            </a:pPr>
            <a:r>
              <a:rPr lang="en-US" sz="1800" kern="0">
                <a:solidFill>
                  <a:srgbClr val="000000"/>
                </a:solidFill>
                <a:effectLst/>
                <a:latin typeface="Times New Roman" panose="02020603050405020304" pitchFamily="18" charset="0"/>
                <a:ea typeface="Times New Roman" panose="02020603050405020304" pitchFamily="18" charset="0"/>
              </a:rPr>
              <a:t>Activity diagrams are graphical representations of workflows of stepwise activities and actions with support for choice, iteration and concurrency. </a:t>
            </a:r>
            <a:endParaRPr lang="en-IN" dirty="0"/>
          </a:p>
        </p:txBody>
      </p:sp>
      <p:pic>
        <p:nvPicPr>
          <p:cNvPr id="2" name="Picture 1" descr="IMG_256"/>
          <p:cNvPicPr>
            <a:picLocks noChangeAspect="1"/>
          </p:cNvPicPr>
          <p:nvPr/>
        </p:nvPicPr>
        <p:blipFill>
          <a:blip r:embed="rId2"/>
          <a:stretch>
            <a:fillRect/>
          </a:stretch>
        </p:blipFill>
        <p:spPr>
          <a:xfrm>
            <a:off x="4098276" y="1439433"/>
            <a:ext cx="3995448" cy="5004021"/>
          </a:xfrm>
          <a:prstGeom prst="rect">
            <a:avLst/>
          </a:prstGeom>
          <a:noFill/>
          <a:ln w="9525">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7" name="TextBox 4"/>
          <p:cNvSpPr txBox="1"/>
          <p:nvPr/>
        </p:nvSpPr>
        <p:spPr>
          <a:xfrm>
            <a:off x="4376057" y="214604"/>
            <a:ext cx="3601616" cy="461665"/>
          </a:xfrm>
          <a:prstGeom prst="rect">
            <a:avLst/>
          </a:prstGeom>
          <a:noFill/>
        </p:spPr>
        <p:txBody>
          <a:bodyPr wrap="square" rtlCol="0">
            <a:spAutoFit/>
          </a:bodyPr>
          <a:lstStyle/>
          <a:p>
            <a:r>
              <a:rPr lang="en-US" sz="2400" u="sng" dirty="0"/>
              <a:t>SEQUENCE</a:t>
            </a:r>
            <a:r>
              <a:rPr lang="en-US" sz="2400" dirty="0"/>
              <a:t> </a:t>
            </a:r>
            <a:r>
              <a:rPr lang="en-US" sz="2400" u="sng" dirty="0"/>
              <a:t>DIAGRAM</a:t>
            </a:r>
            <a:endParaRPr lang="en-IN" sz="2400" u="sng" dirty="0"/>
          </a:p>
        </p:txBody>
      </p:sp>
      <p:sp>
        <p:nvSpPr>
          <p:cNvPr id="1048598" name="TextBox 8"/>
          <p:cNvSpPr txBox="1"/>
          <p:nvPr/>
        </p:nvSpPr>
        <p:spPr>
          <a:xfrm>
            <a:off x="391885" y="802433"/>
            <a:ext cx="11485983" cy="873572"/>
          </a:xfrm>
          <a:prstGeom prst="rect">
            <a:avLst/>
          </a:prstGeom>
          <a:noFill/>
        </p:spPr>
        <p:txBody>
          <a:bodyPr wrap="square" rtlCol="0">
            <a:spAutoFit/>
          </a:bodyPr>
          <a:lstStyle/>
          <a:p>
            <a:pPr marL="342900" lvl="0" indent="-342900" algn="just">
              <a:lnSpc>
                <a:spcPct val="150000"/>
              </a:lnSpc>
              <a:spcAft>
                <a:spcPts val="1000"/>
              </a:spcAft>
              <a:buFont typeface="Arial" panose="020B0604020202020204" pitchFamily="34" charset="0"/>
              <a:buChar char="•"/>
              <a:tabLst>
                <a:tab pos="457200" algn="l"/>
              </a:tabLst>
            </a:pPr>
            <a:r>
              <a:rPr lang="en-US" sz="1800">
                <a:solidFill>
                  <a:srgbClr val="000000"/>
                </a:solidFill>
                <a:effectLst/>
                <a:latin typeface="Times New Roman" panose="02020603050405020304" pitchFamily="18" charset="0"/>
                <a:ea typeface="Times New Roman" panose="02020603050405020304" pitchFamily="18" charset="0"/>
              </a:rPr>
              <a:t>A sequence diagram in Unified Modeling Language (UML) is a kind of interaction diagram that shows how processes operate with one another and in what order. </a:t>
            </a:r>
            <a:endParaRPr lang="en-IN" sz="1800">
              <a:effectLst/>
              <a:latin typeface="Times New Roman" panose="02020603050405020304" pitchFamily="18" charset="0"/>
              <a:ea typeface="Times New Roman" panose="02020603050405020304" pitchFamily="18" charset="0"/>
            </a:endParaRPr>
          </a:p>
        </p:txBody>
      </p:sp>
      <p:pic>
        <p:nvPicPr>
          <p:cNvPr id="2" name="Picture 1" descr="IMG_256"/>
          <p:cNvPicPr>
            <a:picLocks noChangeAspect="1"/>
          </p:cNvPicPr>
          <p:nvPr/>
        </p:nvPicPr>
        <p:blipFill>
          <a:blip r:embed="rId2"/>
          <a:stretch>
            <a:fillRect/>
          </a:stretch>
        </p:blipFill>
        <p:spPr>
          <a:xfrm>
            <a:off x="2735248" y="1750896"/>
            <a:ext cx="6528021" cy="4829940"/>
          </a:xfrm>
          <a:prstGeom prst="rect">
            <a:avLst/>
          </a:prstGeom>
          <a:noFill/>
          <a:ln w="9525">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3" name="TextBox 4"/>
          <p:cNvSpPr txBox="1"/>
          <p:nvPr/>
        </p:nvSpPr>
        <p:spPr>
          <a:xfrm>
            <a:off x="4329404" y="177282"/>
            <a:ext cx="4572000" cy="461665"/>
          </a:xfrm>
          <a:prstGeom prst="rect">
            <a:avLst/>
          </a:prstGeom>
          <a:noFill/>
        </p:spPr>
        <p:txBody>
          <a:bodyPr wrap="square" rtlCol="0">
            <a:spAutoFit/>
          </a:bodyPr>
          <a:lstStyle/>
          <a:p>
            <a:r>
              <a:rPr lang="en-US" sz="2400" u="sng" dirty="0"/>
              <a:t>COLLABORATION</a:t>
            </a:r>
            <a:r>
              <a:rPr lang="en-US" sz="2400" dirty="0"/>
              <a:t> </a:t>
            </a:r>
            <a:r>
              <a:rPr lang="en-US" sz="2400" u="sng" dirty="0"/>
              <a:t>DIAGRAM</a:t>
            </a:r>
            <a:endParaRPr lang="en-IN" sz="2400" u="sng" dirty="0"/>
          </a:p>
        </p:txBody>
      </p:sp>
      <p:sp>
        <p:nvSpPr>
          <p:cNvPr id="1048594" name="TextBox 6"/>
          <p:cNvSpPr txBox="1"/>
          <p:nvPr/>
        </p:nvSpPr>
        <p:spPr>
          <a:xfrm>
            <a:off x="270588" y="839755"/>
            <a:ext cx="11635273" cy="1200329"/>
          </a:xfrm>
          <a:prstGeom prst="rect">
            <a:avLst/>
          </a:prstGeom>
          <a:noFill/>
        </p:spPr>
        <p:txBody>
          <a:bodyPr wrap="square" rtlCol="0">
            <a:spAutoFit/>
          </a:bodyPr>
          <a:lstStyle/>
          <a:p>
            <a:pPr marL="285750" indent="-285750">
              <a:buFont typeface="Arial" panose="020B0604020202020204" pitchFamily="34" charset="0"/>
              <a:buChar char="•"/>
            </a:pPr>
            <a:r>
              <a:rPr lang="en-US" sz="1800" kern="0" dirty="0">
                <a:solidFill>
                  <a:srgbClr val="000000"/>
                </a:solidFill>
                <a:effectLst/>
                <a:latin typeface="Times New Roman" panose="02020603050405020304" pitchFamily="18" charset="0"/>
                <a:ea typeface="Times New Roman" panose="02020603050405020304" pitchFamily="18" charset="0"/>
              </a:rPr>
              <a:t>A collaboration diagram emphasizes the relationships and connections between objects, highlighting how they interact with each other. </a:t>
            </a:r>
            <a:endParaRPr lang="en-US" kern="0" dirty="0">
              <a:solidFill>
                <a:srgbClr val="000000"/>
              </a:solidFill>
              <a:latin typeface="Times New Roman" panose="02020603050405020304" pitchFamily="18" charset="0"/>
              <a:ea typeface="Times New Roman" panose="02020603050405020304" pitchFamily="18" charset="0"/>
            </a:endParaRPr>
          </a:p>
          <a:p>
            <a:pPr marL="285750" indent="-285750">
              <a:buFont typeface="Arial" panose="020B0604020202020204" pitchFamily="34" charset="0"/>
              <a:buChar char="•"/>
            </a:pPr>
            <a:r>
              <a:rPr lang="en-US" kern="0" dirty="0">
                <a:solidFill>
                  <a:srgbClr val="000000"/>
                </a:solidFill>
                <a:latin typeface="Times New Roman" panose="02020603050405020304" pitchFamily="18" charset="0"/>
                <a:ea typeface="Times New Roman" panose="02020603050405020304" pitchFamily="18" charset="0"/>
              </a:rPr>
              <a:t>A</a:t>
            </a:r>
            <a:r>
              <a:rPr lang="en-US" sz="1800" kern="0" dirty="0">
                <a:solidFill>
                  <a:srgbClr val="000000"/>
                </a:solidFill>
                <a:effectLst/>
                <a:latin typeface="Times New Roman" panose="02020603050405020304" pitchFamily="18" charset="0"/>
                <a:ea typeface="Times New Roman" panose="02020603050405020304" pitchFamily="18" charset="0"/>
              </a:rPr>
              <a:t> sequence diagram shows "when" interactions happen, while a collaboration diagram shows "who” interacts with whom.</a:t>
            </a:r>
            <a:endParaRPr lang="en-IN" sz="2000" dirty="0"/>
          </a:p>
        </p:txBody>
      </p:sp>
      <p:pic>
        <p:nvPicPr>
          <p:cNvPr id="4" name="Picture 3"/>
          <p:cNvPicPr>
            <a:picLocks noChangeAspect="1"/>
          </p:cNvPicPr>
          <p:nvPr/>
        </p:nvPicPr>
        <p:blipFill>
          <a:blip r:embed="rId2"/>
          <a:stretch>
            <a:fillRect/>
          </a:stretch>
        </p:blipFill>
        <p:spPr>
          <a:xfrm>
            <a:off x="2267339" y="2435290"/>
            <a:ext cx="7557796" cy="395617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38400" y="2357717"/>
            <a:ext cx="6615953" cy="1077218"/>
          </a:xfrm>
          <a:prstGeom prst="rect">
            <a:avLst/>
          </a:prstGeom>
          <a:noFill/>
        </p:spPr>
        <p:txBody>
          <a:bodyPr wrap="square" rtlCol="0">
            <a:spAutoFit/>
          </a:bodyPr>
          <a:lstStyle/>
          <a:p>
            <a:pPr algn="ctr"/>
            <a:r>
              <a:rPr lang="en-US" sz="3200" dirty="0">
                <a:ln w="12700">
                  <a:solidFill>
                    <a:srgbClr val="7030A0"/>
                  </a:solidFill>
                  <a:prstDash val="solid"/>
                </a:ln>
                <a:solidFill>
                  <a:srgbClr val="7030A0"/>
                </a:solidFill>
                <a:effectLst>
                  <a:outerShdw blurRad="50800" dist="38100" dir="2700000" algn="tl" rotWithShape="0">
                    <a:prstClr val="black">
                      <a:alpha val="40000"/>
                    </a:prstClr>
                  </a:outerShdw>
                </a:effectLst>
                <a:latin typeface="Times New Roman" panose="02020603050405020304" pitchFamily="18" charset="0"/>
                <a:ea typeface="Kozuka Mincho Pr6N B" panose="02020800000000000000" pitchFamily="18" charset="-128"/>
                <a:cs typeface="Times New Roman" panose="02020603050405020304" pitchFamily="18" charset="0"/>
                <a:sym typeface="+mn-ea"/>
              </a:rPr>
              <a:t>IMPLEMENTATION, TESTING &amp; RESULTS</a:t>
            </a:r>
            <a:endParaRPr lang="en-US"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30014" y="493066"/>
            <a:ext cx="7237207" cy="523220"/>
          </a:xfrm>
          <a:prstGeom prst="rect">
            <a:avLst/>
          </a:prstGeom>
          <a:noFill/>
        </p:spPr>
        <p:txBody>
          <a:bodyPr wrap="square">
            <a:spAutoFit/>
          </a:bodyPr>
          <a:lstStyle/>
          <a:p>
            <a:r>
              <a:rPr lang="en-IN" sz="2800" b="1" dirty="0"/>
              <a:t>Importing Libraries and Relevant Methods</a:t>
            </a:r>
          </a:p>
        </p:txBody>
      </p:sp>
      <p:pic>
        <p:nvPicPr>
          <p:cNvPr id="5" name="Picture 4">
            <a:extLst>
              <a:ext uri="{FF2B5EF4-FFF2-40B4-BE49-F238E27FC236}">
                <a16:creationId xmlns:a16="http://schemas.microsoft.com/office/drawing/2014/main" id="{50AA0235-DF73-C71D-99FD-4668E8A4B974}"/>
              </a:ext>
            </a:extLst>
          </p:cNvPr>
          <p:cNvPicPr>
            <a:picLocks noChangeAspect="1"/>
          </p:cNvPicPr>
          <p:nvPr/>
        </p:nvPicPr>
        <p:blipFill>
          <a:blip r:embed="rId2"/>
          <a:stretch>
            <a:fillRect/>
          </a:stretch>
        </p:blipFill>
        <p:spPr>
          <a:xfrm>
            <a:off x="870857" y="1596995"/>
            <a:ext cx="10450286" cy="397338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052047" y="2689411"/>
            <a:ext cx="4087905" cy="523220"/>
          </a:xfrm>
          <a:prstGeom prst="rect">
            <a:avLst/>
          </a:prstGeom>
          <a:noFill/>
        </p:spPr>
        <p:txBody>
          <a:bodyPr wrap="square" rtlCol="0">
            <a:spAutoFit/>
          </a:bodyPr>
          <a:lstStyle/>
          <a:p>
            <a:pPr algn="ctr"/>
            <a:r>
              <a:rPr lang="en-US" sz="2800" b="1" dirty="0">
                <a:solidFill>
                  <a:schemeClr val="accent2">
                    <a:lumMod val="75000"/>
                  </a:schemeClr>
                </a:solidFill>
                <a:latin typeface="Times New Roman" panose="02020603050405020304" pitchFamily="18" charset="0"/>
                <a:cs typeface="Times New Roman" panose="02020603050405020304" pitchFamily="18" charset="0"/>
              </a:rPr>
              <a:t>IMPLEMENTATION</a:t>
            </a:r>
            <a:endParaRPr lang="en-IN" sz="2800" b="1" dirty="0">
              <a:solidFill>
                <a:schemeClr val="accent2">
                  <a:lumMod val="7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53821" y="1411399"/>
            <a:ext cx="10883088" cy="5631180"/>
          </a:xfrm>
          <a:prstGeom prst="rect">
            <a:avLst/>
          </a:prstGeom>
          <a:noFill/>
        </p:spPr>
        <p:txBody>
          <a:bodyPr wrap="square">
            <a:spAutoFit/>
          </a:bodyPr>
          <a:lstStyle/>
          <a:p>
            <a:pPr algn="just">
              <a:lnSpc>
                <a:spcPct val="150000"/>
              </a:lnSpc>
            </a:pPr>
            <a:r>
              <a:rPr lang="en-US" altLang="en-US" sz="1600" b="1" dirty="0">
                <a:latin typeface="Times New Roman" panose="02020603050405020304" pitchFamily="18" charset="0"/>
                <a:cs typeface="Times New Roman" panose="02020603050405020304" pitchFamily="18" charset="0"/>
              </a:rPr>
              <a:t>Exploratory Factor Analysis (EFA)</a:t>
            </a:r>
          </a:p>
          <a:p>
            <a:pPr algn="just">
              <a:lnSpc>
                <a:spcPct val="150000"/>
              </a:lnSpc>
            </a:pPr>
            <a:r>
              <a:rPr lang="en-US" altLang="en-US" sz="1600" dirty="0">
                <a:latin typeface="Times New Roman" panose="02020603050405020304" pitchFamily="18" charset="0"/>
                <a:cs typeface="Times New Roman" panose="02020603050405020304" pitchFamily="18" charset="0"/>
              </a:rPr>
              <a:t>Exploratory Factor Analysis was conducted to identify the key factors influencing digital payment adoption among retail vendors.</a:t>
            </a:r>
          </a:p>
          <a:p>
            <a:pPr algn="just">
              <a:lnSpc>
                <a:spcPct val="150000"/>
              </a:lnSpc>
            </a:pPr>
            <a:r>
              <a:rPr lang="en-US" altLang="en-US" sz="1600" b="1" dirty="0">
                <a:latin typeface="Times New Roman" panose="02020603050405020304" pitchFamily="18" charset="0"/>
                <a:cs typeface="Times New Roman" panose="02020603050405020304" pitchFamily="18" charset="0"/>
              </a:rPr>
              <a:t>Major Factors Identified:</a:t>
            </a:r>
          </a:p>
          <a:p>
            <a:pPr algn="just">
              <a:lnSpc>
                <a:spcPct val="150000"/>
              </a:lnSpc>
            </a:pPr>
            <a:r>
              <a:rPr lang="zh-CN" altLang="en-US" sz="1600" dirty="0">
                <a:latin typeface="Times New Roman" panose="02020603050405020304" pitchFamily="18" charset="0"/>
                <a:cs typeface="Times New Roman" panose="02020603050405020304" pitchFamily="18" charset="0"/>
              </a:rPr>
              <a:t>🔹</a:t>
            </a:r>
            <a:r>
              <a:rPr lang="en-US" altLang="en-US" sz="1600" dirty="0">
                <a:latin typeface="Times New Roman" panose="02020603050405020304" pitchFamily="18" charset="0"/>
                <a:cs typeface="Times New Roman" panose="02020603050405020304" pitchFamily="18" charset="0"/>
              </a:rPr>
              <a:t> Factor 1 – Compatibility</a:t>
            </a:r>
          </a:p>
          <a:p>
            <a:pPr indent="457200" algn="just">
              <a:lnSpc>
                <a:spcPct val="150000"/>
              </a:lnSpc>
            </a:pPr>
            <a:r>
              <a:rPr lang="en-IN" altLang="en-US" sz="1600" dirty="0">
                <a:latin typeface="Times New Roman" panose="02020603050405020304" pitchFamily="18" charset="0"/>
                <a:cs typeface="Times New Roman" panose="02020603050405020304" pitchFamily="18" charset="0"/>
              </a:rPr>
              <a:t>&gt; </a:t>
            </a:r>
            <a:r>
              <a:rPr lang="en-US" altLang="en-US" sz="1600" dirty="0">
                <a:latin typeface="Times New Roman" panose="02020603050405020304" pitchFamily="18" charset="0"/>
                <a:cs typeface="Times New Roman" panose="02020603050405020304" pitchFamily="18" charset="0"/>
              </a:rPr>
              <a:t>Strongest influencing factor</a:t>
            </a:r>
          </a:p>
          <a:p>
            <a:pPr indent="457200" algn="just">
              <a:lnSpc>
                <a:spcPct val="150000"/>
              </a:lnSpc>
            </a:pPr>
            <a:r>
              <a:rPr lang="en-IN" altLang="en-US" sz="1600" dirty="0">
                <a:latin typeface="Times New Roman" panose="02020603050405020304" pitchFamily="18" charset="0"/>
                <a:cs typeface="Times New Roman" panose="02020603050405020304" pitchFamily="18" charset="0"/>
              </a:rPr>
              <a:t>&gt; </a:t>
            </a:r>
            <a:r>
              <a:rPr lang="en-US" altLang="en-US" sz="1600" dirty="0">
                <a:latin typeface="Times New Roman" panose="02020603050405020304" pitchFamily="18" charset="0"/>
                <a:cs typeface="Times New Roman" panose="02020603050405020304" pitchFamily="18" charset="0"/>
              </a:rPr>
              <a:t>Indicates how well digital payments align with existing business practices</a:t>
            </a:r>
          </a:p>
          <a:p>
            <a:pPr indent="457200" algn="just">
              <a:lnSpc>
                <a:spcPct val="150000"/>
              </a:lnSpc>
            </a:pPr>
            <a:r>
              <a:rPr lang="en-IN" altLang="en-US" sz="1600" dirty="0">
                <a:latin typeface="Times New Roman" panose="02020603050405020304" pitchFamily="18" charset="0"/>
                <a:cs typeface="Times New Roman" panose="02020603050405020304" pitchFamily="18" charset="0"/>
              </a:rPr>
              <a:t>&gt; </a:t>
            </a:r>
            <a:r>
              <a:rPr lang="en-US" altLang="en-US" sz="1600" dirty="0">
                <a:latin typeface="Times New Roman" panose="02020603050405020304" pitchFamily="18" charset="0"/>
                <a:cs typeface="Times New Roman" panose="02020603050405020304" pitchFamily="18" charset="0"/>
              </a:rPr>
              <a:t>Highest loading among variables</a:t>
            </a:r>
          </a:p>
          <a:p>
            <a:pPr algn="just">
              <a:lnSpc>
                <a:spcPct val="150000"/>
              </a:lnSpc>
            </a:pPr>
            <a:r>
              <a:rPr lang="zh-CN" altLang="en-US" sz="1600" dirty="0">
                <a:latin typeface="Times New Roman" panose="02020603050405020304" pitchFamily="18" charset="0"/>
                <a:cs typeface="Times New Roman" panose="02020603050405020304" pitchFamily="18" charset="0"/>
              </a:rPr>
              <a:t>🔹</a:t>
            </a:r>
            <a:r>
              <a:rPr lang="en-US" altLang="en-US" sz="1600" dirty="0">
                <a:latin typeface="Times New Roman" panose="02020603050405020304" pitchFamily="18" charset="0"/>
                <a:cs typeface="Times New Roman" panose="02020603050405020304" pitchFamily="18" charset="0"/>
              </a:rPr>
              <a:t> Factor 2 – Perceived Usefulness</a:t>
            </a:r>
          </a:p>
          <a:p>
            <a:pPr indent="457200" algn="just">
              <a:lnSpc>
                <a:spcPct val="150000"/>
              </a:lnSpc>
            </a:pPr>
            <a:r>
              <a:rPr lang="en-IN" altLang="en-US" sz="1600" dirty="0">
                <a:latin typeface="Times New Roman" panose="02020603050405020304" pitchFamily="18" charset="0"/>
                <a:cs typeface="Times New Roman" panose="02020603050405020304" pitchFamily="18" charset="0"/>
              </a:rPr>
              <a:t>&gt; </a:t>
            </a:r>
            <a:r>
              <a:rPr lang="en-US" altLang="en-US" sz="1600" dirty="0">
                <a:latin typeface="Times New Roman" panose="02020603050405020304" pitchFamily="18" charset="0"/>
                <a:cs typeface="Times New Roman" panose="02020603050405020304" pitchFamily="18" charset="0"/>
              </a:rPr>
              <a:t>High factor loading (~0.987)</a:t>
            </a:r>
          </a:p>
          <a:p>
            <a:pPr indent="457200" algn="just">
              <a:lnSpc>
                <a:spcPct val="150000"/>
              </a:lnSpc>
            </a:pPr>
            <a:r>
              <a:rPr lang="en-IN" altLang="en-US" sz="1600" dirty="0">
                <a:latin typeface="Times New Roman" panose="02020603050405020304" pitchFamily="18" charset="0"/>
                <a:cs typeface="Times New Roman" panose="02020603050405020304" pitchFamily="18" charset="0"/>
              </a:rPr>
              <a:t>&gt; </a:t>
            </a:r>
            <a:r>
              <a:rPr lang="en-US" altLang="en-US" sz="1600" dirty="0">
                <a:latin typeface="Times New Roman" panose="02020603050405020304" pitchFamily="18" charset="0"/>
                <a:cs typeface="Times New Roman" panose="02020603050405020304" pitchFamily="18" charset="0"/>
              </a:rPr>
              <a:t>Vendors adopt digital payments if they improve efficiency and performance</a:t>
            </a:r>
          </a:p>
          <a:p>
            <a:pPr algn="just">
              <a:lnSpc>
                <a:spcPct val="150000"/>
              </a:lnSpc>
            </a:pPr>
            <a:r>
              <a:rPr lang="zh-CN" altLang="en-US" sz="1600" dirty="0">
                <a:latin typeface="Times New Roman" panose="02020603050405020304" pitchFamily="18" charset="0"/>
                <a:cs typeface="Times New Roman" panose="02020603050405020304" pitchFamily="18" charset="0"/>
              </a:rPr>
              <a:t>🔹</a:t>
            </a:r>
            <a:r>
              <a:rPr lang="en-US" altLang="en-US" sz="1600" dirty="0">
                <a:latin typeface="Times New Roman" panose="02020603050405020304" pitchFamily="18" charset="0"/>
                <a:cs typeface="Times New Roman" panose="02020603050405020304" pitchFamily="18" charset="0"/>
              </a:rPr>
              <a:t> Factor 3 – Social Influence</a:t>
            </a:r>
          </a:p>
          <a:p>
            <a:pPr indent="457200" algn="just">
              <a:lnSpc>
                <a:spcPct val="150000"/>
              </a:lnSpc>
            </a:pPr>
            <a:r>
              <a:rPr lang="en-IN" altLang="en-US" sz="1600" dirty="0">
                <a:latin typeface="Times New Roman" panose="02020603050405020304" pitchFamily="18" charset="0"/>
                <a:cs typeface="Times New Roman" panose="02020603050405020304" pitchFamily="18" charset="0"/>
              </a:rPr>
              <a:t>&gt; </a:t>
            </a:r>
            <a:r>
              <a:rPr lang="en-US" altLang="en-US" sz="1600" dirty="0">
                <a:latin typeface="Times New Roman" panose="02020603050405020304" pitchFamily="18" charset="0"/>
                <a:cs typeface="Times New Roman" panose="02020603050405020304" pitchFamily="18" charset="0"/>
              </a:rPr>
              <a:t>Influence of peers, customers, and competitors</a:t>
            </a:r>
          </a:p>
          <a:p>
            <a:pPr indent="457200" algn="just">
              <a:lnSpc>
                <a:spcPct val="150000"/>
              </a:lnSpc>
            </a:pPr>
            <a:r>
              <a:rPr lang="en-IN" altLang="en-US" sz="1600" dirty="0">
                <a:latin typeface="Times New Roman" panose="02020603050405020304" pitchFamily="18" charset="0"/>
                <a:cs typeface="Times New Roman" panose="02020603050405020304" pitchFamily="18" charset="0"/>
              </a:rPr>
              <a:t>&gt; </a:t>
            </a:r>
            <a:r>
              <a:rPr lang="en-US" altLang="en-US" sz="1600" dirty="0">
                <a:latin typeface="Times New Roman" panose="02020603050405020304" pitchFamily="18" charset="0"/>
                <a:cs typeface="Times New Roman" panose="02020603050405020304" pitchFamily="18" charset="0"/>
              </a:rPr>
              <a:t>Strong behavioral impact on adoption decisions</a:t>
            </a:r>
          </a:p>
          <a:p>
            <a:pPr algn="just">
              <a:lnSpc>
                <a:spcPct val="150000"/>
              </a:lnSpc>
            </a:pPr>
            <a:endParaRPr lang="en-US" altLang="en-US" sz="1600" dirty="0">
              <a:latin typeface="Times New Roman" panose="02020603050405020304" pitchFamily="18" charset="0"/>
              <a:cs typeface="Times New Roman" panose="02020603050405020304" pitchFamily="18" charset="0"/>
            </a:endParaRPr>
          </a:p>
          <a:p>
            <a:pPr algn="just">
              <a:lnSpc>
                <a:spcPct val="150000"/>
              </a:lnSpc>
            </a:pPr>
            <a:endParaRPr lang="en-US" altLang="en-US" sz="16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729615" y="862330"/>
            <a:ext cx="9164320" cy="460375"/>
          </a:xfrm>
          <a:prstGeom prst="rect">
            <a:avLst/>
          </a:prstGeom>
          <a:noFill/>
        </p:spPr>
        <p:txBody>
          <a:bodyPr wrap="square">
            <a:spAutoFit/>
          </a:bodyPr>
          <a:lstStyle/>
          <a:p>
            <a:r>
              <a:rPr lang="en-US" altLang="en-US" sz="2400" b="1" dirty="0"/>
              <a:t>FEATURE ANALYSIS (EXPLORATORY</a:t>
            </a:r>
            <a:r>
              <a:rPr lang="en-IN" altLang="en-US" sz="2400" b="1" dirty="0"/>
              <a:t> </a:t>
            </a:r>
            <a:r>
              <a:rPr lang="en-US" altLang="en-US" sz="2400" b="1" dirty="0"/>
              <a:t>FACTOR ANALYSIS - EFA)</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619375" y="415409"/>
            <a:ext cx="6096000" cy="523220"/>
          </a:xfrm>
          <a:prstGeom prst="rect">
            <a:avLst/>
          </a:prstGeom>
          <a:noFill/>
        </p:spPr>
        <p:txBody>
          <a:bodyPr wrap="square">
            <a:spAutoFit/>
          </a:bodyPr>
          <a:lstStyle/>
          <a:p>
            <a:pPr marL="0" indent="0" algn="ctr">
              <a:buFont typeface="Georgia" panose="02040502050405020303" pitchFamily="18" charset="0"/>
              <a:buNone/>
            </a:pPr>
            <a:r>
              <a:rPr lang="en-IN" sz="2800" b="1" dirty="0"/>
              <a:t>Data Preprocessing and Splitting</a:t>
            </a:r>
          </a:p>
        </p:txBody>
      </p:sp>
      <p:pic>
        <p:nvPicPr>
          <p:cNvPr id="5" name="Picture 4">
            <a:extLst>
              <a:ext uri="{FF2B5EF4-FFF2-40B4-BE49-F238E27FC236}">
                <a16:creationId xmlns:a16="http://schemas.microsoft.com/office/drawing/2014/main" id="{49316904-C0F2-58BF-6E4C-9545AA29A9A1}"/>
              </a:ext>
            </a:extLst>
          </p:cNvPr>
          <p:cNvPicPr>
            <a:picLocks noChangeAspect="1"/>
          </p:cNvPicPr>
          <p:nvPr/>
        </p:nvPicPr>
        <p:blipFill>
          <a:blip r:embed="rId2"/>
          <a:stretch>
            <a:fillRect/>
          </a:stretch>
        </p:blipFill>
        <p:spPr>
          <a:xfrm>
            <a:off x="1800808" y="1194318"/>
            <a:ext cx="8873412" cy="5075853"/>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1A8827B-BFA8-DA2C-E70B-BC4ABDEEC725}"/>
              </a:ext>
            </a:extLst>
          </p:cNvPr>
          <p:cNvSpPr txBox="1"/>
          <p:nvPr/>
        </p:nvSpPr>
        <p:spPr>
          <a:xfrm>
            <a:off x="2873828" y="345233"/>
            <a:ext cx="6214188" cy="461665"/>
          </a:xfrm>
          <a:prstGeom prst="rect">
            <a:avLst/>
          </a:prstGeom>
          <a:noFill/>
        </p:spPr>
        <p:txBody>
          <a:bodyPr wrap="square" rtlCol="0">
            <a:spAutoFit/>
          </a:bodyPr>
          <a:lstStyle/>
          <a:p>
            <a:pPr algn="ctr"/>
            <a:r>
              <a:rPr lang="en-US" sz="2400" dirty="0"/>
              <a:t>DATASET VIEW</a:t>
            </a:r>
            <a:endParaRPr lang="en-IN" sz="2400" dirty="0"/>
          </a:p>
        </p:txBody>
      </p:sp>
      <p:pic>
        <p:nvPicPr>
          <p:cNvPr id="4" name="Picture 3">
            <a:extLst>
              <a:ext uri="{FF2B5EF4-FFF2-40B4-BE49-F238E27FC236}">
                <a16:creationId xmlns:a16="http://schemas.microsoft.com/office/drawing/2014/main" id="{3D1C6728-7168-E0C3-12BF-C0E1702AE514}"/>
              </a:ext>
            </a:extLst>
          </p:cNvPr>
          <p:cNvPicPr>
            <a:picLocks noChangeAspect="1"/>
          </p:cNvPicPr>
          <p:nvPr/>
        </p:nvPicPr>
        <p:blipFill>
          <a:blip r:embed="rId2"/>
          <a:stretch>
            <a:fillRect/>
          </a:stretch>
        </p:blipFill>
        <p:spPr>
          <a:xfrm>
            <a:off x="751115" y="905069"/>
            <a:ext cx="10893490" cy="5840963"/>
          </a:xfrm>
          <a:prstGeom prst="rect">
            <a:avLst/>
          </a:prstGeom>
        </p:spPr>
      </p:pic>
    </p:spTree>
    <p:extLst>
      <p:ext uri="{BB962C8B-B14F-4D97-AF65-F5344CB8AC3E}">
        <p14:creationId xmlns:p14="http://schemas.microsoft.com/office/powerpoint/2010/main" val="11115752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609850" y="453509"/>
            <a:ext cx="6248400" cy="523220"/>
          </a:xfrm>
          <a:prstGeom prst="rect">
            <a:avLst/>
          </a:prstGeom>
          <a:noFill/>
        </p:spPr>
        <p:txBody>
          <a:bodyPr wrap="square">
            <a:spAutoFit/>
          </a:bodyPr>
          <a:lstStyle/>
          <a:p>
            <a:pPr marL="0" indent="0" algn="ctr">
              <a:buFont typeface="Georgia" panose="02040502050405020303" pitchFamily="18" charset="0"/>
              <a:buNone/>
            </a:pPr>
            <a:r>
              <a:rPr lang="en-IN" sz="2800" b="1" dirty="0"/>
              <a:t>Training Model Architecture</a:t>
            </a:r>
          </a:p>
        </p:txBody>
      </p:sp>
      <p:pic>
        <p:nvPicPr>
          <p:cNvPr id="4" name="Picture 3">
            <a:extLst>
              <a:ext uri="{FF2B5EF4-FFF2-40B4-BE49-F238E27FC236}">
                <a16:creationId xmlns:a16="http://schemas.microsoft.com/office/drawing/2014/main" id="{032497DC-078C-779B-E895-2BAC69B51240}"/>
              </a:ext>
            </a:extLst>
          </p:cNvPr>
          <p:cNvPicPr>
            <a:picLocks noChangeAspect="1"/>
          </p:cNvPicPr>
          <p:nvPr/>
        </p:nvPicPr>
        <p:blipFill>
          <a:blip r:embed="rId2"/>
          <a:stretch>
            <a:fillRect/>
          </a:stretch>
        </p:blipFill>
        <p:spPr>
          <a:xfrm>
            <a:off x="2276669" y="1408921"/>
            <a:ext cx="7165911" cy="4655977"/>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052047" y="2689411"/>
            <a:ext cx="4087905" cy="523220"/>
          </a:xfrm>
          <a:prstGeom prst="rect">
            <a:avLst/>
          </a:prstGeom>
          <a:noFill/>
        </p:spPr>
        <p:txBody>
          <a:bodyPr wrap="square" rtlCol="0">
            <a:spAutoFit/>
          </a:bodyPr>
          <a:lstStyle/>
          <a:p>
            <a:pPr algn="ctr"/>
            <a:r>
              <a:rPr lang="en-US" sz="2800" b="1" dirty="0">
                <a:solidFill>
                  <a:schemeClr val="accent2">
                    <a:lumMod val="75000"/>
                  </a:schemeClr>
                </a:solidFill>
                <a:latin typeface="Times New Roman" panose="02020603050405020304" pitchFamily="18" charset="0"/>
                <a:cs typeface="Times New Roman" panose="02020603050405020304" pitchFamily="18" charset="0"/>
              </a:rPr>
              <a:t>TESTING</a:t>
            </a:r>
            <a:endParaRPr lang="en-IN" sz="2800" b="1" dirty="0">
              <a:solidFill>
                <a:schemeClr val="accent2">
                  <a:lumMod val="7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14600" y="452766"/>
            <a:ext cx="6096000" cy="523220"/>
          </a:xfrm>
          <a:prstGeom prst="rect">
            <a:avLst/>
          </a:prstGeom>
          <a:noFill/>
        </p:spPr>
        <p:txBody>
          <a:bodyPr wrap="square">
            <a:spAutoFit/>
          </a:bodyPr>
          <a:lstStyle/>
          <a:p>
            <a:pPr marL="0" indent="0" algn="ctr">
              <a:buFont typeface="Georgia" panose="02040502050405020303" pitchFamily="18" charset="0"/>
              <a:buNone/>
            </a:pPr>
            <a:r>
              <a:rPr lang="en-IN" sz="2800" b="1" dirty="0"/>
              <a:t>Model Testing </a:t>
            </a:r>
          </a:p>
        </p:txBody>
      </p:sp>
      <p:pic>
        <p:nvPicPr>
          <p:cNvPr id="5" name="Picture 4">
            <a:extLst>
              <a:ext uri="{FF2B5EF4-FFF2-40B4-BE49-F238E27FC236}">
                <a16:creationId xmlns:a16="http://schemas.microsoft.com/office/drawing/2014/main" id="{9AB5FBE1-EE6E-7B61-59EC-0BC65824CBF2}"/>
              </a:ext>
            </a:extLst>
          </p:cNvPr>
          <p:cNvPicPr>
            <a:picLocks noChangeAspect="1"/>
          </p:cNvPicPr>
          <p:nvPr/>
        </p:nvPicPr>
        <p:blipFill>
          <a:blip r:embed="rId2"/>
          <a:stretch>
            <a:fillRect/>
          </a:stretch>
        </p:blipFill>
        <p:spPr>
          <a:xfrm>
            <a:off x="2023188" y="1226525"/>
            <a:ext cx="8145624" cy="3186853"/>
          </a:xfrm>
          <a:prstGeom prst="rect">
            <a:avLst/>
          </a:prstGeom>
        </p:spPr>
      </p:pic>
      <p:pic>
        <p:nvPicPr>
          <p:cNvPr id="7" name="Picture 6">
            <a:extLst>
              <a:ext uri="{FF2B5EF4-FFF2-40B4-BE49-F238E27FC236}">
                <a16:creationId xmlns:a16="http://schemas.microsoft.com/office/drawing/2014/main" id="{58A07C30-AA69-0DBE-777A-D1F247F1DC2D}"/>
              </a:ext>
            </a:extLst>
          </p:cNvPr>
          <p:cNvPicPr>
            <a:picLocks noChangeAspect="1"/>
          </p:cNvPicPr>
          <p:nvPr/>
        </p:nvPicPr>
        <p:blipFill>
          <a:blip r:embed="rId3"/>
          <a:stretch>
            <a:fillRect/>
          </a:stretch>
        </p:blipFill>
        <p:spPr>
          <a:xfrm>
            <a:off x="2023188" y="4663917"/>
            <a:ext cx="8145624" cy="1671567"/>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C6C5BF81-9B89-18F4-B030-667920B63787}"/>
                  </a:ext>
                </a:extLst>
              </p:cNvPr>
              <p:cNvSpPr txBox="1"/>
              <p:nvPr/>
            </p:nvSpPr>
            <p:spPr>
              <a:xfrm>
                <a:off x="930303" y="205040"/>
                <a:ext cx="8132196" cy="5945025"/>
              </a:xfrm>
              <a:prstGeom prst="rect">
                <a:avLst/>
              </a:prstGeom>
              <a:noFill/>
            </p:spPr>
            <p:txBody>
              <a:bodyPr wrap="square">
                <a:spAutoFit/>
              </a:bodyPr>
              <a:lstStyle/>
              <a:p>
                <a:pPr algn="ctr">
                  <a:spcAft>
                    <a:spcPts val="600"/>
                  </a:spcAft>
                </a:pPr>
                <a:r>
                  <a:rPr lang="en-US" sz="2800" b="1" dirty="0">
                    <a:solidFill>
                      <a:srgbClr val="6666FF"/>
                    </a:solidFill>
                    <a:effectLst>
                      <a:reflection blurRad="6350" stA="55000" endA="300" endPos="45500" dir="5400000" sy="-100000" algn="bl" rotWithShape="0"/>
                    </a:effectLst>
                    <a:latin typeface="Times New Roman" panose="02020603050405020304" pitchFamily="18" charset="0"/>
                    <a:cs typeface="Times New Roman" panose="02020603050405020304" pitchFamily="18" charset="0"/>
                  </a:rPr>
                  <a:t>                         PERFORMANCE METRIS</a:t>
                </a:r>
                <a:endParaRPr lang="en-US" sz="2800" b="1" dirty="0">
                  <a:solidFill>
                    <a:srgbClr val="6666FF"/>
                  </a:solidFill>
                  <a:latin typeface="Times New Roman" panose="02020603050405020304" pitchFamily="18" charset="0"/>
                  <a:cs typeface="Times New Roman" panose="02020603050405020304" pitchFamily="18" charset="0"/>
                </a:endParaRPr>
              </a:p>
              <a:p>
                <a:endParaRPr lang="en-IN" sz="1600" b="1" dirty="0">
                  <a:solidFill>
                    <a:srgbClr val="FF0000"/>
                  </a:solidFill>
                  <a:latin typeface="Times New Roman" panose="02020603050405020304" pitchFamily="18" charset="0"/>
                  <a:cs typeface="Times New Roman" panose="02020603050405020304" pitchFamily="18" charset="0"/>
                </a:endParaRPr>
              </a:p>
              <a:p>
                <a:endParaRPr lang="en-IN" sz="1600" b="1" dirty="0">
                  <a:solidFill>
                    <a:srgbClr val="FF0000"/>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sz="1600" b="1" dirty="0">
                    <a:solidFill>
                      <a:srgbClr val="FF0000"/>
                    </a:solidFill>
                    <a:latin typeface="Times New Roman" panose="02020603050405020304" pitchFamily="18" charset="0"/>
                    <a:cs typeface="Times New Roman" panose="02020603050405020304" pitchFamily="18" charset="0"/>
                  </a:rPr>
                  <a:t>Accuracy:</a:t>
                </a:r>
              </a:p>
              <a:p>
                <a:pPr/>
                <a14:m>
                  <m:oMathPara xmlns:m="http://schemas.openxmlformats.org/officeDocument/2006/math">
                    <m:oMathParaPr>
                      <m:jc m:val="centerGroup"/>
                    </m:oMathParaPr>
                    <m:oMath xmlns:m="http://schemas.openxmlformats.org/officeDocument/2006/math">
                      <m:r>
                        <a:rPr lang="en-IN" sz="1600" i="1">
                          <a:latin typeface="Cambria Math" panose="02040503050406030204" pitchFamily="18" charset="0"/>
                        </a:rPr>
                        <m:t>𝐴𝑐𝑐𝑢𝑟𝑎𝑐𝑦</m:t>
                      </m:r>
                      <m:r>
                        <a:rPr lang="en-IN" sz="1600">
                          <a:latin typeface="Cambria Math" panose="02040503050406030204" pitchFamily="18" charset="0"/>
                        </a:rPr>
                        <m:t>=</m:t>
                      </m:r>
                      <m:f>
                        <m:fPr>
                          <m:ctrlPr>
                            <a:rPr lang="ar-AE" sz="1600" i="1">
                              <a:latin typeface="Cambria Math" panose="02040503050406030204" pitchFamily="18" charset="0"/>
                            </a:rPr>
                          </m:ctrlPr>
                        </m:fPr>
                        <m:num>
                          <m:r>
                            <a:rPr lang="ar-AE" sz="1600" i="1">
                              <a:latin typeface="Cambria Math" panose="02040503050406030204" pitchFamily="18" charset="0"/>
                            </a:rPr>
                            <m:t>𝑇𝑃</m:t>
                          </m:r>
                          <m:r>
                            <a:rPr lang="ar-AE" sz="1600">
                              <a:latin typeface="Cambria Math" panose="02040503050406030204" pitchFamily="18" charset="0"/>
                            </a:rPr>
                            <m:t>+</m:t>
                          </m:r>
                          <m:r>
                            <a:rPr lang="ar-AE" sz="1600" i="1">
                              <a:latin typeface="Cambria Math" panose="02040503050406030204" pitchFamily="18" charset="0"/>
                            </a:rPr>
                            <m:t>𝑇𝑁</m:t>
                          </m:r>
                        </m:num>
                        <m:den>
                          <m:r>
                            <a:rPr lang="ar-AE" sz="1600" i="1">
                              <a:latin typeface="Cambria Math" panose="02040503050406030204" pitchFamily="18" charset="0"/>
                            </a:rPr>
                            <m:t>𝑇𝑃</m:t>
                          </m:r>
                          <m:r>
                            <a:rPr lang="ar-AE" sz="1600">
                              <a:latin typeface="Cambria Math" panose="02040503050406030204" pitchFamily="18" charset="0"/>
                            </a:rPr>
                            <m:t>+</m:t>
                          </m:r>
                          <m:r>
                            <a:rPr lang="ar-AE" sz="1600" i="1">
                              <a:latin typeface="Cambria Math" panose="02040503050406030204" pitchFamily="18" charset="0"/>
                            </a:rPr>
                            <m:t>𝑇𝑁</m:t>
                          </m:r>
                          <m:r>
                            <a:rPr lang="ar-AE" sz="1600">
                              <a:latin typeface="Cambria Math" panose="02040503050406030204" pitchFamily="18" charset="0"/>
                            </a:rPr>
                            <m:t>+</m:t>
                          </m:r>
                          <m:r>
                            <a:rPr lang="ar-AE" sz="1600" i="1">
                              <a:latin typeface="Cambria Math" panose="02040503050406030204" pitchFamily="18" charset="0"/>
                            </a:rPr>
                            <m:t>𝐹𝑃</m:t>
                          </m:r>
                          <m:r>
                            <a:rPr lang="ar-AE" sz="1600">
                              <a:latin typeface="Cambria Math" panose="02040503050406030204" pitchFamily="18" charset="0"/>
                            </a:rPr>
                            <m:t>+</m:t>
                          </m:r>
                          <m:r>
                            <a:rPr lang="ar-AE" sz="1600" i="1">
                              <a:latin typeface="Cambria Math" panose="02040503050406030204" pitchFamily="18" charset="0"/>
                            </a:rPr>
                            <m:t>𝐹𝑁</m:t>
                          </m:r>
                        </m:den>
                      </m:f>
                    </m:oMath>
                  </m:oMathPara>
                </a14:m>
                <a:br>
                  <a:rPr lang="ar-AE" sz="1600" dirty="0">
                    <a:latin typeface="Times New Roman" panose="02020603050405020304" pitchFamily="18" charset="0"/>
                    <a:cs typeface="Times New Roman" panose="02020603050405020304" pitchFamily="18" charset="0"/>
                  </a:rPr>
                </a:br>
                <a:r>
                  <a:rPr lang="en-IN" sz="1600" b="1" dirty="0">
                    <a:latin typeface="Times New Roman" panose="02020603050405020304" pitchFamily="18" charset="0"/>
                    <a:cs typeface="Times New Roman" panose="02020603050405020304" pitchFamily="18" charset="0"/>
                  </a:rPr>
                  <a:t>Definition:</a:t>
                </a:r>
                <a:r>
                  <a:rPr lang="en-IN" sz="1600" dirty="0">
                    <a:latin typeface="Times New Roman" panose="02020603050405020304" pitchFamily="18" charset="0"/>
                    <a:cs typeface="Times New Roman" panose="02020603050405020304" pitchFamily="18" charset="0"/>
                  </a:rPr>
                  <a:t> Measures how often the model gives the correct prediction.</a:t>
                </a:r>
              </a:p>
              <a:p>
                <a:pPr marL="285750" indent="-285750">
                  <a:buFont typeface="Wingdings" panose="05000000000000000000" pitchFamily="2" charset="2"/>
                  <a:buChar char="Ø"/>
                </a:pPr>
                <a:r>
                  <a:rPr lang="en-IN" sz="1600" b="1" dirty="0">
                    <a:solidFill>
                      <a:srgbClr val="FF0000"/>
                    </a:solidFill>
                    <a:latin typeface="Times New Roman" panose="02020603050405020304" pitchFamily="18" charset="0"/>
                    <a:cs typeface="Times New Roman" panose="02020603050405020304" pitchFamily="18" charset="0"/>
                  </a:rPr>
                  <a:t>Precision:</a:t>
                </a:r>
              </a:p>
              <a:p>
                <a:pPr/>
                <a14:m>
                  <m:oMathPara xmlns:m="http://schemas.openxmlformats.org/officeDocument/2006/math">
                    <m:oMathParaPr>
                      <m:jc m:val="centerGroup"/>
                    </m:oMathParaPr>
                    <m:oMath xmlns:m="http://schemas.openxmlformats.org/officeDocument/2006/math">
                      <m:r>
                        <a:rPr lang="en-IN" sz="1600" i="1">
                          <a:latin typeface="Cambria Math" panose="02040503050406030204" pitchFamily="18" charset="0"/>
                        </a:rPr>
                        <m:t>𝑃𝑟𝑒𝑐𝑖𝑠𝑖𝑜𝑛</m:t>
                      </m:r>
                      <m:r>
                        <a:rPr lang="en-IN" sz="1600">
                          <a:latin typeface="Cambria Math" panose="02040503050406030204" pitchFamily="18" charset="0"/>
                        </a:rPr>
                        <m:t>=</m:t>
                      </m:r>
                      <m:f>
                        <m:fPr>
                          <m:ctrlPr>
                            <a:rPr lang="ar-AE" sz="1600" i="1">
                              <a:latin typeface="Cambria Math" panose="02040503050406030204" pitchFamily="18" charset="0"/>
                            </a:rPr>
                          </m:ctrlPr>
                        </m:fPr>
                        <m:num>
                          <m:r>
                            <a:rPr lang="ar-AE" sz="1600" i="1">
                              <a:latin typeface="Cambria Math" panose="02040503050406030204" pitchFamily="18" charset="0"/>
                            </a:rPr>
                            <m:t>𝑇𝑃</m:t>
                          </m:r>
                        </m:num>
                        <m:den>
                          <m:r>
                            <a:rPr lang="ar-AE" sz="1600" i="1">
                              <a:latin typeface="Cambria Math" panose="02040503050406030204" pitchFamily="18" charset="0"/>
                            </a:rPr>
                            <m:t>𝑇𝑃</m:t>
                          </m:r>
                          <m:r>
                            <a:rPr lang="ar-AE" sz="1600">
                              <a:latin typeface="Cambria Math" panose="02040503050406030204" pitchFamily="18" charset="0"/>
                            </a:rPr>
                            <m:t>+</m:t>
                          </m:r>
                          <m:r>
                            <a:rPr lang="ar-AE" sz="1600" i="1">
                              <a:latin typeface="Cambria Math" panose="02040503050406030204" pitchFamily="18" charset="0"/>
                            </a:rPr>
                            <m:t>𝐹𝑃</m:t>
                          </m:r>
                        </m:den>
                      </m:f>
                    </m:oMath>
                  </m:oMathPara>
                </a14:m>
                <a:br>
                  <a:rPr lang="ar-AE" sz="1600" dirty="0">
                    <a:latin typeface="Times New Roman" panose="02020603050405020304" pitchFamily="18" charset="0"/>
                    <a:cs typeface="Times New Roman" panose="02020603050405020304" pitchFamily="18" charset="0"/>
                  </a:rPr>
                </a:br>
                <a:r>
                  <a:rPr lang="en-IN" sz="1600" b="1" dirty="0">
                    <a:latin typeface="Times New Roman" panose="02020603050405020304" pitchFamily="18" charset="0"/>
                    <a:cs typeface="Times New Roman" panose="02020603050405020304" pitchFamily="18" charset="0"/>
                  </a:rPr>
                  <a:t>Definition:</a:t>
                </a:r>
                <a:r>
                  <a:rPr lang="en-IN" sz="1600" dirty="0">
                    <a:latin typeface="Times New Roman" panose="02020603050405020304" pitchFamily="18" charset="0"/>
                    <a:cs typeface="Times New Roman" panose="02020603050405020304" pitchFamily="18" charset="0"/>
                  </a:rPr>
                  <a:t> When the model says a vendor will adopt, how often it is right</a:t>
                </a:r>
              </a:p>
              <a:p>
                <a:pPr marL="285750" indent="-285750">
                  <a:buFont typeface="Wingdings" panose="05000000000000000000" pitchFamily="2" charset="2"/>
                  <a:buChar char="Ø"/>
                </a:pPr>
                <a:r>
                  <a:rPr lang="en-IN" sz="1600" b="1" dirty="0">
                    <a:solidFill>
                      <a:srgbClr val="FF0000"/>
                    </a:solidFill>
                    <a:latin typeface="Times New Roman" panose="02020603050405020304" pitchFamily="18" charset="0"/>
                    <a:cs typeface="Times New Roman" panose="02020603050405020304" pitchFamily="18" charset="0"/>
                  </a:rPr>
                  <a:t>Recall (Sensitivity):</a:t>
                </a:r>
              </a:p>
              <a:p>
                <a:pPr/>
                <a14:m>
                  <m:oMathPara xmlns:m="http://schemas.openxmlformats.org/officeDocument/2006/math">
                    <m:oMathParaPr>
                      <m:jc m:val="centerGroup"/>
                    </m:oMathParaPr>
                    <m:oMath xmlns:m="http://schemas.openxmlformats.org/officeDocument/2006/math">
                      <m:r>
                        <a:rPr lang="en-IN" sz="1600" i="1">
                          <a:latin typeface="Cambria Math" panose="02040503050406030204" pitchFamily="18" charset="0"/>
                        </a:rPr>
                        <m:t>𝑅𝑒𝑐𝑎𝑙𝑙</m:t>
                      </m:r>
                      <m:r>
                        <a:rPr lang="en-IN" sz="1600">
                          <a:latin typeface="Cambria Math" panose="02040503050406030204" pitchFamily="18" charset="0"/>
                        </a:rPr>
                        <m:t>=</m:t>
                      </m:r>
                      <m:f>
                        <m:fPr>
                          <m:ctrlPr>
                            <a:rPr lang="ar-AE" sz="1600" i="1">
                              <a:latin typeface="Cambria Math" panose="02040503050406030204" pitchFamily="18" charset="0"/>
                            </a:rPr>
                          </m:ctrlPr>
                        </m:fPr>
                        <m:num>
                          <m:r>
                            <a:rPr lang="ar-AE" sz="1600" i="1">
                              <a:latin typeface="Cambria Math" panose="02040503050406030204" pitchFamily="18" charset="0"/>
                            </a:rPr>
                            <m:t>𝑇𝑃</m:t>
                          </m:r>
                        </m:num>
                        <m:den>
                          <m:r>
                            <a:rPr lang="ar-AE" sz="1600" i="1">
                              <a:latin typeface="Cambria Math" panose="02040503050406030204" pitchFamily="18" charset="0"/>
                            </a:rPr>
                            <m:t>𝑇𝑃</m:t>
                          </m:r>
                          <m:r>
                            <a:rPr lang="ar-AE" sz="1600">
                              <a:latin typeface="Cambria Math" panose="02040503050406030204" pitchFamily="18" charset="0"/>
                            </a:rPr>
                            <m:t>+</m:t>
                          </m:r>
                          <m:r>
                            <a:rPr lang="ar-AE" sz="1600" i="1">
                              <a:latin typeface="Cambria Math" panose="02040503050406030204" pitchFamily="18" charset="0"/>
                            </a:rPr>
                            <m:t>𝐹𝑁</m:t>
                          </m:r>
                        </m:den>
                      </m:f>
                    </m:oMath>
                  </m:oMathPara>
                </a14:m>
                <a:br>
                  <a:rPr lang="ar-AE" sz="1600" dirty="0">
                    <a:latin typeface="Times New Roman" panose="02020603050405020304" pitchFamily="18" charset="0"/>
                    <a:cs typeface="Times New Roman" panose="02020603050405020304" pitchFamily="18" charset="0"/>
                  </a:rPr>
                </a:br>
                <a:r>
                  <a:rPr lang="en-IN" sz="1600" b="1" dirty="0">
                    <a:latin typeface="Times New Roman" panose="02020603050405020304" pitchFamily="18" charset="0"/>
                    <a:cs typeface="Times New Roman" panose="02020603050405020304" pitchFamily="18" charset="0"/>
                  </a:rPr>
                  <a:t>Definition:</a:t>
                </a:r>
                <a:r>
                  <a:rPr lang="en-IN" sz="1600" dirty="0">
                    <a:latin typeface="Times New Roman" panose="02020603050405020304" pitchFamily="18" charset="0"/>
                    <a:cs typeface="Times New Roman" panose="02020603050405020304" pitchFamily="18" charset="0"/>
                  </a:rPr>
                  <a:t> It measures how well the model finds all vendors who actually adopt.</a:t>
                </a:r>
              </a:p>
              <a:p>
                <a:pPr marL="285750" indent="-285750">
                  <a:buFont typeface="Wingdings" panose="05000000000000000000" pitchFamily="2" charset="2"/>
                  <a:buChar char="Ø"/>
                </a:pPr>
                <a:r>
                  <a:rPr lang="en-IN" sz="1600" b="1" dirty="0">
                    <a:solidFill>
                      <a:srgbClr val="FF0000"/>
                    </a:solidFill>
                    <a:latin typeface="Times New Roman" panose="02020603050405020304" pitchFamily="18" charset="0"/>
                    <a:cs typeface="Times New Roman" panose="02020603050405020304" pitchFamily="18" charset="0"/>
                  </a:rPr>
                  <a:t>F1-Score:</a:t>
                </a:r>
              </a:p>
              <a:p>
                <a:pPr/>
                <a14:m>
                  <m:oMathPara xmlns:m="http://schemas.openxmlformats.org/officeDocument/2006/math">
                    <m:oMathParaPr>
                      <m:jc m:val="centerGroup"/>
                    </m:oMathParaPr>
                    <m:oMath xmlns:m="http://schemas.openxmlformats.org/officeDocument/2006/math">
                      <m:r>
                        <a:rPr lang="en-IN" sz="1600" i="1">
                          <a:latin typeface="Cambria Math" panose="02040503050406030204" pitchFamily="18" charset="0"/>
                        </a:rPr>
                        <m:t>𝐹</m:t>
                      </m:r>
                      <m:r>
                        <a:rPr lang="en-IN" sz="1600">
                          <a:latin typeface="Cambria Math" panose="02040503050406030204" pitchFamily="18" charset="0"/>
                        </a:rPr>
                        <m:t>1</m:t>
                      </m:r>
                      <m:r>
                        <a:rPr lang="en-IN" sz="1600">
                          <a:latin typeface="Cambria Math" panose="02040503050406030204" pitchFamily="18" charset="0"/>
                        </a:rPr>
                        <m:t>=</m:t>
                      </m:r>
                      <m:r>
                        <a:rPr lang="en-IN" sz="1600">
                          <a:latin typeface="Cambria Math" panose="02040503050406030204" pitchFamily="18" charset="0"/>
                        </a:rPr>
                        <m:t>2</m:t>
                      </m:r>
                      <m:r>
                        <a:rPr lang="en-IN" sz="1600">
                          <a:latin typeface="Cambria Math" panose="02040503050406030204" pitchFamily="18" charset="0"/>
                        </a:rPr>
                        <m:t>⋅</m:t>
                      </m:r>
                      <m:f>
                        <m:fPr>
                          <m:ctrlPr>
                            <a:rPr lang="ar-AE" sz="1600" i="1">
                              <a:latin typeface="Cambria Math" panose="02040503050406030204" pitchFamily="18" charset="0"/>
                            </a:rPr>
                          </m:ctrlPr>
                        </m:fPr>
                        <m:num>
                          <m:r>
                            <a:rPr lang="ar-AE" sz="1600" i="1">
                              <a:latin typeface="Cambria Math" panose="02040503050406030204" pitchFamily="18" charset="0"/>
                            </a:rPr>
                            <m:t>𝑃𝑟𝑒𝑐𝑖𝑠𝑖𝑜𝑛</m:t>
                          </m:r>
                          <m:r>
                            <a:rPr lang="ar-AE" sz="1600">
                              <a:latin typeface="Cambria Math" panose="02040503050406030204" pitchFamily="18" charset="0"/>
                            </a:rPr>
                            <m:t>⋅</m:t>
                          </m:r>
                          <m:r>
                            <a:rPr lang="ar-AE" sz="1600" i="1">
                              <a:latin typeface="Cambria Math" panose="02040503050406030204" pitchFamily="18" charset="0"/>
                            </a:rPr>
                            <m:t>𝑅𝑒𝑐𝑎𝑙𝑙</m:t>
                          </m:r>
                        </m:num>
                        <m:den>
                          <m:r>
                            <a:rPr lang="ar-AE" sz="1600" i="1">
                              <a:latin typeface="Cambria Math" panose="02040503050406030204" pitchFamily="18" charset="0"/>
                            </a:rPr>
                            <m:t>𝑃𝑟𝑒𝑐𝑖𝑠𝑖𝑜𝑛</m:t>
                          </m:r>
                          <m:r>
                            <a:rPr lang="ar-AE" sz="1600">
                              <a:latin typeface="Cambria Math" panose="02040503050406030204" pitchFamily="18" charset="0"/>
                            </a:rPr>
                            <m:t>+</m:t>
                          </m:r>
                          <m:r>
                            <a:rPr lang="ar-AE" sz="1600" i="1">
                              <a:latin typeface="Cambria Math" panose="02040503050406030204" pitchFamily="18" charset="0"/>
                            </a:rPr>
                            <m:t>𝑅𝑒𝑐𝑎𝑙𝑙</m:t>
                          </m:r>
                        </m:den>
                      </m:f>
                    </m:oMath>
                  </m:oMathPara>
                </a14:m>
                <a:br>
                  <a:rPr lang="ar-AE" sz="1600" dirty="0">
                    <a:latin typeface="Times New Roman" panose="02020603050405020304" pitchFamily="18" charset="0"/>
                    <a:cs typeface="Times New Roman" panose="02020603050405020304" pitchFamily="18" charset="0"/>
                  </a:rPr>
                </a:br>
                <a:r>
                  <a:rPr lang="en-IN" sz="1600" b="1" dirty="0">
                    <a:latin typeface="Times New Roman" panose="02020603050405020304" pitchFamily="18" charset="0"/>
                    <a:cs typeface="Times New Roman" panose="02020603050405020304" pitchFamily="18" charset="0"/>
                  </a:rPr>
                  <a:t>Definition:</a:t>
                </a:r>
                <a:r>
                  <a:rPr lang="en-IN" sz="1600" dirty="0">
                    <a:latin typeface="Times New Roman" panose="02020603050405020304" pitchFamily="18" charset="0"/>
                    <a:cs typeface="Times New Roman" panose="02020603050405020304" pitchFamily="18" charset="0"/>
                  </a:rPr>
                  <a:t> A balance between how correct and how complete the predictions are.</a:t>
                </a:r>
                <a:br>
                  <a:rPr lang="en-IN" sz="1600" dirty="0">
                    <a:latin typeface="Times New Roman" panose="02020603050405020304" pitchFamily="18" charset="0"/>
                    <a:cs typeface="Times New Roman" panose="02020603050405020304" pitchFamily="18" charset="0"/>
                  </a:rPr>
                </a:b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mc:Choice>
        <mc:Fallback>
          <p:sp>
            <p:nvSpPr>
              <p:cNvPr id="3" name="TextBox 2">
                <a:extLst>
                  <a:ext uri="{FF2B5EF4-FFF2-40B4-BE49-F238E27FC236}">
                    <a16:creationId xmlns:a16="http://schemas.microsoft.com/office/drawing/2014/main" id="{C6C5BF81-9B89-18F4-B030-667920B63787}"/>
                  </a:ext>
                </a:extLst>
              </p:cNvPr>
              <p:cNvSpPr txBox="1">
                <a:spLocks noRot="1" noChangeAspect="1" noMove="1" noResize="1" noEditPoints="1" noAdjustHandles="1" noChangeArrowheads="1" noChangeShapeType="1" noTextEdit="1"/>
              </p:cNvSpPr>
              <p:nvPr/>
            </p:nvSpPr>
            <p:spPr>
              <a:xfrm>
                <a:off x="930303" y="205040"/>
                <a:ext cx="8132196" cy="5945025"/>
              </a:xfrm>
              <a:prstGeom prst="rect">
                <a:avLst/>
              </a:prstGeom>
              <a:blipFill>
                <a:blip r:embed="rId2"/>
                <a:stretch>
                  <a:fillRect l="-450" t="-1128"/>
                </a:stretch>
              </a:blipFill>
            </p:spPr>
            <p:txBody>
              <a:bodyPr/>
              <a:lstStyle/>
              <a:p>
                <a:r>
                  <a:rPr lang="en-IN">
                    <a:noFill/>
                  </a:rPr>
                  <a:t> </a:t>
                </a:r>
              </a:p>
            </p:txBody>
          </p:sp>
        </mc:Fallback>
      </mc:AlternateContent>
    </p:spTree>
    <p:extLst>
      <p:ext uri="{BB962C8B-B14F-4D97-AF65-F5344CB8AC3E}">
        <p14:creationId xmlns:p14="http://schemas.microsoft.com/office/powerpoint/2010/main" val="38764417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21661" y="373396"/>
            <a:ext cx="6096000" cy="659540"/>
          </a:xfrm>
          <a:prstGeom prst="rect">
            <a:avLst/>
          </a:prstGeom>
          <a:noFill/>
        </p:spPr>
        <p:txBody>
          <a:bodyPr wrap="square">
            <a:spAutoFit/>
          </a:bodyPr>
          <a:lstStyle/>
          <a:p>
            <a:pPr algn="just">
              <a:lnSpc>
                <a:spcPct val="150000"/>
              </a:lnSpc>
            </a:pPr>
            <a:r>
              <a:rPr lang="en-US" sz="2800" b="1" dirty="0">
                <a:latin typeface="Trebuchet MS" panose="020B0603020202020204" charset="0"/>
                <a:cs typeface="Times New Roman" panose="02020603050405020304" pitchFamily="18" charset="0"/>
              </a:rPr>
              <a:t>Classification Report </a:t>
            </a:r>
          </a:p>
        </p:txBody>
      </p:sp>
      <p:pic>
        <p:nvPicPr>
          <p:cNvPr id="5" name="Picture 4"/>
          <p:cNvPicPr>
            <a:picLocks noChangeAspect="1"/>
          </p:cNvPicPr>
          <p:nvPr/>
        </p:nvPicPr>
        <p:blipFill>
          <a:blip r:embed="rId2"/>
          <a:stretch>
            <a:fillRect/>
          </a:stretch>
        </p:blipFill>
        <p:spPr>
          <a:xfrm>
            <a:off x="2242599" y="1838103"/>
            <a:ext cx="7706801" cy="3181794"/>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8561DB2-F12B-6CDF-B78A-61163B7E3A0B}"/>
              </a:ext>
            </a:extLst>
          </p:cNvPr>
          <p:cNvPicPr>
            <a:picLocks noChangeAspect="1"/>
          </p:cNvPicPr>
          <p:nvPr/>
        </p:nvPicPr>
        <p:blipFill>
          <a:blip r:embed="rId2"/>
          <a:stretch>
            <a:fillRect/>
          </a:stretch>
        </p:blipFill>
        <p:spPr>
          <a:xfrm>
            <a:off x="802433" y="979715"/>
            <a:ext cx="10207689" cy="5663681"/>
          </a:xfrm>
          <a:prstGeom prst="rect">
            <a:avLst/>
          </a:prstGeom>
        </p:spPr>
      </p:pic>
      <p:sp>
        <p:nvSpPr>
          <p:cNvPr id="7" name="TextBox 6">
            <a:extLst>
              <a:ext uri="{FF2B5EF4-FFF2-40B4-BE49-F238E27FC236}">
                <a16:creationId xmlns:a16="http://schemas.microsoft.com/office/drawing/2014/main" id="{4C195664-8024-4F68-9E05-1ECFEA8BF907}"/>
              </a:ext>
            </a:extLst>
          </p:cNvPr>
          <p:cNvSpPr txBox="1"/>
          <p:nvPr/>
        </p:nvSpPr>
        <p:spPr>
          <a:xfrm>
            <a:off x="4310743" y="354563"/>
            <a:ext cx="4030824"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EVALUATION METRICS</a:t>
            </a:r>
            <a:endParaRPr lang="en-IN" sz="24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52475" y="800785"/>
            <a:ext cx="8134350" cy="369332"/>
          </a:xfrm>
          <a:prstGeom prst="rect">
            <a:avLst/>
          </a:prstGeom>
          <a:noFill/>
        </p:spPr>
        <p:txBody>
          <a:bodyPr wrap="square">
            <a:spAutoFit/>
          </a:bodyPr>
          <a:lstStyle/>
          <a:p>
            <a:pPr marL="285750" indent="-28575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Visualizing Confusion matrix and Interpretation for </a:t>
            </a:r>
            <a:r>
              <a:rPr lang="en-US" dirty="0">
                <a:latin typeface="Times New Roman" panose="02020603050405020304" pitchFamily="18" charset="0"/>
                <a:cs typeface="Times New Roman" panose="02020603050405020304" pitchFamily="18" charset="0"/>
              </a:rPr>
              <a:t>Digital Payment  </a:t>
            </a:r>
            <a:r>
              <a:rPr lang="en-IN" sz="1800" dirty="0">
                <a:latin typeface="Times New Roman" panose="02020603050405020304" pitchFamily="18" charset="0"/>
                <a:cs typeface="Times New Roman" panose="02020603050405020304" pitchFamily="18" charset="0"/>
              </a:rPr>
              <a:t>Prediction</a:t>
            </a:r>
          </a:p>
        </p:txBody>
      </p:sp>
      <p:pic>
        <p:nvPicPr>
          <p:cNvPr id="4" name="Picture 3"/>
          <p:cNvPicPr>
            <a:picLocks noChangeAspect="1"/>
          </p:cNvPicPr>
          <p:nvPr/>
        </p:nvPicPr>
        <p:blipFill>
          <a:blip r:embed="rId2"/>
          <a:stretch>
            <a:fillRect/>
          </a:stretch>
        </p:blipFill>
        <p:spPr>
          <a:xfrm>
            <a:off x="2685281" y="1170117"/>
            <a:ext cx="6821438" cy="5394971"/>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955228" y="2710926"/>
            <a:ext cx="4087905" cy="523220"/>
          </a:xfrm>
          <a:prstGeom prst="rect">
            <a:avLst/>
          </a:prstGeom>
          <a:noFill/>
        </p:spPr>
        <p:txBody>
          <a:bodyPr wrap="square" rtlCol="0">
            <a:spAutoFit/>
          </a:bodyPr>
          <a:lstStyle/>
          <a:p>
            <a:pPr algn="ctr"/>
            <a:r>
              <a:rPr lang="en-US" sz="2800" b="1" dirty="0">
                <a:solidFill>
                  <a:schemeClr val="accent2">
                    <a:lumMod val="75000"/>
                  </a:schemeClr>
                </a:solidFill>
                <a:latin typeface="Times New Roman" panose="02020603050405020304" pitchFamily="18" charset="0"/>
                <a:cs typeface="Times New Roman" panose="02020603050405020304" pitchFamily="18" charset="0"/>
              </a:rPr>
              <a:t>RESULTS</a:t>
            </a:r>
            <a:endParaRPr lang="en-IN" sz="2800" b="1" dirty="0">
              <a:solidFill>
                <a:schemeClr val="accent2">
                  <a:lumMod val="7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5D52718-69B8-6603-D220-149F208B4487}"/>
              </a:ext>
            </a:extLst>
          </p:cNvPr>
          <p:cNvPicPr>
            <a:picLocks noChangeAspect="1"/>
          </p:cNvPicPr>
          <p:nvPr/>
        </p:nvPicPr>
        <p:blipFill>
          <a:blip r:embed="rId2"/>
          <a:stretch>
            <a:fillRect/>
          </a:stretch>
        </p:blipFill>
        <p:spPr>
          <a:xfrm>
            <a:off x="926840" y="1268964"/>
            <a:ext cx="10338319" cy="5411755"/>
          </a:xfrm>
          <a:prstGeom prst="rect">
            <a:avLst/>
          </a:prstGeom>
        </p:spPr>
      </p:pic>
      <p:sp>
        <p:nvSpPr>
          <p:cNvPr id="5" name="TextBox 4">
            <a:extLst>
              <a:ext uri="{FF2B5EF4-FFF2-40B4-BE49-F238E27FC236}">
                <a16:creationId xmlns:a16="http://schemas.microsoft.com/office/drawing/2014/main" id="{946DEBE7-4DC4-DB52-D416-DB053B590DA9}"/>
              </a:ext>
            </a:extLst>
          </p:cNvPr>
          <p:cNvSpPr txBox="1"/>
          <p:nvPr/>
        </p:nvSpPr>
        <p:spPr>
          <a:xfrm>
            <a:off x="4663750" y="522516"/>
            <a:ext cx="3668487" cy="461665"/>
          </a:xfrm>
          <a:prstGeom prst="rect">
            <a:avLst/>
          </a:prstGeom>
          <a:noFill/>
        </p:spPr>
        <p:txBody>
          <a:bodyPr wrap="square" rtlCol="0">
            <a:spAutoFit/>
          </a:bodyPr>
          <a:lstStyle/>
          <a:p>
            <a:r>
              <a:rPr lang="en-US" sz="2400" b="1" dirty="0"/>
              <a:t>FINAL OUTPUT SCREEN</a:t>
            </a:r>
            <a:endParaRPr lang="en-IN" sz="2400" b="1"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638425" y="415409"/>
            <a:ext cx="6096000" cy="523220"/>
          </a:xfrm>
          <a:prstGeom prst="rect">
            <a:avLst/>
          </a:prstGeom>
          <a:noFill/>
        </p:spPr>
        <p:txBody>
          <a:bodyPr wrap="square">
            <a:spAutoFit/>
          </a:bodyPr>
          <a:lstStyle/>
          <a:p>
            <a:pPr marL="0" indent="0" algn="ctr">
              <a:buFont typeface="Georgia" panose="02040502050405020303" pitchFamily="18" charset="0"/>
              <a:buNone/>
            </a:pPr>
            <a:r>
              <a:rPr lang="en-IN" sz="2800" b="1" dirty="0"/>
              <a:t>Sample Predictions</a:t>
            </a:r>
          </a:p>
        </p:txBody>
      </p:sp>
      <p:pic>
        <p:nvPicPr>
          <p:cNvPr id="12" name="Picture 11">
            <a:extLst>
              <a:ext uri="{FF2B5EF4-FFF2-40B4-BE49-F238E27FC236}">
                <a16:creationId xmlns:a16="http://schemas.microsoft.com/office/drawing/2014/main" id="{534AC370-1146-AF2A-6899-A80B88870767}"/>
              </a:ext>
            </a:extLst>
          </p:cNvPr>
          <p:cNvPicPr>
            <a:picLocks noChangeAspect="1"/>
          </p:cNvPicPr>
          <p:nvPr/>
        </p:nvPicPr>
        <p:blipFill>
          <a:blip r:embed="rId2"/>
          <a:stretch>
            <a:fillRect/>
          </a:stretch>
        </p:blipFill>
        <p:spPr>
          <a:xfrm>
            <a:off x="438573" y="1184988"/>
            <a:ext cx="5579672" cy="5094514"/>
          </a:xfrm>
          <a:prstGeom prst="rect">
            <a:avLst/>
          </a:prstGeom>
        </p:spPr>
      </p:pic>
      <p:pic>
        <p:nvPicPr>
          <p:cNvPr id="14" name="Picture 13">
            <a:extLst>
              <a:ext uri="{FF2B5EF4-FFF2-40B4-BE49-F238E27FC236}">
                <a16:creationId xmlns:a16="http://schemas.microsoft.com/office/drawing/2014/main" id="{CC63D541-5BE6-0DFB-88D6-A07AC494614A}"/>
              </a:ext>
            </a:extLst>
          </p:cNvPr>
          <p:cNvPicPr>
            <a:picLocks noChangeAspect="1"/>
          </p:cNvPicPr>
          <p:nvPr/>
        </p:nvPicPr>
        <p:blipFill>
          <a:blip r:embed="rId3"/>
          <a:stretch>
            <a:fillRect/>
          </a:stretch>
        </p:blipFill>
        <p:spPr>
          <a:xfrm>
            <a:off x="6096000" y="1184988"/>
            <a:ext cx="5579672" cy="5094514"/>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2503" y="431328"/>
            <a:ext cx="9286993" cy="778988"/>
          </a:xfrm>
        </p:spPr>
        <p:txBody>
          <a:bodyPr>
            <a:normAutofit/>
          </a:bodyPr>
          <a:lstStyle/>
          <a:p>
            <a:pPr marL="0" indent="0" algn="ctr">
              <a:buNone/>
            </a:pPr>
            <a:r>
              <a:rPr lang="en-US" sz="3200" b="1" dirty="0">
                <a:solidFill>
                  <a:srgbClr val="6666FF"/>
                </a:solidFill>
              </a:rPr>
              <a:t>CONCLUSION</a:t>
            </a:r>
            <a:endParaRPr lang="en-IN" sz="3200" b="1" dirty="0">
              <a:solidFill>
                <a:srgbClr val="6666FF"/>
              </a:solidFill>
            </a:endParaRPr>
          </a:p>
        </p:txBody>
      </p:sp>
      <p:sp>
        <p:nvSpPr>
          <p:cNvPr id="3" name="Content Placeholder 2"/>
          <p:cNvSpPr>
            <a:spLocks noGrp="1"/>
          </p:cNvSpPr>
          <p:nvPr>
            <p:ph sz="quarter" idx="13"/>
          </p:nvPr>
        </p:nvSpPr>
        <p:spPr>
          <a:xfrm>
            <a:off x="233081" y="1631576"/>
            <a:ext cx="11761695" cy="4840941"/>
          </a:xfrm>
          <a:prstGeom prst="rect">
            <a:avLst/>
          </a:prstGeom>
        </p:spPr>
        <p:txBody>
          <a:bodyPr>
            <a:noAutofit/>
          </a:bodyPr>
          <a:lstStyle/>
          <a:p>
            <a:pPr marL="0" indent="0" algn="just">
              <a:lnSpc>
                <a:spcPct val="150000"/>
              </a:lnSpc>
              <a:buNone/>
            </a:pPr>
            <a:endParaRPr lang="en-US" altLang="en-US" sz="1700" dirty="0">
              <a:latin typeface="Times New Roman" panose="02020603050405020304" pitchFamily="18" charset="0"/>
              <a:cs typeface="Times New Roman" panose="02020603050405020304" pitchFamily="18" charset="0"/>
            </a:endParaRPr>
          </a:p>
          <a:p>
            <a:pPr marL="0" indent="0" algn="just">
              <a:lnSpc>
                <a:spcPct val="150000"/>
              </a:lnSpc>
              <a:buNone/>
            </a:pPr>
            <a:endParaRPr lang="en-US" sz="1700" dirty="0">
              <a:latin typeface="Times New Roman" panose="02020603050405020304" pitchFamily="18" charset="0"/>
              <a:cs typeface="Times New Roman" panose="02020603050405020304" pitchFamily="18" charset="0"/>
            </a:endParaRPr>
          </a:p>
          <a:p>
            <a:pPr marL="0" indent="0" algn="just">
              <a:lnSpc>
                <a:spcPct val="150000"/>
              </a:lnSpc>
              <a:buNone/>
            </a:pPr>
            <a:endParaRPr lang="en-US" sz="17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endParaRPr lang="en-US" sz="17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endParaRPr lang="en-US" sz="17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endParaRPr lang="en-US" sz="17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endParaRPr lang="en-US" sz="11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635343" y="1568043"/>
            <a:ext cx="10957169" cy="3042308"/>
          </a:xfrm>
          <a:prstGeom prst="rect">
            <a:avLst/>
          </a:prstGeom>
          <a:noFill/>
        </p:spPr>
        <p:txBody>
          <a:bodyPr wrap="square">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This research provides deep insights into what motivates retail vendors in Bangalore to adopt digital payment platforms. By combining traditional statistical analysis with the power of machine learning (specifically SVM), the study identified </a:t>
            </a:r>
            <a:r>
              <a:rPr lang="en-US" sz="1600" b="1" dirty="0">
                <a:latin typeface="Times New Roman" panose="02020603050405020304" pitchFamily="18" charset="0"/>
                <a:cs typeface="Times New Roman" panose="02020603050405020304" pitchFamily="18" charset="0"/>
              </a:rPr>
              <a:t>perceived usefulness</a:t>
            </a: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social influence</a:t>
            </a:r>
            <a:r>
              <a:rPr lang="en-US" sz="1600" dirty="0">
                <a:latin typeface="Times New Roman" panose="02020603050405020304" pitchFamily="18" charset="0"/>
                <a:cs typeface="Times New Roman" panose="02020603050405020304" pitchFamily="18" charset="0"/>
              </a:rPr>
              <a:t>, and </a:t>
            </a:r>
            <a:r>
              <a:rPr lang="en-US" sz="1600" b="1" dirty="0">
                <a:latin typeface="Times New Roman" panose="02020603050405020304" pitchFamily="18" charset="0"/>
                <a:cs typeface="Times New Roman" panose="02020603050405020304" pitchFamily="18" charset="0"/>
              </a:rPr>
              <a:t>compatibility</a:t>
            </a:r>
            <a:r>
              <a:rPr lang="en-US" sz="1600" dirty="0">
                <a:latin typeface="Times New Roman" panose="02020603050405020304" pitchFamily="18" charset="0"/>
                <a:cs typeface="Times New Roman" panose="02020603050405020304" pitchFamily="18" charset="0"/>
              </a:rPr>
              <a:t> as the leading drivers of adoption. The findings emphasize the necessity for digital platforms to align with existing business practices and peer expectations. Despite moderate accuracy, the SVM model offers promise, and satisfaction analysis shows room for improvement in platforms like </a:t>
            </a:r>
            <a:r>
              <a:rPr lang="en-US" sz="1600" dirty="0" err="1">
                <a:latin typeface="Times New Roman" panose="02020603050405020304" pitchFamily="18" charset="0"/>
                <a:cs typeface="Times New Roman" panose="02020603050405020304" pitchFamily="18" charset="0"/>
              </a:rPr>
              <a:t>GooglePay</a:t>
            </a:r>
            <a:r>
              <a:rPr lang="en-US" sz="1600" dirty="0">
                <a:latin typeface="Times New Roman" panose="02020603050405020304" pitchFamily="18" charset="0"/>
                <a:cs typeface="Times New Roman" panose="02020603050405020304" pitchFamily="18" charset="0"/>
              </a:rPr>
              <a:t> and </a:t>
            </a:r>
            <a:r>
              <a:rPr lang="en-US" sz="1600" dirty="0" err="1">
                <a:latin typeface="Times New Roman" panose="02020603050405020304" pitchFamily="18" charset="0"/>
                <a:cs typeface="Times New Roman" panose="02020603050405020304" pitchFamily="18" charset="0"/>
              </a:rPr>
              <a:t>AmazonPay</a:t>
            </a:r>
            <a:r>
              <a:rPr lang="en-US" sz="1600" dirty="0">
                <a:latin typeface="Times New Roman" panose="02020603050405020304" pitchFamily="18" charset="0"/>
                <a:cs typeface="Times New Roman" panose="02020603050405020304" pitchFamily="18" charset="0"/>
              </a:rPr>
              <a:t>. Through forecast modeling with ARIMA, the study shows a steady interest in digital payments, though future variabilities are possible. Moving forward, incorporating more advanced algorithms and qualitative methods can further refine understanding and help stakeholders drive broader digital adoption across the retail sector</a:t>
            </a:r>
            <a:r>
              <a:rPr lang="en-US" dirty="0"/>
              <a:t>.</a:t>
            </a:r>
            <a:endParaRPr lang="en-IN" dirty="0"/>
          </a:p>
        </p:txBody>
      </p:sp>
    </p:spTree>
  </p:cSld>
  <p:clrMapOvr>
    <a:masterClrMapping/>
  </p:clrMapOvr>
  <p:transition spd="slow">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9551" y="312316"/>
            <a:ext cx="9286993" cy="778988"/>
          </a:xfrm>
        </p:spPr>
        <p:txBody>
          <a:bodyPr>
            <a:normAutofit/>
          </a:bodyPr>
          <a:lstStyle/>
          <a:p>
            <a:pPr marL="0" indent="0" algn="ctr">
              <a:buNone/>
            </a:pPr>
            <a:r>
              <a:rPr lang="en-US" sz="3200" b="1" dirty="0">
                <a:solidFill>
                  <a:srgbClr val="6666FF"/>
                </a:solidFill>
              </a:rPr>
              <a:t>FUTURE SCOPE</a:t>
            </a:r>
            <a:endParaRPr lang="en-IN" sz="3200" b="1" dirty="0">
              <a:solidFill>
                <a:srgbClr val="6666FF"/>
              </a:solidFill>
            </a:endParaRPr>
          </a:p>
        </p:txBody>
      </p:sp>
      <p:sp>
        <p:nvSpPr>
          <p:cNvPr id="3" name="Content Placeholder 2"/>
          <p:cNvSpPr>
            <a:spLocks noGrp="1"/>
          </p:cNvSpPr>
          <p:nvPr>
            <p:ph sz="quarter" idx="13"/>
          </p:nvPr>
        </p:nvSpPr>
        <p:spPr>
          <a:xfrm>
            <a:off x="233081" y="1631576"/>
            <a:ext cx="11761695" cy="4840941"/>
          </a:xfrm>
          <a:prstGeom prst="rect">
            <a:avLst/>
          </a:prstGeom>
        </p:spPr>
        <p:txBody>
          <a:bodyPr>
            <a:noAutofit/>
          </a:bodyPr>
          <a:lstStyle/>
          <a:p>
            <a:pPr marL="0" indent="0" algn="just">
              <a:lnSpc>
                <a:spcPct val="150000"/>
              </a:lnSpc>
              <a:buNone/>
            </a:pPr>
            <a:endParaRPr lang="en-US" altLang="en-US" sz="1700" dirty="0">
              <a:latin typeface="Times New Roman" panose="02020603050405020304" pitchFamily="18" charset="0"/>
              <a:cs typeface="Times New Roman" panose="02020603050405020304" pitchFamily="18" charset="0"/>
            </a:endParaRPr>
          </a:p>
          <a:p>
            <a:pPr marL="0" indent="0" algn="just">
              <a:lnSpc>
                <a:spcPct val="150000"/>
              </a:lnSpc>
              <a:buNone/>
            </a:pPr>
            <a:endParaRPr lang="en-US" sz="1700" dirty="0">
              <a:latin typeface="Times New Roman" panose="02020603050405020304" pitchFamily="18" charset="0"/>
              <a:cs typeface="Times New Roman" panose="02020603050405020304" pitchFamily="18" charset="0"/>
            </a:endParaRPr>
          </a:p>
          <a:p>
            <a:pPr marL="0" indent="0" algn="just">
              <a:lnSpc>
                <a:spcPct val="150000"/>
              </a:lnSpc>
              <a:buNone/>
            </a:pPr>
            <a:endParaRPr lang="en-US" sz="17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endParaRPr lang="en-US" sz="17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endParaRPr lang="en-US" sz="17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endParaRPr lang="en-US" sz="17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endParaRPr lang="en-US" sz="11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466340" y="1291107"/>
            <a:ext cx="10957169" cy="5442965"/>
          </a:xfrm>
          <a:prstGeom prst="rect">
            <a:avLst/>
          </a:prstGeom>
          <a:noFill/>
        </p:spPr>
        <p:txBody>
          <a:bodyPr wrap="square">
            <a:spAutoFit/>
          </a:bodyPr>
          <a:lstStyle/>
          <a:p>
            <a:pPr lvl="0" algn="just">
              <a:lnSpc>
                <a:spcPct val="150000"/>
              </a:lnSpc>
              <a:buSzPts val="1000"/>
              <a:tabLst>
                <a:tab pos="457200" algn="l"/>
              </a:tabLst>
            </a:pPr>
            <a:r>
              <a:rPr lang="en-US" dirty="0"/>
              <a:t>            To elevate the current model’s performance and broaden its applicability, several </a:t>
            </a:r>
            <a:r>
              <a:rPr lang="en-US" b="1" dirty="0"/>
              <a:t>future enhancements</a:t>
            </a:r>
            <a:r>
              <a:rPr lang="en-US" dirty="0"/>
              <a:t> are recommended. First, experimenting with </a:t>
            </a:r>
            <a:r>
              <a:rPr lang="en-US" b="1" dirty="0"/>
              <a:t>advanced machine learning algorithms</a:t>
            </a:r>
            <a:r>
              <a:rPr lang="en-US" dirty="0"/>
              <a:t> such as </a:t>
            </a:r>
            <a:r>
              <a:rPr lang="en-US" b="1" dirty="0"/>
              <a:t>Random Forests, Gradient Boosting, or Neural Networks</a:t>
            </a:r>
            <a:r>
              <a:rPr lang="en-US" dirty="0"/>
              <a:t> may uncover more nuanced insights and improve prediction accuracy. Secondly, </a:t>
            </a:r>
            <a:r>
              <a:rPr lang="en-US" b="1" dirty="0"/>
              <a:t>ensemble methods</a:t>
            </a:r>
            <a:r>
              <a:rPr lang="en-US" dirty="0"/>
              <a:t> that combine multiple models can offer improved robustness and reduce bias. Third, incorporating </a:t>
            </a:r>
            <a:r>
              <a:rPr lang="en-US" b="1" dirty="0"/>
              <a:t>longitudinal data</a:t>
            </a:r>
            <a:r>
              <a:rPr lang="en-US" dirty="0"/>
              <a:t> can help capture temporal trends in adoption behavior, offering a more realistic model of vendor behavior over time. Future research should also explore </a:t>
            </a:r>
            <a:r>
              <a:rPr lang="en-US" b="1" dirty="0"/>
              <a:t>geographical comparisons</a:t>
            </a:r>
            <a:r>
              <a:rPr lang="en-US" dirty="0"/>
              <a:t> to identify location-specific motivators or barriers. On the qualitative side, adding </a:t>
            </a:r>
            <a:r>
              <a:rPr lang="en-US" b="1" dirty="0"/>
              <a:t>interviews, case studies, and focus groups</a:t>
            </a:r>
            <a:r>
              <a:rPr lang="en-US" dirty="0"/>
              <a:t> would provide a richer understanding of vendor sentiment and behavior. Lastly, creating a </a:t>
            </a:r>
            <a:r>
              <a:rPr lang="en-US" b="1" dirty="0"/>
              <a:t>real-time monitoring dashboard</a:t>
            </a:r>
            <a:r>
              <a:rPr lang="en-US" dirty="0"/>
              <a:t> using streaming data could help policymakers and digital platform providers to dynamically adjust their strategies and improve vendor onboarding </a:t>
            </a:r>
            <a:r>
              <a:rPr lang="en-US" dirty="0" err="1"/>
              <a:t>experiences.</a:t>
            </a:r>
            <a:r>
              <a:rPr lang="en-US" b="1" dirty="0" err="1"/>
              <a:t>Use</a:t>
            </a:r>
            <a:r>
              <a:rPr lang="en-US" b="1" dirty="0"/>
              <a:t> of Advanced ML Algorithms</a:t>
            </a:r>
            <a:r>
              <a:rPr lang="en-US" dirty="0"/>
              <a:t>: Introduce models like </a:t>
            </a:r>
            <a:r>
              <a:rPr lang="en-US" b="1" dirty="0"/>
              <a:t>Random Forest</a:t>
            </a:r>
            <a:r>
              <a:rPr lang="en-US" dirty="0"/>
              <a:t>, </a:t>
            </a:r>
            <a:r>
              <a:rPr lang="en-US" b="1" dirty="0" err="1"/>
              <a:t>XGBoost</a:t>
            </a:r>
            <a:r>
              <a:rPr lang="en-US" dirty="0"/>
              <a:t>, or </a:t>
            </a:r>
            <a:r>
              <a:rPr lang="en-US" b="1" dirty="0"/>
              <a:t>Deep Neural Networks</a:t>
            </a:r>
            <a:r>
              <a:rPr lang="en-US" dirty="0"/>
              <a:t> for better accuracy and performance.</a:t>
            </a:r>
            <a:r>
              <a:rPr lang="en-IN" sz="1600" dirty="0">
                <a:effectLst/>
                <a:latin typeface="Times New Roman" panose="02020603050405020304" pitchFamily="18" charset="0"/>
                <a:ea typeface="Times New Roman" panose="02020603050405020304" pitchFamily="18" charset="0"/>
              </a:rPr>
              <a:t>.</a:t>
            </a:r>
          </a:p>
        </p:txBody>
      </p:sp>
    </p:spTree>
  </p:cSld>
  <p:clrMapOvr>
    <a:masterClrMapping/>
  </p:clrMapOvr>
  <p:transition spd="slow">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7992" y="614384"/>
            <a:ext cx="9286993" cy="837046"/>
          </a:xfrm>
        </p:spPr>
        <p:txBody>
          <a:bodyPr>
            <a:normAutofit/>
          </a:bodyPr>
          <a:lstStyle/>
          <a:p>
            <a:pPr marL="0" indent="0" algn="ctr">
              <a:buNone/>
            </a:pPr>
            <a:r>
              <a:rPr lang="en-IN" sz="3200" b="1" dirty="0">
                <a:solidFill>
                  <a:srgbClr val="6666FF"/>
                </a:solidFill>
              </a:rPr>
              <a:t>REFERENCES</a:t>
            </a:r>
          </a:p>
        </p:txBody>
      </p:sp>
      <p:sp>
        <p:nvSpPr>
          <p:cNvPr id="5" name="TextBox 4"/>
          <p:cNvSpPr txBox="1"/>
          <p:nvPr/>
        </p:nvSpPr>
        <p:spPr>
          <a:xfrm>
            <a:off x="815790" y="1619914"/>
            <a:ext cx="10716848" cy="4454040"/>
          </a:xfrm>
          <a:prstGeom prst="rect">
            <a:avLst/>
          </a:prstGeom>
          <a:noFill/>
        </p:spPr>
        <p:txBody>
          <a:bodyPr wrap="square" rtlCol="0">
            <a:spAutoFit/>
          </a:bodyPr>
          <a:lstStyle/>
          <a:p>
            <a:pPr marL="342900" lvl="0" indent="-342900" algn="just">
              <a:lnSpc>
                <a:spcPct val="150000"/>
              </a:lnSpc>
              <a:buFont typeface="+mj-lt"/>
              <a:buAutoNum type="arabicPeriod"/>
            </a:pPr>
            <a:r>
              <a:rPr lang="en-US" dirty="0">
                <a:latin typeface="Times New Roman" panose="02020603050405020304" pitchFamily="18" charset="0"/>
                <a:cs typeface="Times New Roman" panose="02020603050405020304" pitchFamily="18" charset="0"/>
              </a:rPr>
              <a:t>J. Lara-Rubio, A. F. </a:t>
            </a:r>
            <a:r>
              <a:rPr lang="en-US" dirty="0" err="1">
                <a:latin typeface="Times New Roman" panose="02020603050405020304" pitchFamily="18" charset="0"/>
                <a:cs typeface="Times New Roman" panose="02020603050405020304" pitchFamily="18" charset="0"/>
              </a:rPr>
              <a:t>Villarejo</a:t>
            </a:r>
            <a:r>
              <a:rPr lang="en-US" dirty="0">
                <a:latin typeface="Times New Roman" panose="02020603050405020304" pitchFamily="18" charset="0"/>
                <a:cs typeface="Times New Roman" panose="02020603050405020304" pitchFamily="18" charset="0"/>
              </a:rPr>
              <a:t>-Ramos, and F. Liébana </a:t>
            </a:r>
            <a:r>
              <a:rPr lang="en-US" dirty="0" err="1">
                <a:latin typeface="Times New Roman" panose="02020603050405020304" pitchFamily="18" charset="0"/>
                <a:cs typeface="Times New Roman" panose="02020603050405020304" pitchFamily="18" charset="0"/>
              </a:rPr>
              <a:t>Cabanillas</a:t>
            </a:r>
            <a:r>
              <a:rPr lang="en-US" dirty="0">
                <a:latin typeface="Times New Roman" panose="02020603050405020304" pitchFamily="18" charset="0"/>
                <a:cs typeface="Times New Roman" panose="02020603050405020304" pitchFamily="18" charset="0"/>
              </a:rPr>
              <a:t>, “Explanatory and predictive model of the adoption of P2P payment systems,” </a:t>
            </a:r>
            <a:r>
              <a:rPr lang="en-US" i="1" dirty="0" err="1">
                <a:latin typeface="Times New Roman" panose="02020603050405020304" pitchFamily="18" charset="0"/>
                <a:cs typeface="Times New Roman" panose="02020603050405020304" pitchFamily="18" charset="0"/>
              </a:rPr>
              <a:t>Behav</a:t>
            </a:r>
            <a:r>
              <a:rPr lang="en-US" i="1" dirty="0">
                <a:latin typeface="Times New Roman" panose="02020603050405020304" pitchFamily="18" charset="0"/>
                <a:cs typeface="Times New Roman" panose="02020603050405020304" pitchFamily="18" charset="0"/>
              </a:rPr>
              <a:t>. Inf. Technol., </a:t>
            </a:r>
            <a:r>
              <a:rPr lang="en-US" dirty="0">
                <a:latin typeface="Times New Roman" panose="02020603050405020304" pitchFamily="18" charset="0"/>
                <a:cs typeface="Times New Roman" panose="02020603050405020304" pitchFamily="18" charset="0"/>
              </a:rPr>
              <a:t>vol. 40, no. 6, pp. 528–541, 2021.</a:t>
            </a:r>
          </a:p>
          <a:p>
            <a:pPr marL="342900" lvl="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S. </a:t>
            </a:r>
            <a:r>
              <a:rPr lang="en-IN" dirty="0" err="1">
                <a:latin typeface="Times New Roman" panose="02020603050405020304" pitchFamily="18" charset="0"/>
                <a:cs typeface="Times New Roman" panose="02020603050405020304" pitchFamily="18" charset="0"/>
              </a:rPr>
              <a:t>Moghavvemi</a:t>
            </a:r>
            <a:r>
              <a:rPr lang="en-IN" dirty="0">
                <a:latin typeface="Times New Roman" panose="02020603050405020304" pitchFamily="18" charset="0"/>
                <a:cs typeface="Times New Roman" panose="02020603050405020304" pitchFamily="18" charset="0"/>
              </a:rPr>
              <a:t>, T. X. Mei, S. W. </a:t>
            </a:r>
            <a:r>
              <a:rPr lang="en-IN" dirty="0" err="1">
                <a:latin typeface="Times New Roman" panose="02020603050405020304" pitchFamily="18" charset="0"/>
                <a:cs typeface="Times New Roman" panose="02020603050405020304" pitchFamily="18" charset="0"/>
              </a:rPr>
              <a:t>Phoong</a:t>
            </a:r>
            <a:r>
              <a:rPr lang="en-IN" dirty="0">
                <a:latin typeface="Times New Roman" panose="02020603050405020304" pitchFamily="18" charset="0"/>
                <a:cs typeface="Times New Roman" panose="02020603050405020304" pitchFamily="18" charset="0"/>
              </a:rPr>
              <a:t>, and S.Y. </a:t>
            </a:r>
            <a:r>
              <a:rPr lang="en-IN" dirty="0" err="1">
                <a:latin typeface="Times New Roman" panose="02020603050405020304" pitchFamily="18" charset="0"/>
                <a:cs typeface="Times New Roman" panose="02020603050405020304" pitchFamily="18" charset="0"/>
              </a:rPr>
              <a:t>Phoong</a:t>
            </a:r>
            <a:r>
              <a:rPr lang="en-IN" dirty="0">
                <a:latin typeface="Times New Roman" panose="02020603050405020304" pitchFamily="18" charset="0"/>
                <a:cs typeface="Times New Roman" panose="02020603050405020304" pitchFamily="18" charset="0"/>
              </a:rPr>
              <a:t>, “Drivers and barriers of mobile payment adoption: Malaysian merchants’ perspective,” </a:t>
            </a:r>
            <a:r>
              <a:rPr lang="en-IN" i="1" dirty="0">
                <a:latin typeface="Times New Roman" panose="02020603050405020304" pitchFamily="18" charset="0"/>
                <a:cs typeface="Times New Roman" panose="02020603050405020304" pitchFamily="18" charset="0"/>
              </a:rPr>
              <a:t>J. Retail. </a:t>
            </a:r>
            <a:r>
              <a:rPr lang="en-IN" i="1" dirty="0" err="1">
                <a:latin typeface="Times New Roman" panose="02020603050405020304" pitchFamily="18" charset="0"/>
                <a:cs typeface="Times New Roman" panose="02020603050405020304" pitchFamily="18" charset="0"/>
              </a:rPr>
              <a:t>Consum</a:t>
            </a:r>
            <a:r>
              <a:rPr lang="en-IN" i="1" dirty="0">
                <a:latin typeface="Times New Roman" panose="02020603050405020304" pitchFamily="18" charset="0"/>
                <a:cs typeface="Times New Roman" panose="02020603050405020304" pitchFamily="18" charset="0"/>
              </a:rPr>
              <a:t>. Serv., </a:t>
            </a:r>
            <a:r>
              <a:rPr lang="en-IN" dirty="0">
                <a:latin typeface="Times New Roman" panose="02020603050405020304" pitchFamily="18" charset="0"/>
                <a:cs typeface="Times New Roman" panose="02020603050405020304" pitchFamily="18" charset="0"/>
              </a:rPr>
              <a:t>vol. 59, no. November, 2021.</a:t>
            </a:r>
          </a:p>
          <a:p>
            <a:pPr marL="342900" lvl="0" indent="-342900" algn="just">
              <a:lnSpc>
                <a:spcPct val="150000"/>
              </a:lnSpc>
              <a:spcAft>
                <a:spcPts val="1000"/>
              </a:spcAft>
              <a:buFont typeface="+mj-lt"/>
              <a:buAutoNum type="arabicPeriod"/>
            </a:pPr>
            <a:r>
              <a:rPr lang="en-US" dirty="0">
                <a:latin typeface="Times New Roman" panose="02020603050405020304" pitchFamily="18" charset="0"/>
                <a:cs typeface="Times New Roman" panose="02020603050405020304" pitchFamily="18" charset="0"/>
              </a:rPr>
              <a:t>K. </a:t>
            </a:r>
            <a:r>
              <a:rPr lang="en-US" dirty="0" err="1">
                <a:latin typeface="Times New Roman" panose="02020603050405020304" pitchFamily="18" charset="0"/>
                <a:cs typeface="Times New Roman" panose="02020603050405020304" pitchFamily="18" charset="0"/>
              </a:rPr>
              <a:t>Khando</a:t>
            </a:r>
            <a:r>
              <a:rPr lang="en-US" dirty="0">
                <a:latin typeface="Times New Roman" panose="02020603050405020304" pitchFamily="18" charset="0"/>
                <a:cs typeface="Times New Roman" panose="02020603050405020304" pitchFamily="18" charset="0"/>
              </a:rPr>
              <a:t>, M. S. Islam, and S. Gao, “The Emerging Technologies of Digital Payments and Associated Challenges: A Systematic Literature Review,” </a:t>
            </a:r>
            <a:r>
              <a:rPr lang="en-US" i="1" dirty="0" err="1">
                <a:latin typeface="Times New Roman" panose="02020603050405020304" pitchFamily="18" charset="0"/>
                <a:cs typeface="Times New Roman" panose="02020603050405020304" pitchFamily="18" charset="0"/>
              </a:rPr>
              <a:t>Futur</a:t>
            </a:r>
            <a:r>
              <a:rPr lang="en-US" i="1" dirty="0">
                <a:latin typeface="Times New Roman" panose="02020603050405020304" pitchFamily="18" charset="0"/>
                <a:cs typeface="Times New Roman" panose="02020603050405020304" pitchFamily="18" charset="0"/>
              </a:rPr>
              <a:t>. Internet,</a:t>
            </a:r>
            <a:r>
              <a:rPr lang="en-US" dirty="0">
                <a:latin typeface="Times New Roman" panose="02020603050405020304" pitchFamily="18" charset="0"/>
                <a:cs typeface="Times New Roman" panose="02020603050405020304" pitchFamily="18" charset="0"/>
              </a:rPr>
              <a:t> vol. 15, no. 1, 2023.</a:t>
            </a:r>
          </a:p>
          <a:p>
            <a:pPr marL="342900" lvl="0" indent="-342900" algn="just">
              <a:lnSpc>
                <a:spcPct val="150000"/>
              </a:lnSpc>
              <a:spcAft>
                <a:spcPts val="1000"/>
              </a:spcAft>
              <a:buFont typeface="+mj-lt"/>
              <a:buAutoNum type="arabicPeriod"/>
            </a:pPr>
            <a:r>
              <a:rPr lang="en-US" dirty="0">
                <a:latin typeface="Times New Roman" panose="02020603050405020304" pitchFamily="18" charset="0"/>
                <a:cs typeface="Times New Roman" panose="02020603050405020304" pitchFamily="18" charset="0"/>
              </a:rPr>
              <a:t> R. </a:t>
            </a:r>
            <a:r>
              <a:rPr lang="en-US" dirty="0" err="1">
                <a:latin typeface="Times New Roman" panose="02020603050405020304" pitchFamily="18" charset="0"/>
                <a:cs typeface="Times New Roman" panose="02020603050405020304" pitchFamily="18" charset="0"/>
              </a:rPr>
              <a:t>Seethamraju</a:t>
            </a:r>
            <a:r>
              <a:rPr lang="en-US" dirty="0">
                <a:latin typeface="Times New Roman" panose="02020603050405020304" pitchFamily="18" charset="0"/>
                <a:cs typeface="Times New Roman" panose="02020603050405020304" pitchFamily="18" charset="0"/>
              </a:rPr>
              <a:t> and K. S. </a:t>
            </a:r>
            <a:r>
              <a:rPr lang="en-US" dirty="0" err="1">
                <a:latin typeface="Times New Roman" panose="02020603050405020304" pitchFamily="18" charset="0"/>
                <a:cs typeface="Times New Roman" panose="02020603050405020304" pitchFamily="18" charset="0"/>
              </a:rPr>
              <a:t>Diatha</a:t>
            </a:r>
            <a:r>
              <a:rPr lang="en-US" dirty="0">
                <a:latin typeface="Times New Roman" panose="02020603050405020304" pitchFamily="18" charset="0"/>
                <a:cs typeface="Times New Roman" panose="02020603050405020304" pitchFamily="18" charset="0"/>
              </a:rPr>
              <a:t>, “Adoption of digital payments by small retail stores,” </a:t>
            </a:r>
            <a:r>
              <a:rPr lang="en-US" i="1" dirty="0">
                <a:latin typeface="Times New Roman" panose="02020603050405020304" pitchFamily="18" charset="0"/>
                <a:cs typeface="Times New Roman" panose="02020603050405020304" pitchFamily="18" charset="0"/>
              </a:rPr>
              <a:t>ACIS 2018 - 29th </a:t>
            </a:r>
            <a:r>
              <a:rPr lang="en-US" i="1" dirty="0" err="1">
                <a:latin typeface="Times New Roman" panose="02020603050405020304" pitchFamily="18" charset="0"/>
                <a:cs typeface="Times New Roman" panose="02020603050405020304" pitchFamily="18" charset="0"/>
              </a:rPr>
              <a:t>Australas</a:t>
            </a:r>
            <a:r>
              <a:rPr lang="en-US" i="1" dirty="0">
                <a:latin typeface="Times New Roman" panose="02020603050405020304" pitchFamily="18" charset="0"/>
                <a:cs typeface="Times New Roman" panose="02020603050405020304" pitchFamily="18" charset="0"/>
              </a:rPr>
              <a:t>. Conf. Inf. Syst., </a:t>
            </a:r>
            <a:r>
              <a:rPr lang="en-US" dirty="0">
                <a:latin typeface="Times New Roman" panose="02020603050405020304" pitchFamily="18" charset="0"/>
                <a:cs typeface="Times New Roman" panose="02020603050405020304" pitchFamily="18" charset="0"/>
              </a:rPr>
              <a:t>pp. 1–11, 2018.</a:t>
            </a:r>
          </a:p>
          <a:p>
            <a:pPr marL="342900" lvl="0" indent="-342900" algn="just">
              <a:lnSpc>
                <a:spcPct val="150000"/>
              </a:lnSpc>
              <a:spcAft>
                <a:spcPts val="1000"/>
              </a:spcAft>
              <a:buFont typeface="+mj-lt"/>
              <a:buAutoNum type="arabicPeriod"/>
            </a:pPr>
            <a:r>
              <a:rPr lang="en-IN" dirty="0">
                <a:latin typeface="Times New Roman" panose="02020603050405020304" pitchFamily="18" charset="0"/>
                <a:cs typeface="Times New Roman" panose="02020603050405020304" pitchFamily="18" charset="0"/>
              </a:rPr>
              <a:t>T. Ravikumar and N. Prakash, “Determinants of adoption of digital payment services among small fixed retail stores in Bangalore, India,” </a:t>
            </a:r>
            <a:r>
              <a:rPr lang="en-IN" i="1" dirty="0" err="1">
                <a:latin typeface="Times New Roman" panose="02020603050405020304" pitchFamily="18" charset="0"/>
                <a:cs typeface="Times New Roman" panose="02020603050405020304" pitchFamily="18" charset="0"/>
              </a:rPr>
              <a:t>Int.J</a:t>
            </a:r>
            <a:r>
              <a:rPr lang="en-IN" i="1" dirty="0">
                <a:latin typeface="Times New Roman" panose="02020603050405020304" pitchFamily="18" charset="0"/>
                <a:cs typeface="Times New Roman" panose="02020603050405020304" pitchFamily="18" charset="0"/>
              </a:rPr>
              <a:t>. Bus. </a:t>
            </a:r>
            <a:r>
              <a:rPr lang="en-IN" i="1" dirty="0" err="1">
                <a:latin typeface="Times New Roman" panose="02020603050405020304" pitchFamily="18" charset="0"/>
                <a:cs typeface="Times New Roman" panose="02020603050405020304" pitchFamily="18" charset="0"/>
              </a:rPr>
              <a:t>Innov</a:t>
            </a:r>
            <a:r>
              <a:rPr lang="en-IN" i="1" dirty="0">
                <a:latin typeface="Times New Roman" panose="02020603050405020304" pitchFamily="18" charset="0"/>
                <a:cs typeface="Times New Roman" panose="02020603050405020304" pitchFamily="18" charset="0"/>
              </a:rPr>
              <a:t>. Res., </a:t>
            </a:r>
            <a:r>
              <a:rPr lang="en-IN" dirty="0">
                <a:latin typeface="Times New Roman" panose="02020603050405020304" pitchFamily="18" charset="0"/>
                <a:cs typeface="Times New Roman" panose="02020603050405020304" pitchFamily="18" charset="0"/>
              </a:rPr>
              <a:t>vol. 28, no. 3, pp. 319–346, 2022.</a:t>
            </a:r>
          </a:p>
        </p:txBody>
      </p:sp>
    </p:spTree>
  </p:cSld>
  <p:clrMapOvr>
    <a:masterClrMapping/>
  </p:clrMapOvr>
  <p:transition spd="slow">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7992" y="614384"/>
            <a:ext cx="9286993" cy="837046"/>
          </a:xfrm>
        </p:spPr>
        <p:txBody>
          <a:bodyPr>
            <a:normAutofit/>
          </a:bodyPr>
          <a:lstStyle/>
          <a:p>
            <a:pPr marL="0" indent="0" algn="ctr">
              <a:buNone/>
            </a:pPr>
            <a:r>
              <a:rPr lang="en-IN" sz="3200" b="1" dirty="0">
                <a:solidFill>
                  <a:srgbClr val="6666FF"/>
                </a:solidFill>
              </a:rPr>
              <a:t>REFERENCES</a:t>
            </a:r>
          </a:p>
        </p:txBody>
      </p:sp>
      <p:sp>
        <p:nvSpPr>
          <p:cNvPr id="5" name="TextBox 4"/>
          <p:cNvSpPr txBox="1"/>
          <p:nvPr/>
        </p:nvSpPr>
        <p:spPr>
          <a:xfrm>
            <a:off x="815790" y="1619914"/>
            <a:ext cx="10520904" cy="3366563"/>
          </a:xfrm>
          <a:prstGeom prst="rect">
            <a:avLst/>
          </a:prstGeom>
          <a:noFill/>
        </p:spPr>
        <p:txBody>
          <a:bodyPr wrap="square" rtlCol="0">
            <a:spAutoFit/>
          </a:bodyPr>
          <a:lstStyle/>
          <a:p>
            <a:pPr marL="342900" lvl="0" indent="-342900" algn="just">
              <a:lnSpc>
                <a:spcPct val="150000"/>
              </a:lnSpc>
              <a:buAutoNum type="arabicPeriod" startAt="6"/>
            </a:pPr>
            <a:r>
              <a:rPr lang="pt-BR" dirty="0">
                <a:latin typeface="Times New Roman" panose="02020603050405020304" pitchFamily="18" charset="0"/>
                <a:cs typeface="Times New Roman" panose="02020603050405020304" pitchFamily="18" charset="0"/>
              </a:rPr>
              <a:t>S. Srivastava, “INDIA ’ S ORGANIZED RETAIL SECTOR :,” </a:t>
            </a:r>
            <a:r>
              <a:rPr lang="pt-BR" i="1" dirty="0">
                <a:latin typeface="Times New Roman" panose="02020603050405020304" pitchFamily="18" charset="0"/>
                <a:cs typeface="Times New Roman" panose="02020603050405020304" pitchFamily="18" charset="0"/>
              </a:rPr>
              <a:t>vol.</a:t>
            </a:r>
            <a:r>
              <a:rPr lang="pt-BR" dirty="0">
                <a:latin typeface="Times New Roman" panose="02020603050405020304" pitchFamily="18" charset="0"/>
                <a:cs typeface="Times New Roman" panose="02020603050405020304" pitchFamily="18" charset="0"/>
              </a:rPr>
              <a:t> 12, no. 6, pp. 892–898, 2024.</a:t>
            </a:r>
          </a:p>
          <a:p>
            <a:pPr marL="342900" lvl="0" indent="-342900" algn="just">
              <a:lnSpc>
                <a:spcPct val="150000"/>
              </a:lnSpc>
              <a:buAutoNum type="arabicPeriod" startAt="6"/>
            </a:pPr>
            <a:r>
              <a:rPr lang="en-US" dirty="0" err="1">
                <a:latin typeface="Times New Roman" panose="02020603050405020304" pitchFamily="18" charset="0"/>
                <a:cs typeface="Times New Roman" panose="02020603050405020304" pitchFamily="18" charset="0"/>
              </a:rPr>
              <a:t>Rençber</a:t>
            </a:r>
            <a:r>
              <a:rPr lang="en-US" dirty="0">
                <a:latin typeface="Times New Roman" panose="02020603050405020304" pitchFamily="18" charset="0"/>
                <a:cs typeface="Times New Roman" panose="02020603050405020304" pitchFamily="18" charset="0"/>
              </a:rPr>
              <a:t>, “United theory of acceptance and use of technology,” </a:t>
            </a:r>
            <a:r>
              <a:rPr lang="en-US" dirty="0" err="1">
                <a:latin typeface="Times New Roman" panose="02020603050405020304" pitchFamily="18" charset="0"/>
                <a:cs typeface="Times New Roman" panose="02020603050405020304" pitchFamily="18" charset="0"/>
              </a:rPr>
              <a:t>Consum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Behav</a:t>
            </a:r>
            <a:r>
              <a:rPr lang="en-US" dirty="0">
                <a:latin typeface="Times New Roman" panose="02020603050405020304" pitchFamily="18" charset="0"/>
                <a:cs typeface="Times New Roman" panose="02020603050405020304" pitchFamily="18" charset="0"/>
              </a:rPr>
              <a:t>. Model., pp. 181– 192, 2020.</a:t>
            </a:r>
          </a:p>
          <a:p>
            <a:pPr marL="342900" lvl="0" indent="-342900" algn="just">
              <a:lnSpc>
                <a:spcPct val="150000"/>
              </a:lnSpc>
              <a:buAutoNum type="arabicPeriod" startAt="6"/>
            </a:pPr>
            <a:r>
              <a:rPr lang="en-US" dirty="0">
                <a:latin typeface="Times New Roman" panose="02020603050405020304" pitchFamily="18" charset="0"/>
                <a:cs typeface="Times New Roman" panose="02020603050405020304" pitchFamily="18" charset="0"/>
              </a:rPr>
              <a:t>S. S. Guru, “AI - POWERED DIGITAL PAYMENTS : REVOLUTIONIZING TRAVEL , HOSPITALITY , AND RETAIL EXPERIENCES,” pp. 327–337, 2024.</a:t>
            </a:r>
          </a:p>
          <a:p>
            <a:pPr marL="342900" lvl="0" indent="-342900" algn="just">
              <a:lnSpc>
                <a:spcPct val="150000"/>
              </a:lnSpc>
              <a:buAutoNum type="arabicPeriod" startAt="6"/>
            </a:pPr>
            <a:r>
              <a:rPr lang="en-US" dirty="0">
                <a:latin typeface="Times New Roman" panose="02020603050405020304" pitchFamily="18" charset="0"/>
                <a:cs typeface="Times New Roman" panose="02020603050405020304" pitchFamily="18" charset="0"/>
              </a:rPr>
              <a:t>M. Ashok </a:t>
            </a:r>
            <a:r>
              <a:rPr lang="en-US" dirty="0" err="1">
                <a:latin typeface="Times New Roman" panose="02020603050405020304" pitchFamily="18" charset="0"/>
                <a:cs typeface="Times New Roman" panose="02020603050405020304" pitchFamily="18" charset="0"/>
              </a:rPr>
              <a:t>Botta</a:t>
            </a:r>
            <a:r>
              <a:rPr lang="en-US" dirty="0">
                <a:latin typeface="Times New Roman" panose="02020603050405020304" pitchFamily="18" charset="0"/>
                <a:cs typeface="Times New Roman" panose="02020603050405020304" pitchFamily="18" charset="0"/>
              </a:rPr>
              <a:t>, “A study on the adoption of digital payment mechanism by small retail stores in </a:t>
            </a:r>
            <a:r>
              <a:rPr lang="en-US" dirty="0" err="1">
                <a:latin typeface="Times New Roman" panose="02020603050405020304" pitchFamily="18" charset="0"/>
                <a:cs typeface="Times New Roman" panose="02020603050405020304" pitchFamily="18" charset="0"/>
              </a:rPr>
              <a:t>Visakahapatanam</a:t>
            </a:r>
            <a:r>
              <a:rPr lang="en-US" dirty="0">
                <a:latin typeface="Times New Roman" panose="02020603050405020304" pitchFamily="18" charset="0"/>
                <a:cs typeface="Times New Roman" panose="02020603050405020304" pitchFamily="18" charset="0"/>
              </a:rPr>
              <a:t> city,” J</a:t>
            </a:r>
            <a:r>
              <a:rPr lang="en-US" i="1" dirty="0">
                <a:latin typeface="Times New Roman" panose="02020603050405020304" pitchFamily="18" charset="0"/>
                <a:cs typeface="Times New Roman" panose="02020603050405020304" pitchFamily="18" charset="0"/>
              </a:rPr>
              <a:t>. Posit. Sch. Psychol., </a:t>
            </a:r>
            <a:r>
              <a:rPr lang="en-US" dirty="0">
                <a:latin typeface="Times New Roman" panose="02020603050405020304" pitchFamily="18" charset="0"/>
                <a:cs typeface="Times New Roman" panose="02020603050405020304" pitchFamily="18" charset="0"/>
              </a:rPr>
              <a:t>vol. 2022, no. 10, pp. 61–66, 2022.</a:t>
            </a:r>
          </a:p>
          <a:p>
            <a:pPr marL="342900" lvl="0" indent="-342900" algn="just">
              <a:lnSpc>
                <a:spcPct val="150000"/>
              </a:lnSpc>
              <a:buAutoNum type="arabicPeriod" startAt="6"/>
            </a:pPr>
            <a:r>
              <a:rPr lang="en-US" dirty="0">
                <a:latin typeface="Times New Roman" panose="02020603050405020304" pitchFamily="18" charset="0"/>
                <a:cs typeface="Times New Roman" panose="02020603050405020304" pitchFamily="18" charset="0"/>
              </a:rPr>
              <a:t> K. Kajol, R. Singh, and J. Paul, “Adoption of digital financial transactions: A review of literature and future research agenda,” </a:t>
            </a:r>
            <a:r>
              <a:rPr lang="en-US" i="1" dirty="0">
                <a:latin typeface="Times New Roman" panose="02020603050405020304" pitchFamily="18" charset="0"/>
                <a:cs typeface="Times New Roman" panose="02020603050405020304" pitchFamily="18" charset="0"/>
              </a:rPr>
              <a:t>Technol. Forecast. Soc. Change,</a:t>
            </a:r>
            <a:r>
              <a:rPr lang="en-US" dirty="0">
                <a:latin typeface="Times New Roman" panose="02020603050405020304" pitchFamily="18" charset="0"/>
                <a:cs typeface="Times New Roman" panose="02020603050405020304" pitchFamily="18" charset="0"/>
              </a:rPr>
              <a:t> vol. 184, no. January, p. 121991,2022.</a:t>
            </a:r>
            <a:endParaRPr lang="pt-BR" dirty="0">
              <a:latin typeface="Times New Roman" panose="02020603050405020304" pitchFamily="18" charset="0"/>
              <a:cs typeface="Times New Roman" panose="02020603050405020304" pitchFamily="18" charset="0"/>
            </a:endParaRPr>
          </a:p>
        </p:txBody>
      </p:sp>
    </p:spTree>
  </p:cSld>
  <p:clrMapOvr>
    <a:masterClrMapping/>
  </p:clrMapOvr>
  <p:transition spd="slow">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610222" y="2401278"/>
            <a:ext cx="5345097" cy="1754326"/>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US" sz="5400" b="1" cap="none" spc="0"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Thank You</a:t>
            </a:r>
          </a:p>
          <a:p>
            <a:pPr algn="ctr"/>
            <a:r>
              <a:rPr lang="en-US" sz="5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Any Questions </a:t>
            </a:r>
            <a:endParaRPr lang="en-US" sz="5400" b="1" cap="none" spc="0"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Tree>
  </p:cSld>
  <p:clrMapOvr>
    <a:masterClrMapping/>
  </p:clrMapOvr>
  <p:transition spd="slow">
    <p:fad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image" Target="../media/image4.jpeg"/></Relationships>
</file>

<file path=ppt/theme/_rels/theme4.xml.rels><?xml version="1.0" encoding="UTF-8" standalone="yes"?>
<Relationships xmlns="http://schemas.openxmlformats.org/package/2006/relationships"><Relationship Id="rId1" Type="http://schemas.openxmlformats.org/officeDocument/2006/relationships/image" Target="../media/image6.jpeg"/></Relationships>
</file>

<file path=ppt/theme/theme1.xml><?xml version="1.0" encoding="utf-8"?>
<a:theme xmlns:a="http://schemas.openxmlformats.org/drawingml/2006/main" name="Metro">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Metro">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bg1">
                <a:shade val="100000"/>
                <a:satMod val="150000"/>
              </a:schemeClr>
            </a:gs>
            <a:gs pos="65000">
              <a:schemeClr val="bg1">
                <a:shade val="90000"/>
                <a:satMod val="375000"/>
              </a:schemeClr>
            </a:gs>
            <a:gs pos="100000">
              <a:schemeClr val="phClr">
                <a:tint val="88000"/>
                <a:satMod val="400000"/>
              </a:schemeClr>
            </a:gs>
          </a:gsLst>
          <a:lin ang="5400000" scaled="0"/>
        </a:gradFill>
        <a:blipFill>
          <a:blip xmlns:r="http://schemas.openxmlformats.org/officeDocument/2006/relationships" r:embed="rId1">
            <a:duotone>
              <a:schemeClr val="phClr">
                <a:shade val="40000"/>
                <a:satMod val="180000"/>
              </a:schemeClr>
              <a:schemeClr val="phClr">
                <a:tint val="90000"/>
                <a:satMod val="200000"/>
              </a:schemeClr>
            </a:duotone>
          </a:blip>
          <a:tile tx="0" ty="0" sx="80000" sy="80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Horizon">
  <a:themeElements>
    <a:clrScheme name="Horizon">
      <a:dk1>
        <a:srgbClr val="000000"/>
      </a:dk1>
      <a:lt1>
        <a:srgbClr val="FFFFFF"/>
      </a:lt1>
      <a:dk2>
        <a:srgbClr val="1F2123"/>
      </a:dk2>
      <a:lt2>
        <a:srgbClr val="DC9E1F"/>
      </a:lt2>
      <a:accent1>
        <a:srgbClr val="7E97AD"/>
      </a:accent1>
      <a:accent2>
        <a:srgbClr val="CC8E60"/>
      </a:accent2>
      <a:accent3>
        <a:srgbClr val="7A6A60"/>
      </a:accent3>
      <a:accent4>
        <a:srgbClr val="B4936D"/>
      </a:accent4>
      <a:accent5>
        <a:srgbClr val="67787B"/>
      </a:accent5>
      <a:accent6>
        <a:srgbClr val="9D936F"/>
      </a:accent6>
      <a:hlink>
        <a:srgbClr val="646464"/>
      </a:hlink>
      <a:folHlink>
        <a:srgbClr val="969696"/>
      </a:folHlink>
    </a:clrScheme>
    <a:fontScheme name="Horizon">
      <a:maj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Horizon">
      <a:fillStyleLst>
        <a:solidFill>
          <a:schemeClr val="phClr"/>
        </a:solidFill>
        <a:gradFill rotWithShape="1">
          <a:gsLst>
            <a:gs pos="0">
              <a:schemeClr val="phClr">
                <a:tint val="83000"/>
                <a:shade val="100000"/>
                <a:satMod val="100000"/>
              </a:schemeClr>
            </a:gs>
            <a:gs pos="100000">
              <a:schemeClr val="phClr">
                <a:tint val="61000"/>
                <a:alpha val="100000"/>
                <a:satMod val="200000"/>
              </a:schemeClr>
            </a:gs>
          </a:gsLst>
          <a:path path="circle">
            <a:fillToRect l="100000" t="100000" r="100000" b="100000"/>
          </a:path>
        </a:gradFill>
        <a:gradFill rotWithShape="1">
          <a:gsLst>
            <a:gs pos="0">
              <a:schemeClr val="phClr">
                <a:shade val="85000"/>
              </a:schemeClr>
            </a:gs>
            <a:gs pos="100000">
              <a:schemeClr val="phClr">
                <a:tint val="90000"/>
                <a:alpha val="100000"/>
                <a:satMod val="20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2924" dir="5400000" rotWithShape="0">
              <a:srgbClr val="000000">
                <a:alpha val="40000"/>
              </a:srgbClr>
            </a:outerShdw>
          </a:effectLst>
        </a:effectStyle>
        <a:effectStyle>
          <a:effectLst>
            <a:outerShdw blurRad="50800" dist="25400" dir="5400000" rotWithShape="0">
              <a:srgbClr val="000000">
                <a:alpha val="40000"/>
              </a:srgbClr>
            </a:outerShdw>
          </a:effectLst>
          <a:scene3d>
            <a:camera prst="orthographicFront">
              <a:rot lat="0" lon="0" rev="0"/>
            </a:camera>
            <a:lightRig rig="flat" dir="t">
              <a:rot lat="0" lon="0" rev="3600000"/>
            </a:lightRig>
          </a:scene3d>
          <a:sp3d prstMaterial="flat">
            <a:bevelT w="34925" h="47625" prst="coolSlant"/>
          </a:sp3d>
        </a:effectStyle>
      </a:effectStyleLst>
      <a:bgFillStyleLst>
        <a:solidFill>
          <a:schemeClr val="phClr"/>
        </a:solidFill>
        <a:gradFill rotWithShape="1">
          <a:gsLst>
            <a:gs pos="0">
              <a:schemeClr val="phClr">
                <a:tint val="96000"/>
                <a:shade val="100000"/>
                <a:alpha val="100000"/>
                <a:satMod val="140000"/>
              </a:schemeClr>
            </a:gs>
            <a:gs pos="31000">
              <a:schemeClr val="phClr">
                <a:tint val="100000"/>
                <a:shade val="90000"/>
                <a:alpha val="100000"/>
              </a:schemeClr>
            </a:gs>
            <a:gs pos="100000">
              <a:schemeClr val="phClr">
                <a:tint val="100000"/>
                <a:shade val="80000"/>
                <a:alpha val="100000"/>
              </a:schemeClr>
            </a:gs>
          </a:gsLst>
          <a:lin ang="5400000" scaled="0"/>
        </a:gradFill>
        <a:gradFill rotWithShape="1">
          <a:gsLst>
            <a:gs pos="0">
              <a:schemeClr val="phClr">
                <a:tint val="96000"/>
                <a:shade val="100000"/>
                <a:alpha val="100000"/>
                <a:satMod val="180000"/>
              </a:schemeClr>
            </a:gs>
            <a:gs pos="41000">
              <a:schemeClr val="phClr">
                <a:tint val="100000"/>
                <a:shade val="100000"/>
                <a:alpha val="100000"/>
                <a:satMod val="150000"/>
              </a:schemeClr>
            </a:gs>
            <a:gs pos="100000">
              <a:schemeClr val="phClr">
                <a:tint val="100000"/>
                <a:shade val="65000"/>
                <a:alpha val="100000"/>
              </a:schemeClr>
            </a:gs>
          </a:gsLst>
          <a:path path="circle">
            <a:fillToRect l="50000" t="8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Waveform">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Slipstream">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Slipstream">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ipstream">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AITS</Template>
  <TotalTime>3727</TotalTime>
  <Words>3098</Words>
  <Application>Microsoft Office PowerPoint</Application>
  <PresentationFormat>Widescreen</PresentationFormat>
  <Paragraphs>229</Paragraphs>
  <Slides>44</Slides>
  <Notes>0</Notes>
  <HiddenSlides>0</HiddenSlides>
  <MMClips>0</MMClips>
  <ScaleCrop>false</ScaleCrop>
  <HeadingPairs>
    <vt:vector size="6" baseType="variant">
      <vt:variant>
        <vt:lpstr>Fonts Used</vt:lpstr>
      </vt:variant>
      <vt:variant>
        <vt:i4>16</vt:i4>
      </vt:variant>
      <vt:variant>
        <vt:lpstr>Theme</vt:lpstr>
      </vt:variant>
      <vt:variant>
        <vt:i4>5</vt:i4>
      </vt:variant>
      <vt:variant>
        <vt:lpstr>Slide Titles</vt:lpstr>
      </vt:variant>
      <vt:variant>
        <vt:i4>44</vt:i4>
      </vt:variant>
    </vt:vector>
  </HeadingPairs>
  <TitlesOfParts>
    <vt:vector size="65" baseType="lpstr">
      <vt:lpstr>Algerian</vt:lpstr>
      <vt:lpstr>Arial</vt:lpstr>
      <vt:lpstr>Arial Black</vt:lpstr>
      <vt:lpstr>Arial Narrow</vt:lpstr>
      <vt:lpstr>Calibri</vt:lpstr>
      <vt:lpstr>Cambria Math</vt:lpstr>
      <vt:lpstr>Candara</vt:lpstr>
      <vt:lpstr>Consolas</vt:lpstr>
      <vt:lpstr>Corbel</vt:lpstr>
      <vt:lpstr>Georgia</vt:lpstr>
      <vt:lpstr>Symbol</vt:lpstr>
      <vt:lpstr>Times New Roman</vt:lpstr>
      <vt:lpstr>Trebuchet MS</vt:lpstr>
      <vt:lpstr>Wingdings</vt:lpstr>
      <vt:lpstr>Wingdings 2</vt:lpstr>
      <vt:lpstr>Wingdings 3</vt:lpstr>
      <vt:lpstr>Metro</vt:lpstr>
      <vt:lpstr>Horizon</vt:lpstr>
      <vt:lpstr>Civic</vt:lpstr>
      <vt:lpstr>Waveform</vt:lpstr>
      <vt:lpstr>Slipstream</vt:lpstr>
      <vt:lpstr>ANNAMACHARYA INSTITUTE OF TECHNOLOGY AND SCIENCES::TIRUPATI (AUTONOMOUS) Artificial Intelligence &amp; Machine Learning A.Y.: 2025-2026 VIVA VOICE  Predicting Digital Payment Platforms Adoption by Retail Vendors Using Machine Learning Techniques </vt:lpstr>
      <vt:lpstr>ABSTRACT</vt:lpstr>
      <vt:lpstr>DOMAIN INTRODUCTION</vt:lpstr>
      <vt:lpstr>EXISTING SYSTEM</vt:lpstr>
      <vt:lpstr>EXISTING SYSTEM DISADVANTAGES </vt:lpstr>
      <vt:lpstr>PowerPoint Presentation</vt:lpstr>
      <vt:lpstr>PowerPoint Presentation</vt:lpstr>
      <vt:lpstr>PowerPoint Presentation</vt:lpstr>
      <vt:lpstr>PROPOSED SYSTEM</vt:lpstr>
      <vt:lpstr>ADVANTAGES OF PROPOSED SYSTEM</vt:lpstr>
      <vt:lpstr>PROPOSED METHODOLOGY ARCHITECTURE</vt:lpstr>
      <vt:lpstr>MINIMUM SYSTEM REQUIREMENTS</vt:lpstr>
      <vt:lpstr>ANALYSIS &amp;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FUTURE SCOPE</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sasi kumar</dc:creator>
  <cp:lastModifiedBy>Ramineniaamani002@outlook.com</cp:lastModifiedBy>
  <cp:revision>92</cp:revision>
  <dcterms:created xsi:type="dcterms:W3CDTF">2021-12-20T13:54:00Z</dcterms:created>
  <dcterms:modified xsi:type="dcterms:W3CDTF">2026-05-01T16:34:32Z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3D335293D95B48CCBCCCC6125024D266_12</vt:lpwstr>
  </property>
  <property fmtid="{D5CDD505-2E9C-101B-9397-08002B2CF9AE}" pid="3" name="KSOProductBuildVer">
    <vt:lpwstr>1033-12.2.0.23196</vt:lpwstr>
  </property>
</Properties>
</file>